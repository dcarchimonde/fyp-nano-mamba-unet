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2a44aa54984416" /><Relationship Type="http://schemas.openxmlformats.org/officeDocument/2006/relationships/extended-properties" Target="/docProps/app.xml" Id="Rd9d8ea62a4834ac4" /><Relationship Type="http://schemas.openxmlformats.org/officeDocument/2006/relationships/officeDocument" Target="/ppt/presentation.xml" Id="Rd823a1e2a89a46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3b5eff2f8a4af6"/>
  </p:sldMasterIdLst>
  <p:notesMasterIdLst>
    <p:notesMasterId xmlns:r="http://schemas.openxmlformats.org/officeDocument/2006/relationships" r:id="R27620808feba4e59"/>
  </p:notesMasterIdLst>
  <p:sldIdLst>
    <p:sldId xmlns:r="http://schemas.openxmlformats.org/officeDocument/2006/relationships" id="256" r:id="R8b5d243aa0e84b82"/>
    <p:sldId xmlns:r="http://schemas.openxmlformats.org/officeDocument/2006/relationships" id="257" r:id="Re61029a4cb074d73"/>
    <p:sldId xmlns:r="http://schemas.openxmlformats.org/officeDocument/2006/relationships" id="258" r:id="R00dd28a7ef364758"/>
    <p:sldId xmlns:r="http://schemas.openxmlformats.org/officeDocument/2006/relationships" id="259" r:id="R47336d97605b4f8f"/>
    <p:sldId xmlns:r="http://schemas.openxmlformats.org/officeDocument/2006/relationships" id="260" r:id="Rb19f9f23effb4f4e"/>
    <p:sldId xmlns:r="http://schemas.openxmlformats.org/officeDocument/2006/relationships" id="261" r:id="Rd969818c08824d70"/>
    <p:sldId xmlns:r="http://schemas.openxmlformats.org/officeDocument/2006/relationships" id="262" r:id="R31dcf1f7a7dd4329"/>
    <p:sldId xmlns:r="http://schemas.openxmlformats.org/officeDocument/2006/relationships" id="263" r:id="R120d447c48b1434c"/>
    <p:sldId xmlns:r="http://schemas.openxmlformats.org/officeDocument/2006/relationships" id="264" r:id="R2160bbbdb5be4b9f"/>
    <p:sldId xmlns:r="http://schemas.openxmlformats.org/officeDocument/2006/relationships" id="265" r:id="R3bf813f745c341cf"/>
    <p:sldId xmlns:r="http://schemas.openxmlformats.org/officeDocument/2006/relationships" id="266" r:id="R012dfd241c8e4671"/>
    <p:sldId xmlns:r="http://schemas.openxmlformats.org/officeDocument/2006/relationships" id="267" r:id="Rd013bbe6935d408a"/>
    <p:sldId xmlns:r="http://schemas.openxmlformats.org/officeDocument/2006/relationships" id="268" r:id="R8e08a35011104b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5a92ef7c4a4e90" /><Relationship Type="http://schemas.openxmlformats.org/officeDocument/2006/relationships/slideMaster" Target="/ppt/slideMasters/slideMaster1.xml" Id="R363b5eff2f8a4af6" /><Relationship Type="http://schemas.openxmlformats.org/officeDocument/2006/relationships/notesMaster" Target="/ppt/notesMasters/notesMaster1.xml" Id="R27620808feba4e59" /><Relationship Type="http://schemas.openxmlformats.org/officeDocument/2006/relationships/presProps" Target="/ppt/presProps.xml" Id="R613e5085191b4249" /><Relationship Type="http://schemas.openxmlformats.org/officeDocument/2006/relationships/tableStyles" Target="/ppt/tableStyles.xml" Id="R9c55ea84b4474408" /><Relationship Type="http://schemas.openxmlformats.org/officeDocument/2006/relationships/slide" Target="/ppt/slides/slide1.xml" Id="R8b5d243aa0e84b82" /><Relationship Type="http://schemas.openxmlformats.org/officeDocument/2006/relationships/slide" Target="/ppt/slides/slide2.xml" Id="Re61029a4cb074d73" /><Relationship Type="http://schemas.openxmlformats.org/officeDocument/2006/relationships/slide" Target="/ppt/slides/slide3.xml" Id="R00dd28a7ef364758" /><Relationship Type="http://schemas.openxmlformats.org/officeDocument/2006/relationships/slide" Target="/ppt/slides/slide4.xml" Id="R47336d97605b4f8f" /><Relationship Type="http://schemas.openxmlformats.org/officeDocument/2006/relationships/slide" Target="/ppt/slides/slide5.xml" Id="Rb19f9f23effb4f4e" /><Relationship Type="http://schemas.openxmlformats.org/officeDocument/2006/relationships/slide" Target="/ppt/slides/slide6.xml" Id="Rd969818c08824d70" /><Relationship Type="http://schemas.openxmlformats.org/officeDocument/2006/relationships/slide" Target="/ppt/slides/slide7.xml" Id="R31dcf1f7a7dd4329" /><Relationship Type="http://schemas.openxmlformats.org/officeDocument/2006/relationships/slide" Target="/ppt/slides/slide8.xml" Id="R120d447c48b1434c" /><Relationship Type="http://schemas.openxmlformats.org/officeDocument/2006/relationships/slide" Target="/ppt/slides/slide9.xml" Id="R2160bbbdb5be4b9f" /><Relationship Type="http://schemas.openxmlformats.org/officeDocument/2006/relationships/slide" Target="/ppt/slides/slide10.xml" Id="R3bf813f745c341cf" /><Relationship Type="http://schemas.openxmlformats.org/officeDocument/2006/relationships/slide" Target="/ppt/slides/slide11.xml" Id="R012dfd241c8e4671" /><Relationship Type="http://schemas.openxmlformats.org/officeDocument/2006/relationships/slide" Target="/ppt/slides/slide12.xml" Id="Rd013bbe6935d408a" /><Relationship Type="http://schemas.openxmlformats.org/officeDocument/2006/relationships/slide" Target="/ppt/slides/slide13.xml" Id="R8e08a35011104b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ab53eb992e41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88d336317a4d19" /><Relationship Type="http://schemas.openxmlformats.org/officeDocument/2006/relationships/notesMaster" Target="/ppt/notesMasters/notesMaster1.xml" Id="Re749528330fe45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282fd47f364b5b" /><Relationship Type="http://schemas.openxmlformats.org/officeDocument/2006/relationships/notesMaster" Target="/ppt/notesMasters/notesMaster1.xml" Id="R634c2c61435a46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af6814c00b4e62" /><Relationship Type="http://schemas.openxmlformats.org/officeDocument/2006/relationships/notesMaster" Target="/ppt/notesMasters/notesMaster1.xml" Id="Rfe6929f624ed43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fcca90d11a46e9" /><Relationship Type="http://schemas.openxmlformats.org/officeDocument/2006/relationships/notesMaster" Target="/ppt/notesMasters/notesMaster1.xml" Id="R65f1b5a3331947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8cce0c63844c85" /><Relationship Type="http://schemas.openxmlformats.org/officeDocument/2006/relationships/notesMaster" Target="/ppt/notesMasters/notesMaster1.xml" Id="R44f176cc8f354b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feae2a1e6a45a5" /><Relationship Type="http://schemas.openxmlformats.org/officeDocument/2006/relationships/notesMaster" Target="/ppt/notesMasters/notesMaster1.xml" Id="R293a07a0975f4b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c74d4b72fd4c64" /><Relationship Type="http://schemas.openxmlformats.org/officeDocument/2006/relationships/notesMaster" Target="/ppt/notesMasters/notesMaster1.xml" Id="Rd0d870577d3344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0940af7c0c4cbf" /><Relationship Type="http://schemas.openxmlformats.org/officeDocument/2006/relationships/notesMaster" Target="/ppt/notesMasters/notesMaster1.xml" Id="Rdcae829bd9424d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5877713fc34daa" /><Relationship Type="http://schemas.openxmlformats.org/officeDocument/2006/relationships/notesMaster" Target="/ppt/notesMasters/notesMaster1.xml" Id="Rd15c76b98a5c43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ca7dbe15234f2f" /><Relationship Type="http://schemas.openxmlformats.org/officeDocument/2006/relationships/notesMaster" Target="/ppt/notesMasters/notesMaster1.xml" Id="R6ed68f0d979f4c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449eef9fb74617" /><Relationship Type="http://schemas.openxmlformats.org/officeDocument/2006/relationships/notesMaster" Target="/ppt/notesMasters/notesMaster1.xml" Id="R9d3eb02f584d4b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e08d8d5a8a49cc" /><Relationship Type="http://schemas.openxmlformats.org/officeDocument/2006/relationships/notesMaster" Target="/ppt/notesMasters/notesMaster1.xml" Id="Rfc73c564a18f43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da21c4f63a4e7b" /><Relationship Type="http://schemas.openxmlformats.org/officeDocument/2006/relationships/notesMaster" Target="/ppt/notesMasters/notesMaster1.xml" Id="R81ba38503ecb4d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0:40.</a:t>
            </a:r>
          </a:p>
          <a:p xmlns:a="http://schemas.openxmlformats.org/drawingml/2006/main">
            <a:r>
              <a:t>Introduce the fixed registered title, then state the completed scope immediately: this is a 3D cardiac MRI segmentation study with a compact Mamba-inspired bottleneck.</a:t>
            </a:r>
          </a:p>
          <a:p xmlns:a="http://schemas.openxmlformats.org/drawingml/2006/main">
            <a:r>
              <a:t>Preview the central conclusion: the model is valuable for compactness, not because it wins Dice.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paper_write/Universiti_Malaya_Thesis_Template/thesis.tex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1:00.</a:t>
            </a:r>
          </a:p>
          <a:p xmlns:a="http://schemas.openxmlformats.org/drawingml/2006/main">
            <a:r>
              <a:t>Define the task before discussing architecture. ED and ES are two labelled volumes per patient, but each volume is a separate sample.</a:t>
            </a:r>
          </a:p>
          <a:p xmlns:a="http://schemas.openxmlformats.org/drawingml/2006/main">
            <a:r>
              <a:t>Make the title boundary explicit: the broader motion-analysis motivation remains, while the completed experiment is spatial segmentation.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SCIENTIFIC_BOUNDARIES.md</a:t>
            </a:r>
          </a:p>
          <a:p xmlns:a="http://schemas.openxmlformats.org/drawingml/2006/main">
            <a:r>
              <a:t>- Repository: paper_write/Universiti_Malaya_Thesis_Template/sample-chap-intro.tex</a:t>
            </a:r>
          </a:p>
          <a:p xmlns:a="http://schemas.openxmlformats.org/drawingml/2006/main">
            <a:r>
              <a:t>- ACDC task: Bernard et al. (2018), https://doi.org/10.1109/TMI.2018.2837502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1:10.</a:t>
            </a:r>
          </a:p>
          <a:p xmlns:a="http://schemas.openxmlformats.org/drawingml/2006/main">
            <a:r>
              <a:t>Explain why patient-level—not case-level—splitting matters: both ED and ES frames from one patient stay on the same side.</a:t>
            </a:r>
          </a:p>
          <a:p xmlns:a="http://schemas.openxmlformats.org/drawingml/2006/main">
            <a:r>
              <a:t>State the limitation without euphemism: checkpoint selection and descriptive reporting use the same held-out validation cohort.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evidence/rigorous_patient_split/patient_split_seed42.json</a:t>
            </a:r>
          </a:p>
          <a:p xmlns:a="http://schemas.openxmlformats.org/drawingml/2006/main">
            <a:r>
              <a:t>- Repository: evidence/rigorous_patient_split/data_discovery_report.json</a:t>
            </a:r>
          </a:p>
          <a:p xmlns:a="http://schemas.openxmlformats.org/drawingml/2006/main">
            <a:r>
              <a:t>- Repository: src/22_p2_evidence_audit.py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1:20.</a:t>
            </a:r>
          </a:p>
          <a:p xmlns:a="http://schemas.openxmlformats.org/drawingml/2006/main">
            <a:r>
              <a:t>Walk from encoder to bottleneck to decoder. The architectural contribution is an added low-resolution sequence gate, not replacement of the entire U-Net.</a:t>
            </a:r>
          </a:p>
          <a:p xmlns:a="http://schemas.openxmlformats.org/drawingml/2006/main">
            <a:r>
              <a:t>Defend the terminology carefully: the implementation has no selective scan and does not model time.</a:t>
            </a:r>
          </a:p>
          <a:p xmlns:a="http://schemas.openxmlformats.org/drawingml/2006/main">
            <a:r>
              <a:t>If asked about parameter accounting, note that legacy gate-projection channels without an output path remain included in the reported trainable parameter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src/nano_mamba_core.py</a:t>
            </a:r>
          </a:p>
          <a:p xmlns:a="http://schemas.openxmlformats.org/drawingml/2006/main">
            <a:r>
              <a:t>- Repository: paper_write/Universiti_Malaya_Thesis_Template/sample-chap-methodology.tex</a:t>
            </a:r>
          </a:p>
          <a:p xmlns:a="http://schemas.openxmlformats.org/drawingml/2006/main">
            <a:r>
              <a:t>- Mamba reference: Gu and Dao (2023), https://arxiv.org/abs/2312.00752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0:55.</a:t>
            </a:r>
          </a:p>
          <a:p xmlns:a="http://schemas.openxmlformats.org/drawingml/2006/main">
            <a:r>
              <a:t>Name the six configurations quickly, then spend more time on what the design cannot isolate.</a:t>
            </a:r>
          </a:p>
          <a:p xmlns:a="http://schemas.openxmlformats.org/drawingml/2006/main">
            <a:r>
              <a:t>Different batch sizes and non-parameter-matched bottlenecks mean the results compare executed systems; they do not identify a pure causal effect of the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src/21_rigorous_experiment_pipeline.py</a:t>
            </a:r>
          </a:p>
          <a:p xmlns:a="http://schemas.openxmlformats.org/drawingml/2006/main">
            <a:r>
              <a:t>- Repository: paper_write/Universiti_Malaya_Thesis_Template/sample-chap-methodology.tex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1:30.</a:t>
            </a:r>
          </a:p>
          <a:p xmlns:a="http://schemas.openxmlformats.org/drawingml/2006/main">
            <a:r>
              <a:t>Read the table by conclusion, not row by row. SegResNet16 is the accuracy leader at 86.70%. Nano-Mamba reaches 84.78% with 1.456M reported parameters, the smallest count.</a:t>
            </a:r>
          </a:p>
          <a:p xmlns:a="http://schemas.openxmlformats.org/drawingml/2006/main">
            <a:r>
              <a:t>Mention that LV is easiest and MYO is hardest across the stronger models.</a:t>
            </a:r>
          </a:p>
          <a:p xmlns:a="http://schemas.openxmlformats.org/drawingml/2006/main">
            <a:r>
              <a:t>Do not call this an independent test table; it is held-out validation used for checkpoint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evidence/rigorous_patient_split/summary_metrics.csv</a:t>
            </a:r>
          </a:p>
          <a:p xmlns:a="http://schemas.openxmlformats.org/drawingml/2006/main">
            <a:r>
              <a:t>- Repository: evidence/rigorous_patient_split/evidence_audit_report.json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1:10.</a:t>
            </a:r>
          </a:p>
          <a:p xmlns:a="http://schemas.openxmlformats.org/drawingml/2006/main">
            <a:r>
              <a:t>Use the graph to articulate the actual contribution: Nano-Mamba sits left because of compactness while retaining competitive validation Dice.</a:t>
            </a:r>
          </a:p>
          <a:p xmlns:a="http://schemas.openxmlformats.org/drawingml/2006/main">
            <a:r>
              <a:t>The recovered paired patient interval is +2.83 to +5.01 percentage points versus UNet3D and −3.01 to −0.88 versus SegResNet16.</a:t>
            </a:r>
          </a:p>
          <a:p xmlns:a="http://schemas.openxmlformats.org/drawingml/2006/main">
            <a:r>
              <a:t>These are post-hoc intervals on the validation patients used for checkpoint selection, not an independent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asset: figures/accuracy_parameter_tradeoff.png</a:t>
            </a:r>
          </a:p>
          <a:p xmlns:a="http://schemas.openxmlformats.org/drawingml/2006/main">
            <a:r>
              <a:t>- Repository: figures/quantitative_figure_provenance.json</a:t>
            </a:r>
          </a:p>
          <a:p xmlns:a="http://schemas.openxmlformats.org/drawingml/2006/main">
            <a:r>
              <a:t>- Repository: evidence/rigorous_patient_split/summary_metrics.csv</a:t>
            </a:r>
          </a:p>
          <a:p xmlns:a="http://schemas.openxmlformats.org/drawingml/2006/main">
            <a:r>
              <a:t>- Repository: evidence/rigorous_patient_split/evidence_audit_report.json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1:10.</a:t>
            </a:r>
          </a:p>
          <a:p xmlns:a="http://schemas.openxmlformats.org/drawingml/2006/main">
            <a:r>
              <a:t>Treat this as an important negative result. The paired Nano-minus-No-Mamba interval is −1.48 to −0.23 percentage points on these validation patients.</a:t>
            </a:r>
          </a:p>
          <a:p xmlns:a="http://schemas.openxmlformats.org/drawingml/2006/main">
            <a:r>
              <a:t>No-Mamba is larger and structurally different, so the observed ordering does not isolate a causal effect of the gate. Matched capacity and multiple seeds remain necessary.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evidence/rigorous_patient_split/summary_metrics.csv</a:t>
            </a:r>
          </a:p>
          <a:p xmlns:a="http://schemas.openxmlformats.org/drawingml/2006/main">
            <a:r>
              <a:t>- Repository: evidence/rigorous_patient_split/per_case_NanoMambaUNet.csv</a:t>
            </a:r>
          </a:p>
          <a:p xmlns:a="http://schemas.openxmlformats.org/drawingml/2006/main">
            <a:r>
              <a:t>- Repository: evidence/rigorous_patient_split/per_case_Ablation_NoMamba_UNet.csv</a:t>
            </a:r>
          </a:p>
          <a:p xmlns:a="http://schemas.openxmlformats.org/drawingml/2006/main">
            <a:r>
              <a:t>- Repository: src/21_rigorous_experiment_pipeline.py</a:t>
            </a:r>
          </a:p>
          <a:p xmlns:a="http://schemas.openxmlformats.org/drawingml/2006/main">
            <a:r>
              <a:t>- Repository: SCIENTIFIC_BOUNDARIES.md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0:55.</a:t>
            </a:r>
          </a:p>
          <a:p xmlns:a="http://schemas.openxmlformats.org/drawingml/2006/main">
            <a:r>
              <a:t>Show that the aggregate mean does not hide a class reversal: LV is strongest and MYO is most difficult across the stronger systems.</a:t>
            </a:r>
          </a:p>
          <a:p xmlns:a="http://schemas.openxmlformats.org/drawingml/2006/main">
            <a:r>
              <a:t>Keep the clinical interpretation cautious; the experiment reports segmentation overlap, not downstream EF or clinical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asset: figures/class_specific_dice_scores.png</a:t>
            </a:r>
          </a:p>
          <a:p xmlns:a="http://schemas.openxmlformats.org/drawingml/2006/main">
            <a:r>
              <a:t>- Repository: figures/quantitative_figure_provenance.json</a:t>
            </a:r>
          </a:p>
          <a:p xmlns:a="http://schemas.openxmlformats.org/drawingml/2006/main">
            <a:r>
              <a:t>- Repository: evidence/rigorous_patient_split/summary_metrics.csv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1:00.</a:t>
            </a:r>
          </a:p>
          <a:p xmlns:a="http://schemas.openxmlformats.org/drawingml/2006/main">
            <a:r>
              <a:t>The smallest parameter count is not the fastest implementation.</a:t>
            </a:r>
          </a:p>
          <a:p xmlns:a="http://schemas.openxmlformats.org/drawingml/2006/main">
            <a:r>
              <a:t>The benchmark uses random batch-one input, five warm-ups, and thirty timed runs. A current capture records PyTorch 2.7.1, MONAI 1.5.2, CUDA 11.8, cuDNN 9.1, and an RTX 4060 Laptop GPU, but its identity with the historical benchmark environment is unconfirmed.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asset: figures/accuracy_speed_tradeoff.png</a:t>
            </a:r>
          </a:p>
          <a:p xmlns:a="http://schemas.openxmlformats.org/drawingml/2006/main">
            <a:r>
              <a:t>- Repository: evidence/rigorous_patient_split/summary_metrics.csv</a:t>
            </a:r>
          </a:p>
          <a:p xmlns:a="http://schemas.openxmlformats.org/drawingml/2006/main">
            <a:r>
              <a:t>- Repository: evidence/rigorous_patient_split/environment.json</a:t>
            </a:r>
          </a:p>
          <a:p xmlns:a="http://schemas.openxmlformats.org/drawingml/2006/main">
            <a:r>
              <a:t>- Repository benchmark implementation: src/21_rigorous_experiment_pipeline.py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1:35.</a:t>
            </a:r>
          </a:p>
          <a:p xmlns:a="http://schemas.openxmlformats.org/drawingml/2006/main">
            <a:r>
              <a:t>Separate numerical consistency from complete historical attestation.</a:t>
            </a:r>
          </a:p>
          <a:p xmlns:a="http://schemas.openxmlformats.org/drawingml/2006/main">
            <a:r>
              <a:t>The recovered six case tables, six epoch logs, and six checkpoint records agree with the summary. The patient bootstrap and empty-class check are now reproducible.</a:t>
            </a:r>
          </a:p>
          <a:p xmlns:a="http://schemas.openxmlformats.org/drawingml/2006/main">
            <a:r>
              <a:t>Strict closure still fails on exactly four historical links: checkpoint-set identity, environment identity, exact command, and complete dataset snapshot.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paper_write/P2_FINAL_AUDIT.md</a:t>
            </a:r>
          </a:p>
          <a:p xmlns:a="http://schemas.openxmlformats.org/drawingml/2006/main">
            <a:r>
              <a:t>- Repository: evidence/rigorous_patient_split/evidence_audit_report.json</a:t>
            </a:r>
          </a:p>
          <a:p xmlns:a="http://schemas.openxmlformats.org/drawingml/2006/main">
            <a:r>
              <a:t>- Repository: evidence/rigorous_patient_split/RECOVERED_CLOSURE_RECEIPT.json</a:t>
            </a:r>
          </a:p>
          <a:p xmlns:a="http://schemas.openxmlformats.org/drawingml/2006/main">
            <a:r>
              <a:t>- Repository: src/22_p2_evidence_audit.py</a:t>
            </a:r>
          </a:p>
          <a:p xmlns:a="http://schemas.openxmlformats.org/drawingml/2006/main">
            <a:r>
              <a:t>- Repository: RIGOROUS_EXPERIMENTS.md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1:05.</a:t>
            </a:r>
          </a:p>
          <a:p xmlns:a="http://schemas.openxmlformats.org/drawingml/2006/main">
            <a:r>
              <a:t>Summarize the contribution in the narrow form supported by the evidence: a compact spatial 3D segmentation architecture and a transparent accuracy-efficiency evaluation.</a:t>
            </a:r>
          </a:p>
          <a:p xmlns:a="http://schemas.openxmlformats.org/drawingml/2006/main">
            <a:r>
              <a:t>The immediate next step is no longer to recover case rows; it is to confirm historical provenance and strengthen validity with matched ablations, multiple seeds, and independent evaluation.</a:t>
            </a:r>
          </a:p>
          <a:p xmlns:a="http://schemas.openxmlformats.org/drawingml/2006/main">
            <a:r>
              <a:t>True 4D temporal modelling remains a separate future research direction.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paper_write/Universiti_Malaya_Thesis_Template/sample-chap-conclusion.tex</a:t>
            </a:r>
          </a:p>
          <a:p xmlns:a="http://schemas.openxmlformats.org/drawingml/2006/main">
            <a:r>
              <a:t>- Repository: SCIENTIFIC_BOUNDARIES.md</a:t>
            </a:r>
          </a:p>
          <a:p xmlns:a="http://schemas.openxmlformats.org/drawingml/2006/main">
            <a:r>
              <a:t>- Repository: evidence/rigorous_patient_split/evidence_audit_report.json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0:40, then transition to Q&amp;A.</a:t>
            </a:r>
          </a:p>
          <a:p xmlns:a="http://schemas.openxmlformats.org/drawingml/2006/main">
            <a:r>
              <a:t>Close by restating one disciplined sentence: Nano-Mamba provides competitive held-out validation Dice at the smallest reported parameter count among the evaluated models.</a:t>
            </a:r>
          </a:p>
          <a:p xmlns:a="http://schemas.openxmlformats.org/drawingml/2006/main">
            <a:r>
              <a:t>Proactively acknowledge the two negative facts—SegResNet16 leads and No-Mamba is higher—because they make the conclusion credible.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evidence/rigorous_patient_split/summary_metrics.csv</a:t>
            </a:r>
          </a:p>
          <a:p xmlns:a="http://schemas.openxmlformats.org/drawingml/2006/main">
            <a:r>
              <a:t>- Repository: paper_write/Universiti_Malaya_Thesis_Template/sample-chap-conclusion.tex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bacc5f94594e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0b1adccea84e77" /><Relationship Type="http://schemas.openxmlformats.org/officeDocument/2006/relationships/slideLayout" Target="/ppt/slideLayouts/slideLayout1.xml" Id="Re0cef0c1619843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cef0c1619843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8adc58b1143a8" /><Relationship Type="http://schemas.openxmlformats.org/officeDocument/2006/relationships/notesSlide" Target="/ppt/notesSlides/notesSlide1.xml" Id="Rbc30157578e343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ca61acc6148cd" /><Relationship Type="http://schemas.openxmlformats.org/officeDocument/2006/relationships/notesSlide" Target="/ppt/notesSlides/notesSlide2.xml" Id="R0a6aef7d8d6848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aa9891615467e" /><Relationship Type="http://schemas.openxmlformats.org/officeDocument/2006/relationships/notesSlide" Target="/ppt/notesSlides/notesSlide3.xml" Id="Re01076e5f0f34c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f8447885a4ede" /><Relationship Type="http://schemas.openxmlformats.org/officeDocument/2006/relationships/image" Target="/ppt/media/image.png" Id="R07ee05e308784b62" /><Relationship Type="http://schemas.openxmlformats.org/officeDocument/2006/relationships/notesSlide" Target="/ppt/notesSlides/notesSlide4.xml" Id="R624d58207ca445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1df12f6e44e61" /><Relationship Type="http://schemas.openxmlformats.org/officeDocument/2006/relationships/notesSlide" Target="/ppt/notesSlides/notesSlide5.xml" Id="Ra0b20585f6ad45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2c42e8cd443cd" /><Relationship Type="http://schemas.openxmlformats.org/officeDocument/2006/relationships/notesSlide" Target="/ppt/notesSlides/notesSlide6.xml" Id="R1b1327a0946d44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61dbd6a2d43cb" /><Relationship Type="http://schemas.openxmlformats.org/officeDocument/2006/relationships/image" Target="/ppt/media/image2.png" Id="R6dc5a179d1cf4722" /><Relationship Type="http://schemas.openxmlformats.org/officeDocument/2006/relationships/notesSlide" Target="/ppt/notesSlides/notesSlide7.xml" Id="R8fcbe85e3e2147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8f5570d2642fc" /><Relationship Type="http://schemas.openxmlformats.org/officeDocument/2006/relationships/notesSlide" Target="/ppt/notesSlides/notesSlide8.xml" Id="Raa40fac2abad42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65d60a6d74516" /><Relationship Type="http://schemas.openxmlformats.org/officeDocument/2006/relationships/image" Target="/ppt/media/image3.png" Id="R5de98a2de38e4cf9" /><Relationship Type="http://schemas.openxmlformats.org/officeDocument/2006/relationships/notesSlide" Target="/ppt/notesSlides/notesSlide9.xml" Id="R479ee017bf3242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a0dbf668e4564" /><Relationship Type="http://schemas.openxmlformats.org/officeDocument/2006/relationships/image" Target="/ppt/media/image4.png" Id="R8994f76e4fd6458a" /><Relationship Type="http://schemas.openxmlformats.org/officeDocument/2006/relationships/notesSlide" Target="/ppt/notesSlides/notesSlide10.xml" Id="Rc3c18cec3a4b44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e72ccaa024cc9" /><Relationship Type="http://schemas.openxmlformats.org/officeDocument/2006/relationships/notesSlide" Target="/ppt/notesSlides/notesSlide11.xml" Id="Rcb5677eb21d14b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7f99db61d42a4" /><Relationship Type="http://schemas.openxmlformats.org/officeDocument/2006/relationships/notesSlide" Target="/ppt/notesSlides/notesSlide12.xml" Id="R8cc3c8cb02744f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705f454e846e7" /><Relationship Type="http://schemas.openxmlformats.org/officeDocument/2006/relationships/notesSlide" Target="/ppt/notesSlides/notesSlide13.xml" Id="R14cbd3235e5343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6475E-B6A5-49D5-93CA-295239CC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B53BE-84E6-4B8A-B881-5C546376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76300"/>
            <a:ext cx="0" cy="495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CBBCD-A60A-4009-8160-0F67AF4B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MASTER OF ARTIFICIAL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30E05-C1F6-47B8-B365-F94EDD2E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75247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38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Nano-Mamba U-Net: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Spatio-Temporal Framework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Cardiac Motion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FB670-3F7F-4A41-B92D-0D1BFFCC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P2 Final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773D0-18B5-4E36-8BE2-58A697F1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533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Tong Siyuan</a:t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Supervisor: Dr. Uzair Iqbal</a:t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Universiti Malaya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2F44D-4A19-447B-A061-6D43C4DE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383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3D segmentation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Mamba-inspired gate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Compact trade-off</a:t>
            </a:r>
          </a:p>
        </p:txBody>
      </p:sp>
    </p:spTree>
    <p:extLst>
      <p:ext uri="{BB962C8B-B14F-4D97-AF65-F5344CB8AC3E}">
        <p14:creationId xmlns:p14="http://schemas.microsoft.com/office/powerpoint/2010/main" val="305218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120D1-027B-4E4A-8777-F6CC8691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P2 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B87FD-90FE-4C89-B14F-2CCC82D5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task is segmentation—not motion tracking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69DB8-1943-4D3F-B07A-3C728860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A075C-0EB7-48C1-AD82-01690362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D9A90-0866-4FFC-95F8-79B16F76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4-class</a:t>
            </a:r>
          </a:p>
          <a:p xmlns:a="http://schemas.openxmlformats.org/drawingml/2006/main">
            <a:pPr algn="l">
              <a:buNone/>
              <a:defRPr sz="4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3D CMR</a:t>
            </a:r>
          </a:p>
          <a:p xmlns:a="http://schemas.openxmlformats.org/drawingml/2006/main">
            <a:pPr algn="l">
              <a:buNone/>
              <a:defRPr sz="4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segmentation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39AA0-70B7-49C3-B339-D3A8CB27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6202C-9991-46AB-AEB5-095A5499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91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72D8C-0F37-4ACC-A37E-30045B0A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3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Labelled ED and ES volumes, processed independently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885D8-A787-48EF-963A-8F8ECDE6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91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ED511-C6B5-411C-8B34-2E235160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480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Background · RV · MYO · LV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98AEF-B175-4F1A-9DF4-6379E57D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00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91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D0FA9-D841-464E-BE37-AD581405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434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 = anatomical slices, never cardiac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F7822-7E79-4BF3-B3E7-D56F6937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439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B7230-630B-49E6-99DA-231164E0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005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temporal tracking, registration, displacement, optical flow, EF, or true 4D modelling was evaluated.</a:t>
            </a:r>
          </a:p>
        </p:txBody>
      </p:sp>
    </p:spTree>
    <p:extLst>
      <p:ext uri="{BB962C8B-B14F-4D97-AF65-F5344CB8AC3E}">
        <p14:creationId xmlns:p14="http://schemas.microsoft.com/office/powerpoint/2010/main" val="1450442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B7871-7D12-4A5E-8895-84F189FD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P2 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57EC6-72AA-4873-95F6-9BB9FE29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patient-level split protects the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9F916-A0C3-44F2-B671-1C309436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AC05B-99A2-4803-9290-C210ACF7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ED491-610A-48EC-AD90-0BF3C030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907DF-F19A-44E7-BB4B-EEF60721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57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F4590-B4B4-4FD2-A966-0ED69AB8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57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6B81E-F3FF-4314-B8FB-554AC199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57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93060-B197-43E0-888B-34C78644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8FA3B-CF6A-4CB5-A42E-0545C8E1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 patients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D8B13-CEA4-4F57-A934-3BE97F4A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200 labelled ED/ES cases found; no invalid containers reported.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07187-D4EE-4ABF-A0F8-58E26EC0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SPLIT · SEED 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14A19-67C3-4B28-981E-E85EAE25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 / 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D9847-1C0E-4A0E-9792-EFA9D0BD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719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Patients are disjoint and cover patient001–patient100 exactly once.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C8601-CDB0-4E88-88A4-7897EF14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E8745-AE3D-4411-A91E-1AA7A64F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160 / 40 cases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DEE4D-48B3-4A37-8BB9-EF6CA960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719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One shared split for all models; best checkpoint selected by validation mean Dice.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E5CAF-66C0-43DA-AABC-42FF468E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F2CBA9-759B-434E-ABEB-34B7EA78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Important: the same 20-patient validation set selects checkpoints and supplies the reported table—it is not an independent test set.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FE1EDD-06C4-4D5A-A541-B26D50CA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9525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Source: audited split JSON and discovery report</a:t>
            </a:r>
          </a:p>
        </p:txBody>
      </p:sp>
    </p:spTree>
    <p:extLst>
      <p:ext uri="{BB962C8B-B14F-4D97-AF65-F5344CB8AC3E}">
        <p14:creationId xmlns:p14="http://schemas.microsoft.com/office/powerpoint/2010/main" val="11522316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BEEFA-E2F2-4FE8-899A-A93F6BD6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P2 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55464-7EB6-4E45-9576-A0CE2946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Nano-Mamba adds a compact spatial sequence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1EF51-D2D9-4120-8C87-DC5892DA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C6254-CA97-47CC-B346-F07A04FC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1B463-6B29-4CE7-8C1F-C3F831BE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55245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e05e308784b62"/>
          <a:stretch xmlns:a="http://schemas.openxmlformats.org/drawingml/2006/main"/>
        </p:blipFill>
        <p:spPr>
          <a:xfrm xmlns:a="http://schemas.openxmlformats.org/drawingml/2006/main">
            <a:off x="5817215" y="1600200"/>
            <a:ext cx="5510569" cy="4114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AD5AF-3E9E-493C-8D66-25B7D8C1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the block does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DB3CE-BD57-488C-AB59-50AB420B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Flattens the compressed 3D grid in a fixed spatial raster order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Uses a depthwise 1D convolution, scalar sigmoid gate, output projection, and residual path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Reshapes the sequence back to a 3D feature grid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2D17E-08E4-4897-B6EA-623E03A3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5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Mamba-inspired ≠ full Mamba selective scan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E7773-3658-48EA-94D8-C29936BD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9525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Source: implementation-faithful thesis Figure 5.3 and nano_mamba_core.py</a:t>
            </a:r>
          </a:p>
        </p:txBody>
      </p:sp>
    </p:spTree>
    <p:extLst>
      <p:ext uri="{BB962C8B-B14F-4D97-AF65-F5344CB8AC3E}">
        <p14:creationId xmlns:p14="http://schemas.microsoft.com/office/powerpoint/2010/main" val="13154756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EF2D8-18C2-4C11-854B-3154BC50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P2 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9DBD7-9F60-4976-BBAC-67F0EA7C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Six executed models test accuracy and compactness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AF9ED-57AA-4E30-B3AF-A7450066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14761-359C-47B7-991E-02A55717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5F50B-3D09-4167-A56F-EAAD520D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91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REFERENCE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D46A7-AD02-4EAC-A818-2C653EB4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3D U-Net</a:t>
            </a:r>
          </a:p>
          <a:p xmlns:a="http://schemas.openxmlformats.org/drawingml/2006/main">
            <a:pPr algn="l">
              <a:buNone/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Attention U-Net</a:t>
            </a:r>
          </a:p>
          <a:p xmlns:a="http://schemas.openxmlformats.org/drawingml/2006/main">
            <a:pPr algn="l">
              <a:buNone/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SegResNet16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6121E-8EF9-4F5E-A815-934562FC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764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91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PROPOSED + ABLATIONS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29FF3-AB87-4762-8E2E-8AA508C5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5048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Nano-Mamba U-Net</a:t>
            </a:r>
          </a:p>
          <a:p xmlns:a="http://schemas.openxmlformats.org/drawingml/2006/main">
            <a:pPr algn="l">
              <a:buNone/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No-Mamba U-Net</a:t>
            </a:r>
          </a:p>
          <a:p xmlns:a="http://schemas.openxmlformats.org/drawingml/2006/main">
            <a:pPr algn="l">
              <a:buNone/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Half-Mamba U-Net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3DEDB-FB95-4E29-9453-3AD55085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19250"/>
            <a:ext cx="0" cy="2514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1B2B4-3136-477C-AFB9-CEBDF8E3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43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DD14E-5FDA-4D2E-B232-957369AB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Fairness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DBF82-4B03-4757-B09F-B160ECE6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988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Batch sizes differ (1 or 2), custom models use BatchNorm, and the No-Mamba ablation has more parameters. The comparison is informative, but it is not a matched-capacity causal test of gating.</a:t>
            </a:r>
          </a:p>
        </p:txBody>
      </p:sp>
    </p:spTree>
    <p:extLst>
      <p:ext uri="{BB962C8B-B14F-4D97-AF65-F5344CB8AC3E}">
        <p14:creationId xmlns:p14="http://schemas.microsoft.com/office/powerpoint/2010/main" val="1408878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FB55E-E1D8-404F-B778-794E975B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P2 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B8D0C-8324-463A-93EB-EF45D89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SegResNet16 leads Dice; Nano-Mamba is smallest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AD3DE-52CF-458C-8689-04E12B86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9E757-32C0-4186-B6AE-376900D8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619250"/>
          <a:ext xmlns:a="http://schemas.openxmlformats.org/drawingml/2006/main" cx="111633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619250"/>
                <a:gridCol w="1619250"/>
                <a:gridCol w="1619250"/>
                <a:gridCol w="1619250"/>
                <a:gridCol w="1828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RV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MYO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LV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Params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UNet3D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80.83%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78.35%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74.57%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89.59%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4.809M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Nano-Mamba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84.78%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82.11%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80.35%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91.88%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1.456M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No-Mamba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85.64%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83.26%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81.30%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92.37%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2.288M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Half-Mamba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84.95%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82.41%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80.46%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91.99%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1.638M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Attention U-Net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74.78%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69.43%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72.38%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82.53%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5.909M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SegResNet16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86.70%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84.30%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82.76%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93.03%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4.701M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DAE79-A310-463A-A9D4-683E5893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81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Highest Dice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FEDB2-EA74-4D04-8C3F-C4376EFA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7816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Smallest reported size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AD900-1CB4-4E84-BE76-5CEE3748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9525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Source: audited summary_metrics.csv; percentages rounded to two decimals for display</a:t>
            </a:r>
          </a:p>
        </p:txBody>
      </p:sp>
    </p:spTree>
    <p:extLst>
      <p:ext uri="{BB962C8B-B14F-4D97-AF65-F5344CB8AC3E}">
        <p14:creationId xmlns:p14="http://schemas.microsoft.com/office/powerpoint/2010/main" val="20022806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3780C-B9B3-4B3B-9C22-ACEEA894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P2 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52967-003E-4A79-AA8F-8C8B94CD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Nano-Mamba occupies a useful accuracy–parameter corner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5CFD6-379F-4DD9-83C9-497AE991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9F365-45FC-4134-AF49-2C450338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4098B-600B-4911-BC97-51BE936E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78105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5a179d1cf4722"/>
          <a:stretch xmlns:a="http://schemas.openxmlformats.org/drawingml/2006/main"/>
        </p:blipFill>
        <p:spPr>
          <a:xfrm xmlns:a="http://schemas.openxmlformats.org/drawingml/2006/main">
            <a:off x="688537" y="1504950"/>
            <a:ext cx="7424027" cy="4686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2967C-3E1D-437F-89ED-1CF4A859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431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+3.945 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E7E21-ACA7-433E-A8FD-076F65C7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9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vs UNet · CI [+2.83, +5.01]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C18D0-85E5-4631-99BE-3C48AD54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147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−69.714%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91918-3728-427C-8F76-1EB03F13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reported parameters vs UNet3D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10238-2093-4BA5-9FB6-CDBE5137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96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−1.918 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B2075-2F40-4604-93DC-3B496781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149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CI [−3.01, −0.88] vs Seg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81AE6-7B94-4151-BE7D-2694715C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9525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Figure from summary CSV; paired CIs from six recovered per-case CSVs</a:t>
            </a:r>
          </a:p>
        </p:txBody>
      </p:sp>
    </p:spTree>
    <p:extLst>
      <p:ext uri="{BB962C8B-B14F-4D97-AF65-F5344CB8AC3E}">
        <p14:creationId xmlns:p14="http://schemas.microsoft.com/office/powerpoint/2010/main" val="15597119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EAA3B-DCA7-4827-A584-3305FB9E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P2 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76834-57B7-4713-9835-6AB7B936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No-Mamba result prevents a causal accuracy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B9A95-3012-4C0C-9AC8-6CF988E5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273C9-4E9C-45F4-B393-0B26AC04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98D45-5401-4BE0-A0AF-82011091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581"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85.64%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2B023-626B-4280-8A48-EDCE6EAF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No-Mamba mean Dice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39B67-732A-454B-A53E-F05B938D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621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581"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84.78%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5CF07-7FEF-4E0D-8975-22C9284C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Nano-Mamba mean Dice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4C72D-9FD3-4009-96B8-D8B203D3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28800"/>
            <a:ext cx="0" cy="1752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7F654-94DE-478D-A6B8-6517885C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2887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+0.862 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4654A-331B-4809-A3CE-386265C5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9886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62408-322D-4F7E-B2A2-4D569642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05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55DFF-BBC0-4911-8040-91C47EC1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939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Paired Nano − No-Mamba interval: [−1.48, −0.23] pp. No-Mamba is higher on this split, but 57.076% more parameters and structural confounds prevent a causal gate conclusion.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CA3AC-B557-4DF8-B8E0-8ADDA778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9525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Source: summary CSV, six recovered per-case CSVs, and model definitions</a:t>
            </a:r>
          </a:p>
        </p:txBody>
      </p:sp>
    </p:spTree>
    <p:extLst>
      <p:ext uri="{BB962C8B-B14F-4D97-AF65-F5344CB8AC3E}">
        <p14:creationId xmlns:p14="http://schemas.microsoft.com/office/powerpoint/2010/main" val="1374561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49CE6-5452-4DAB-B22C-BBF55EB1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P2 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9A43B-C707-47FE-9C4C-51AC9BCF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MYO remains the hardest structure across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7D55D-F181-44AE-B47D-050B661E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82B5A-70E7-40A3-AB37-9F0EE790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62839-CDFB-4ECD-8811-3BF71B11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8096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98a2de38e4cf9"/>
          <a:stretch xmlns:a="http://schemas.openxmlformats.org/drawingml/2006/main"/>
        </p:blipFill>
        <p:spPr>
          <a:xfrm xmlns:a="http://schemas.openxmlformats.org/drawingml/2006/main">
            <a:off x="722259" y="1504950"/>
            <a:ext cx="7642331" cy="4686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E0FAF-A548-4FE3-BDAD-C2CEDA54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Nano-Mamba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A0B37-042E-4163-89C5-1512181D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57450"/>
            <a:ext cx="209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RV 82.11%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MYO 80.35%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LV 91.88%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47804-03D1-4413-8E3F-A1C62976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4335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063E4-FB68-4828-9D9E-E869D229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67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Clinical reading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C8F5C-3AB9-4D4C-86AC-68B8E941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053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8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Thin myocardium and boundary ambiguity make MYO consistently more difficult than LV.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14C71-07B1-4BDC-BDDF-D8D7D311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9525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Source: audited summary_metrics.csv</a:t>
            </a:r>
          </a:p>
        </p:txBody>
      </p:sp>
    </p:spTree>
    <p:extLst>
      <p:ext uri="{BB962C8B-B14F-4D97-AF65-F5344CB8AC3E}">
        <p14:creationId xmlns:p14="http://schemas.microsoft.com/office/powerpoint/2010/main" val="19650732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882A9-B393-4F5A-83D8-7F85ED00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P2 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C3EC3-282A-4CFC-ABF4-85D7346B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Parameter count does not predict measured speed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CF83E-C901-456E-8A4A-3C2A3350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4416B-CAED-460C-835E-B5EB500E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D0928-4812-4501-BE81-B43AECA1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79057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4f76e4fd6458a"/>
          <a:stretch xmlns:a="http://schemas.openxmlformats.org/drawingml/2006/main"/>
        </p:blipFill>
        <p:spPr>
          <a:xfrm xmlns:a="http://schemas.openxmlformats.org/drawingml/2006/main">
            <a:off x="706241" y="1504950"/>
            <a:ext cx="7483868" cy="4686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9827D-8D93-4A6B-A94F-C09EAAC2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051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88.17 FPS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B28BE-583F-4498-A614-D616FFE5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UNet3D—the fastest measured configuration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B7AB7-A29B-48C0-A1BB-3E4D2D47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480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051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29.09 FPS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CC389-559D-4FE4-9476-C5E06074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Nano-Mamba under the recorded 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1F196-5D1E-4076-9A48-9B87AC7D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B9756-0D15-45D8-AF47-1B76C8AF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435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Batch 1 · random 256×256×16 input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 warm-ups · 30 timed runs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3BB61-3D8C-48D1-A350-A87DA10D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9525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Current RTX 4060 / PyTorch capture exists; historical benchmark environment remains unconfirmed</a:t>
            </a:r>
          </a:p>
        </p:txBody>
      </p:sp>
    </p:spTree>
    <p:extLst>
      <p:ext uri="{BB962C8B-B14F-4D97-AF65-F5344CB8AC3E}">
        <p14:creationId xmlns:p14="http://schemas.microsoft.com/office/powerpoint/2010/main" val="8423494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C5368-0219-4767-9304-4C74E1CC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P2 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FFF9C-3C75-49B9-8371-88A135C0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comparison is auditable—but uncertainty remains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A4526-2D38-4425-9135-05AB64B6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7713B-6652-4555-8DC2-AD48C6E2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69F74-612F-4B20-94B1-644A233B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CLOSED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FE614-8ED2-4A4B-B1BC-718EA2A5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476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</a:t>
            </a: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 × 40 case rows reproduce every summary 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</a:t>
            </a: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 × 150 logs reproduce all best epochs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</a:t>
            </a: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 checkpoint hashes and metadata agree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</a:t>
            </a: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Empty-empty branch: 0 of 720 class scores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46E39-184B-4E6B-B9D6-0FC12A7F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19250"/>
            <a:ext cx="0" cy="384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CF1DC-49CD-4CF9-8D0F-6A665B19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 HISTORY LINKS OPEN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52978-8AB1-4827-AAC1-C30D6F76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4857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</a:t>
            </a: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Checkpoint directory not confirmed unchanged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</a:t>
            </a: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Historical Conda/GPU environment unconfirmed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</a:t>
            </a: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 command and working directory unconfirmed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</a:t>
            </a: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 200-case historical content manifest absent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3E721-7399-4D0F-9F36-A3E94032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056E1-0D29-4410-8B3E-D00DFCB4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054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Aggregate + recovered evidence: PASS · Strict closure: INCOMPLETE on four historical confirmations</a:t>
            </a:r>
          </a:p>
        </p:txBody>
      </p:sp>
    </p:spTree>
    <p:extLst>
      <p:ext uri="{BB962C8B-B14F-4D97-AF65-F5344CB8AC3E}">
        <p14:creationId xmlns:p14="http://schemas.microsoft.com/office/powerpoint/2010/main" val="16893514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5D73E-4660-4CC0-8D52-37F65B3A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P2 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5503B-7EEA-45E2-90CD-D9718A30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Contribution now; true temporal modelling later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EDD27-44FD-4598-8C81-62851F15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384EC-7C06-49C2-A361-315BBDBE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AB84F-5AAF-442C-B40B-82785382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6E1D8-EA99-4922-A6B4-965D15BD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57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47D8C-1AAC-413F-8280-C446C2CA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57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97050-BA3F-4E47-9FCF-B78711FA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57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2E0B0-5FAA-4BB8-828F-78F2FEF2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DELIVERED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49811-26AC-4E80-91D4-10AC2401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23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Compact 3D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E5CE7-5110-40A0-84D2-1F8CD0E1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 U-Net with an implementation-faithful Mamba-inspired spatial sequence gate.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1C11B-BFD8-4BAF-8CC5-11123758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F486D-276D-4819-A54A-383AEDD8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5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Strengthen validity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A9A30-A1C2-4C33-9308-E0D38180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719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Confirm historical provenance; run matched ablations and multiple seeds; add an independent or external test cohort.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3C346-5693-44A1-A2D6-38CCDD7F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45CA3-3E48-44FF-AFDE-ED6ACC45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True 4D motion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AD8F1-5ADD-4E0A-8906-F3EED65B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719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Process full cine sequences with temporal modelling and evaluate motion/functional outputs.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0106E-8734-429E-A220-48B08DE4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B814DF-0D9D-452C-9F6D-26A6080A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62625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registered title is retained; temporal motion analysis is the research trajectory, not a completed experimental claim.</a:t>
            </a:r>
          </a:p>
        </p:txBody>
      </p:sp>
    </p:spTree>
    <p:extLst>
      <p:ext uri="{BB962C8B-B14F-4D97-AF65-F5344CB8AC3E}">
        <p14:creationId xmlns:p14="http://schemas.microsoft.com/office/powerpoint/2010/main" val="1661772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F3445-92B9-4007-955B-911BA476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DEFENSIBLE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62FE5-31DB-4C99-95F6-240E480C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752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86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Competitive Dice at the</a:t>
            </a:r>
          </a:p>
          <a:p xmlns:a="http://schemas.openxmlformats.org/drawingml/2006/main">
            <a:pPr algn="l">
              <a:buNone/>
              <a:defRPr sz="4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smallest reported model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57971-946C-4CA7-9DF6-BACC41D8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754D9-0A5B-4229-AD48-3510C64E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84.78%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19075-BCFA-4A8A-88FB-110F9548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validation mean Dice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E1C92-3D0F-4EE4-BCC7-1917A865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861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1.456M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5ABD7-CD44-4405-BC0E-572ECE2D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48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reported parameters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19123-78CE-4452-902E-A0472A12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861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69.7%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1D579-84E4-4ADF-83C3-5771BF1F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481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fewer parameters vs UNet3D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BA280-9438-4E1C-9588-7F676766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C822A-B87E-4B21-9E33-A3BE15B4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021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5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SegResNet16 is most accurate. No-Mamba is higher by Dice. Nano-Mamba's contribution is the compact trade-off—not a universal accuracy win.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2B4F5-C681-4860-BE6C-9B1BD89E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r">
              <a:buNone/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5855394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2026-08-20T18:37:25.7450000Z</dcterms:created>
  <dcterms:modified xsi:type="dcterms:W3CDTF">2026-08-20T18:37:25.7450000Z</dcterms:modified>
</coreProperties>
</file>