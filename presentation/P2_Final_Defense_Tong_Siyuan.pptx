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092961ab98849f1" /><Relationship Type="http://schemas.openxmlformats.org/officeDocument/2006/relationships/extended-properties" Target="/docProps/app.xml" Id="Rd769fd3ea56e41fb" /><Relationship Type="http://schemas.openxmlformats.org/officeDocument/2006/relationships/officeDocument" Target="/ppt/presentation.xml" Id="R3da6f7c8359d47a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9a0e36f4ed54b9e"/>
  </p:sldMasterIdLst>
  <p:notesMasterIdLst>
    <p:notesMasterId xmlns:r="http://schemas.openxmlformats.org/officeDocument/2006/relationships" r:id="R77ddd9f6a3ff48c1"/>
  </p:notesMasterIdLst>
  <p:sldIdLst>
    <p:sldId xmlns:r="http://schemas.openxmlformats.org/officeDocument/2006/relationships" id="256" r:id="R98cb24492618487b"/>
    <p:sldId xmlns:r="http://schemas.openxmlformats.org/officeDocument/2006/relationships" id="257" r:id="R3e1adb5052a54c05"/>
    <p:sldId xmlns:r="http://schemas.openxmlformats.org/officeDocument/2006/relationships" id="258" r:id="Rd857957db023402d"/>
    <p:sldId xmlns:r="http://schemas.openxmlformats.org/officeDocument/2006/relationships" id="259" r:id="Rd3d90464bc9348eb"/>
    <p:sldId xmlns:r="http://schemas.openxmlformats.org/officeDocument/2006/relationships" id="260" r:id="R98ff0e7345f24839"/>
    <p:sldId xmlns:r="http://schemas.openxmlformats.org/officeDocument/2006/relationships" id="261" r:id="Ra47380663bf7442b"/>
    <p:sldId xmlns:r="http://schemas.openxmlformats.org/officeDocument/2006/relationships" id="262" r:id="R4b5e8829f35e496e"/>
    <p:sldId xmlns:r="http://schemas.openxmlformats.org/officeDocument/2006/relationships" id="263" r:id="R663aa913a5364f62"/>
    <p:sldId xmlns:r="http://schemas.openxmlformats.org/officeDocument/2006/relationships" id="264" r:id="Rdf7771577eae41a6"/>
    <p:sldId xmlns:r="http://schemas.openxmlformats.org/officeDocument/2006/relationships" id="265" r:id="R86b60afb4a7b4858"/>
    <p:sldId xmlns:r="http://schemas.openxmlformats.org/officeDocument/2006/relationships" id="266" r:id="Rd8eaeecae9674bde"/>
    <p:sldId xmlns:r="http://schemas.openxmlformats.org/officeDocument/2006/relationships" id="267" r:id="R3689bffc8bc945b4"/>
    <p:sldId xmlns:r="http://schemas.openxmlformats.org/officeDocument/2006/relationships" id="268" r:id="R55de3baf4f7542a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6a8bce7e4a34ca7" /><Relationship Type="http://schemas.openxmlformats.org/officeDocument/2006/relationships/slideMaster" Target="/ppt/slideMasters/slideMaster1.xml" Id="Re9a0e36f4ed54b9e" /><Relationship Type="http://schemas.openxmlformats.org/officeDocument/2006/relationships/notesMaster" Target="/ppt/notesMasters/notesMaster1.xml" Id="R77ddd9f6a3ff48c1" /><Relationship Type="http://schemas.openxmlformats.org/officeDocument/2006/relationships/presProps" Target="/ppt/presProps.xml" Id="R9f31638d3e754660" /><Relationship Type="http://schemas.openxmlformats.org/officeDocument/2006/relationships/tableStyles" Target="/ppt/tableStyles.xml" Id="Rb2843b9ed7ae4169" /><Relationship Type="http://schemas.openxmlformats.org/officeDocument/2006/relationships/slide" Target="/ppt/slides/slide1.xml" Id="R98cb24492618487b" /><Relationship Type="http://schemas.openxmlformats.org/officeDocument/2006/relationships/slide" Target="/ppt/slides/slide2.xml" Id="R3e1adb5052a54c05" /><Relationship Type="http://schemas.openxmlformats.org/officeDocument/2006/relationships/slide" Target="/ppt/slides/slide3.xml" Id="Rd857957db023402d" /><Relationship Type="http://schemas.openxmlformats.org/officeDocument/2006/relationships/slide" Target="/ppt/slides/slide4.xml" Id="Rd3d90464bc9348eb" /><Relationship Type="http://schemas.openxmlformats.org/officeDocument/2006/relationships/slide" Target="/ppt/slides/slide5.xml" Id="R98ff0e7345f24839" /><Relationship Type="http://schemas.openxmlformats.org/officeDocument/2006/relationships/slide" Target="/ppt/slides/slide6.xml" Id="Ra47380663bf7442b" /><Relationship Type="http://schemas.openxmlformats.org/officeDocument/2006/relationships/slide" Target="/ppt/slides/slide7.xml" Id="R4b5e8829f35e496e" /><Relationship Type="http://schemas.openxmlformats.org/officeDocument/2006/relationships/slide" Target="/ppt/slides/slide8.xml" Id="R663aa913a5364f62" /><Relationship Type="http://schemas.openxmlformats.org/officeDocument/2006/relationships/slide" Target="/ppt/slides/slide9.xml" Id="Rdf7771577eae41a6" /><Relationship Type="http://schemas.openxmlformats.org/officeDocument/2006/relationships/slide" Target="/ppt/slides/slide10.xml" Id="R86b60afb4a7b4858" /><Relationship Type="http://schemas.openxmlformats.org/officeDocument/2006/relationships/slide" Target="/ppt/slides/slide11.xml" Id="Rd8eaeecae9674bde" /><Relationship Type="http://schemas.openxmlformats.org/officeDocument/2006/relationships/slide" Target="/ppt/slides/slide12.xml" Id="R3689bffc8bc945b4" /><Relationship Type="http://schemas.openxmlformats.org/officeDocument/2006/relationships/slide" Target="/ppt/slides/slide13.xml" Id="R55de3baf4f7542a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3db0debf57a461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acbb60a5b64435c" /><Relationship Type="http://schemas.openxmlformats.org/officeDocument/2006/relationships/notesMaster" Target="/ppt/notesMasters/notesMaster1.xml" Id="R59fb52c588b5430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9e3b24332454a5f" /><Relationship Type="http://schemas.openxmlformats.org/officeDocument/2006/relationships/notesMaster" Target="/ppt/notesMasters/notesMaster1.xml" Id="Re2abf937e3c044b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dbcbc8c9451406a" /><Relationship Type="http://schemas.openxmlformats.org/officeDocument/2006/relationships/notesMaster" Target="/ppt/notesMasters/notesMaster1.xml" Id="R31136de1bdbf4e7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fff7f3e9be74bdd" /><Relationship Type="http://schemas.openxmlformats.org/officeDocument/2006/relationships/notesMaster" Target="/ppt/notesMasters/notesMaster1.xml" Id="R82fe3786c2ec4b4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b09a66b596f4790" /><Relationship Type="http://schemas.openxmlformats.org/officeDocument/2006/relationships/notesMaster" Target="/ppt/notesMasters/notesMaster1.xml" Id="R34f8a3befb344de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a764fa6bc174f02" /><Relationship Type="http://schemas.openxmlformats.org/officeDocument/2006/relationships/notesMaster" Target="/ppt/notesMasters/notesMaster1.xml" Id="R149b0824d61c4ba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a7a5ecbac4b49db" /><Relationship Type="http://schemas.openxmlformats.org/officeDocument/2006/relationships/notesMaster" Target="/ppt/notesMasters/notesMaster1.xml" Id="R04473fcf7c5348a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9287375ef0144b1" /><Relationship Type="http://schemas.openxmlformats.org/officeDocument/2006/relationships/notesMaster" Target="/ppt/notesMasters/notesMaster1.xml" Id="R13e1902b1ecb419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032c6122596455b" /><Relationship Type="http://schemas.openxmlformats.org/officeDocument/2006/relationships/notesMaster" Target="/ppt/notesMasters/notesMaster1.xml" Id="R2bb689116e384be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cd35c7f5d154c72" /><Relationship Type="http://schemas.openxmlformats.org/officeDocument/2006/relationships/notesMaster" Target="/ppt/notesMasters/notesMaster1.xml" Id="R735444ad2574431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3c81e99ca06474b" /><Relationship Type="http://schemas.openxmlformats.org/officeDocument/2006/relationships/notesMaster" Target="/ppt/notesMasters/notesMaster1.xml" Id="Rd5a28dfa14754fd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7a60dbdd22f459e" /><Relationship Type="http://schemas.openxmlformats.org/officeDocument/2006/relationships/notesMaster" Target="/ppt/notesMasters/notesMaster1.xml" Id="R4a340a286d7e4e2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2692ca714394d96" /><Relationship Type="http://schemas.openxmlformats.org/officeDocument/2006/relationships/notesMaster" Target="/ppt/notesMasters/notesMaster1.xml" Id="R5105c171fd9f4d6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0:40.</a:t>
            </a:r>
          </a:p>
          <a:p xmlns:a="http://schemas.openxmlformats.org/drawingml/2006/main">
            <a:r>
              <a:t>Introduce the fixed registered title, then state the completed scope immediately: this is a 3D cardiac MRI segmentation study with a compact Mamba-inspired bottleneck.</a:t>
            </a:r>
          </a:p>
          <a:p xmlns:a="http://schemas.openxmlformats.org/drawingml/2006/main">
            <a:r>
              <a:t>Preview the central conclusion: the model is valuable for compactness, not because it wins Dice.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paper_write/Universiti_Malaya_Thesis_Template/thesis.tex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1:00.</a:t>
            </a:r>
          </a:p>
          <a:p xmlns:a="http://schemas.openxmlformats.org/drawingml/2006/main">
            <a:r>
              <a:t>Define the task before discussing architecture. ED and ES are two labelled volumes per patient, but each volume is a separate sample.</a:t>
            </a:r>
          </a:p>
          <a:p xmlns:a="http://schemas.openxmlformats.org/drawingml/2006/main">
            <a:r>
              <a:t>Make the title boundary explicit: the broader motion-analysis motivation remains, while the completed experiment is spatial segmentation.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SCIENTIFIC_BOUNDARIES.md</a:t>
            </a:r>
          </a:p>
          <a:p xmlns:a="http://schemas.openxmlformats.org/drawingml/2006/main">
            <a:r>
              <a:t>- Repository: paper_write/Universiti_Malaya_Thesis_Template/sample-chap-intro.tex</a:t>
            </a:r>
          </a:p>
          <a:p xmlns:a="http://schemas.openxmlformats.org/drawingml/2006/main">
            <a:r>
              <a:t>- ACDC task: Bernard et al. (2018), https://doi.org/10.1109/TMI.2018.2837502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1:10.</a:t>
            </a:r>
          </a:p>
          <a:p xmlns:a="http://schemas.openxmlformats.org/drawingml/2006/main">
            <a:r>
              <a:t>Explain why patient-level—not case-level—splitting matters: both ED and ES frames from one patient stay on the same side.</a:t>
            </a:r>
          </a:p>
          <a:p xmlns:a="http://schemas.openxmlformats.org/drawingml/2006/main">
            <a:r>
              <a:t>State the limitation without euphemism: checkpoint selection and descriptive reporting use the same held-out validation cohort.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evidence/rigorous_patient_split/patient_split_seed42.json</a:t>
            </a:r>
          </a:p>
          <a:p xmlns:a="http://schemas.openxmlformats.org/drawingml/2006/main">
            <a:r>
              <a:t>- Repository: evidence/rigorous_patient_split/data_discovery_report.json</a:t>
            </a:r>
          </a:p>
          <a:p xmlns:a="http://schemas.openxmlformats.org/drawingml/2006/main">
            <a:r>
              <a:t>- Repository: src/22_p2_evidence_audit.py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1:20.</a:t>
            </a:r>
          </a:p>
          <a:p xmlns:a="http://schemas.openxmlformats.org/drawingml/2006/main">
            <a:r>
              <a:t>Walk through the exact tensor path: input [B, 1, 256, 256, 16], bottleneck [B, 128, 32, 32, 2], flattened sequence [B, 2048, 128], and output [B, 4, 256, 256, 16].</a:t>
            </a:r>
          </a:p>
          <a:p xmlns:a="http://schemas.openxmlformats.org/drawingml/2006/main">
            <a:r>
              <a:t>The 2,048 items are spatial tokens: 32 × 32 × 2 after three pooling stages. They are not cardiac time points.</a:t>
            </a:r>
          </a:p>
          <a:p xmlns:a="http://schemas.openxmlformats.org/drawingml/2006/main">
            <a:r>
              <a:t>Defend the terminology carefully: this is a Mamba-inspired gated spatial sequence block. It has no selective scan and does not perform temporal modelling.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src/nano_mamba_core.py</a:t>
            </a:r>
          </a:p>
          <a:p xmlns:a="http://schemas.openxmlformats.org/drawingml/2006/main">
            <a:r>
              <a:t>- Repository: paper_write/Universiti_Malaya_Thesis_Template/sample-chap-methodology.tex</a:t>
            </a:r>
          </a:p>
          <a:p xmlns:a="http://schemas.openxmlformats.org/drawingml/2006/main">
            <a:r>
              <a:t>- Mamba reference: Gu and Dao (2023), https://arxiv.org/abs/2312.00752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1:10.</a:t>
            </a:r>
          </a:p>
          <a:p xmlns:a="http://schemas.openxmlformats.org/drawingml/2006/main">
            <a:r>
              <a:t>State the exact five transforms in order: LoadImaged, EnsureChannelFirstd, Resized to 256 × 256 × 16, ScaleIntensityd for the image, and ToTensord.</a:t>
            </a:r>
          </a:p>
          <a:p xmlns:a="http://schemas.openxmlformats.org/drawingml/2006/main">
            <a:r>
              <a:t>Trilinear interpolation is used for continuous MRI intensities. Nearest-neighbour is used for labels so class IDs are not blended.</a:t>
            </a:r>
          </a:p>
          <a:p xmlns:a="http://schemas.openxmlformats.org/drawingml/2006/main">
            <a:r>
              <a:t>ScaleIntensityd performs independent min–max scaling for each loaded 3D image. No augmentation was applied.</a:t>
            </a:r>
          </a:p>
          <a:p xmlns:a="http://schemas.openxmlformats.org/drawingml/2006/main">
            <a:r>
              <a:t>There is no orientation canonicalization, physical-spacing normalization, heart crop, inverse resampling, or connected-component post-processing. Therefore Dice describes the resized computational grid, not native-space anatomy.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src/21_rigorous_experiment_pipeline.py</a:t>
            </a:r>
          </a:p>
          <a:p xmlns:a="http://schemas.openxmlformats.org/drawingml/2006/main">
            <a:r>
              <a:t>- Repository: paper_write/Universiti_Malaya_Thesis_Template/sample-chap-methodology.tex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1:30.</a:t>
            </a:r>
          </a:p>
          <a:p xmlns:a="http://schemas.openxmlformats.org/drawingml/2006/main">
            <a:r>
              <a:t>Read the table by conclusion, not row by row. SegResNet16 is the accuracy leader at 86.70%. Nano-Mamba reaches 84.78% with 1.456M reported parameters, the smallest count.</a:t>
            </a:r>
          </a:p>
          <a:p xmlns:a="http://schemas.openxmlformats.org/drawingml/2006/main">
            <a:r>
              <a:t>Mention that LV is easiest and MYO is hardest across the stronger models.</a:t>
            </a:r>
          </a:p>
          <a:p xmlns:a="http://schemas.openxmlformats.org/drawingml/2006/main">
            <a:r>
              <a:t>Do not call this an independent test table; it is held-out validation used for checkpoint selection.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evidence/rigorous_patient_split/summary_metrics.csv</a:t>
            </a:r>
          </a:p>
          <a:p xmlns:a="http://schemas.openxmlformats.org/drawingml/2006/main">
            <a:r>
              <a:t>- Repository: evidence/rigorous_patient_split/evidence_audit_report.json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1:10.</a:t>
            </a:r>
          </a:p>
          <a:p xmlns:a="http://schemas.openxmlformats.org/drawingml/2006/main">
            <a:r>
              <a:t>Use the graph to articulate the actual contribution: Nano-Mamba sits left because of compactness while retaining competitive validation Dice.</a:t>
            </a:r>
          </a:p>
          <a:p xmlns:a="http://schemas.openxmlformats.org/drawingml/2006/main">
            <a:r>
              <a:t>The recovered paired patient interval is +2.83 to +5.01 percentage points versus UNet3D and −3.01 to −0.88 versus SegResNet16.</a:t>
            </a:r>
          </a:p>
          <a:p xmlns:a="http://schemas.openxmlformats.org/drawingml/2006/main">
            <a:r>
              <a:t>These are post-hoc intervals on the validation patients used for checkpoint selection, not an independent test.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 asset: figures/accuracy_parameter_tradeoff.png</a:t>
            </a:r>
          </a:p>
          <a:p xmlns:a="http://schemas.openxmlformats.org/drawingml/2006/main">
            <a:r>
              <a:t>- Repository: figures/quantitative_figure_provenance.json</a:t>
            </a:r>
          </a:p>
          <a:p xmlns:a="http://schemas.openxmlformats.org/drawingml/2006/main">
            <a:r>
              <a:t>- Repository: evidence/rigorous_patient_split/summary_metrics.csv</a:t>
            </a:r>
          </a:p>
          <a:p xmlns:a="http://schemas.openxmlformats.org/drawingml/2006/main">
            <a:r>
              <a:t>- Repository: evidence/rigorous_patient_split/evidence_audit_report.json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1:10.</a:t>
            </a:r>
          </a:p>
          <a:p xmlns:a="http://schemas.openxmlformats.org/drawingml/2006/main">
            <a:r>
              <a:t>Treat this as an important negative result. The paired Nano-minus-No-Mamba interval is −1.48 to −0.23 percentage points on these validation patients.</a:t>
            </a:r>
          </a:p>
          <a:p xmlns:a="http://schemas.openxmlformats.org/drawingml/2006/main">
            <a:r>
              <a:t>No-Mamba is larger and structurally different, so the observed ordering does not isolate a causal effect of the gate. Matched capacity and multiple seeds remain necessary.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evidence/rigorous_patient_split/summary_metrics.csv</a:t>
            </a:r>
          </a:p>
          <a:p xmlns:a="http://schemas.openxmlformats.org/drawingml/2006/main">
            <a:r>
              <a:t>- Repository: evidence/rigorous_patient_split/per_case_NanoMambaUNet.csv</a:t>
            </a:r>
          </a:p>
          <a:p xmlns:a="http://schemas.openxmlformats.org/drawingml/2006/main">
            <a:r>
              <a:t>- Repository: evidence/rigorous_patient_split/per_case_Ablation_NoMamba_UNet.csv</a:t>
            </a:r>
          </a:p>
          <a:p xmlns:a="http://schemas.openxmlformats.org/drawingml/2006/main">
            <a:r>
              <a:t>- Repository: src/21_rigorous_experiment_pipeline.py</a:t>
            </a:r>
          </a:p>
          <a:p xmlns:a="http://schemas.openxmlformats.org/drawingml/2006/main">
            <a:r>
              <a:t>- Repository: SCIENTIFIC_BOUNDARIES.md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0:55.</a:t>
            </a:r>
          </a:p>
          <a:p xmlns:a="http://schemas.openxmlformats.org/drawingml/2006/main">
            <a:r>
              <a:t>Show that the aggregate mean does not hide a class reversal: LV is strongest and MYO is most difficult across the stronger systems.</a:t>
            </a:r>
          </a:p>
          <a:p xmlns:a="http://schemas.openxmlformats.org/drawingml/2006/main">
            <a:r>
              <a:t>Keep the clinical interpretation cautious; the experiment reports segmentation overlap, not downstream EF or clinical outcomes.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 asset: figures/class_specific_dice_scores.png</a:t>
            </a:r>
          </a:p>
          <a:p xmlns:a="http://schemas.openxmlformats.org/drawingml/2006/main">
            <a:r>
              <a:t>- Repository: figures/quantitative_figure_provenance.json</a:t>
            </a:r>
          </a:p>
          <a:p xmlns:a="http://schemas.openxmlformats.org/drawingml/2006/main">
            <a:r>
              <a:t>- Repository: evidence/rigorous_patient_split/summary_metrics.csv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1:00.</a:t>
            </a:r>
          </a:p>
          <a:p xmlns:a="http://schemas.openxmlformats.org/drawingml/2006/main">
            <a:r>
              <a:t>The smallest parameter count is not automatically the fastest implementation.</a:t>
            </a:r>
          </a:p>
          <a:p xmlns:a="http://schemas.openxmlformats.org/drawingml/2006/main">
            <a:r>
              <a:t>The benchmark uses a random batch-one 256 × 256 × 16 input, five warm-ups, and thirty timed runs on the recorded RTX 4060 Laptop GPU setup.</a:t>
            </a:r>
          </a:p>
          <a:p xmlns:a="http://schemas.openxmlformats.org/drawingml/2006/main">
            <a:r>
              <a:t>Treat FPS as a hardware- and implementation-specific efficiency measurement, not a clinical throughput guarantee.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 asset: figures/accuracy_speed_tradeoff.png</a:t>
            </a:r>
          </a:p>
          <a:p xmlns:a="http://schemas.openxmlformats.org/drawingml/2006/main">
            <a:r>
              <a:t>- Repository: evidence/rigorous_patient_split/summary_metrics.csv</a:t>
            </a:r>
          </a:p>
          <a:p xmlns:a="http://schemas.openxmlformats.org/drawingml/2006/main">
            <a:r>
              <a:t>- Repository benchmark implementation: src/21_rigorous_experiment_pipeline.py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1:35.</a:t>
            </a:r>
          </a:p>
          <a:p xmlns:a="http://schemas.openxmlformats.org/drawingml/2006/main">
            <a:r>
              <a:t>Separate internal validity from generalization.</a:t>
            </a:r>
          </a:p>
          <a:p xmlns:a="http://schemas.openxmlformats.org/drawingml/2006/main">
            <a:r>
              <a:t>The patient split has no leakage, every model uses the same deterministic resized-grid preprocessing and checkpoint-selection rule, case-level rows reproduce all reported Dice values, and epoch logs reproduce the best epochs.</a:t>
            </a:r>
          </a:p>
          <a:p xmlns:a="http://schemas.openxmlformats.org/drawingml/2006/main">
            <a:r>
              <a:t>The open issues are scientific: no independent test, only one seed and split, no augmentation or native-space evaluation, non-matched ablations, no ED/ES or pathology subgroup analysis, and no surface-distance or formal qualitative evaluation.</a:t>
            </a:r>
          </a:p>
          <a:p xmlns:a="http://schemas.openxmlformats.org/drawingml/2006/main">
            <a:r>
              <a:t>Historical shell commands are not a submission requirement and are not the basis of the scientific conclusion.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paper_write/P2_FINAL_AUDIT.md</a:t>
            </a:r>
          </a:p>
          <a:p xmlns:a="http://schemas.openxmlformats.org/drawingml/2006/main">
            <a:r>
              <a:t>- Repository: paper_write/Universiti_Malaya_Thesis_Template/sample-chap-methodology.tex</a:t>
            </a:r>
          </a:p>
          <a:p xmlns:a="http://schemas.openxmlformats.org/drawingml/2006/main">
            <a:r>
              <a:t>- Repository: paper_write/Universiti_Malaya_Thesis_Template/sample-chap-results-p2.tex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1:05.</a:t>
            </a:r>
          </a:p>
          <a:p xmlns:a="http://schemas.openxmlformats.org/drawingml/2006/main">
            <a:r>
              <a:t>Summarize the supported contribution narrowly: a compact 3D segmentation model with a Mamba-inspired spatial sequence gate and a transparent accuracy–efficiency comparison.</a:t>
            </a:r>
          </a:p>
          <a:p xmlns:a="http://schemas.openxmlformats.org/drawingml/2006/main">
            <a:r>
              <a:t>The next scientific validation is multiple seeds, an independent test cohort, parameter-matched ablations, augmentation, native-space preprocessing, and surface-distance metrics.</a:t>
            </a:r>
          </a:p>
          <a:p xmlns:a="http://schemas.openxmlformats.org/drawingml/2006/main">
            <a:r>
              <a:t>True 4D temporal modelling must process cine sequences jointly and evaluate motion or functional outputs. It remains future work, not a completed claim.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paper_write/Universiti_Malaya_Thesis_Template/sample-chap-conclusion.tex</a:t>
            </a:r>
          </a:p>
          <a:p xmlns:a="http://schemas.openxmlformats.org/drawingml/2006/main">
            <a:r>
              <a:t>- Repository: SCIENTIFIC_BOUNDARIES.md</a:t>
            </a:r>
          </a:p>
          <a:p xmlns:a="http://schemas.openxmlformats.org/drawingml/2006/main">
            <a:r>
              <a:t>- Repository: paper_write/P2_FINAL_AUDIT.md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0:40, then transition to Q&amp;A.</a:t>
            </a:r>
          </a:p>
          <a:p xmlns:a="http://schemas.openxmlformats.org/drawingml/2006/main">
            <a:r>
              <a:t>Close by restating one disciplined sentence: Nano-Mamba provides competitive held-out validation Dice at the smallest reported parameter count among the evaluated models.</a:t>
            </a:r>
          </a:p>
          <a:p xmlns:a="http://schemas.openxmlformats.org/drawingml/2006/main">
            <a:r>
              <a:t>Proactively acknowledge the two negative facts—SegResNet16 leads and No-Mamba is higher—because they make the conclusion credible.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evidence/rigorous_patient_split/summary_metrics.csv</a:t>
            </a:r>
          </a:p>
          <a:p xmlns:a="http://schemas.openxmlformats.org/drawingml/2006/main">
            <a:r>
              <a:t>- Repository: paper_write/Universiti_Malaya_Thesis_Template/sample-chap-conclusion.tex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1cacdefd7746b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4403bd44ec0443b" /><Relationship Type="http://schemas.openxmlformats.org/officeDocument/2006/relationships/slideLayout" Target="/ppt/slideLayouts/slideLayout1.xml" Id="R86d1f716b3644ec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6d1f716b3644ec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ae2b5616be4d73" /><Relationship Type="http://schemas.openxmlformats.org/officeDocument/2006/relationships/notesSlide" Target="/ppt/notesSlides/notesSlide1.xml" Id="R7025dd753ed74b7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efd737f5084276" /><Relationship Type="http://schemas.openxmlformats.org/officeDocument/2006/relationships/notesSlide" Target="/ppt/notesSlides/notesSlide2.xml" Id="Rfcf104c80bf8472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bb5b3bc2b84a18" /><Relationship Type="http://schemas.openxmlformats.org/officeDocument/2006/relationships/notesSlide" Target="/ppt/notesSlides/notesSlide3.xml" Id="Ra768bbfe1820411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03e2f8ea6a4afa" /><Relationship Type="http://schemas.openxmlformats.org/officeDocument/2006/relationships/image" Target="/ppt/media/image.png" Id="Rbd7bc88834d243df" /><Relationship Type="http://schemas.openxmlformats.org/officeDocument/2006/relationships/notesSlide" Target="/ppt/notesSlides/notesSlide4.xml" Id="R88d2850ee240420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400adea8ef4745" /><Relationship Type="http://schemas.openxmlformats.org/officeDocument/2006/relationships/notesSlide" Target="/ppt/notesSlides/notesSlide5.xml" Id="R4f611667697a421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d3b1f498bd4984" /><Relationship Type="http://schemas.openxmlformats.org/officeDocument/2006/relationships/notesSlide" Target="/ppt/notesSlides/notesSlide6.xml" Id="R9772066c58414cb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230942007d4adc" /><Relationship Type="http://schemas.openxmlformats.org/officeDocument/2006/relationships/image" Target="/ppt/media/image2.png" Id="R5350315bef5f486e" /><Relationship Type="http://schemas.openxmlformats.org/officeDocument/2006/relationships/notesSlide" Target="/ppt/notesSlides/notesSlide7.xml" Id="Rfaea4e25da4d4af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1a3e7594664706" /><Relationship Type="http://schemas.openxmlformats.org/officeDocument/2006/relationships/notesSlide" Target="/ppt/notesSlides/notesSlide8.xml" Id="R22825a1d8971419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999393a2be44dd" /><Relationship Type="http://schemas.openxmlformats.org/officeDocument/2006/relationships/image" Target="/ppt/media/image3.png" Id="R0a1c4f1315c540e2" /><Relationship Type="http://schemas.openxmlformats.org/officeDocument/2006/relationships/notesSlide" Target="/ppt/notesSlides/notesSlide9.xml" Id="R61d3c4876924431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236eaa2808492d" /><Relationship Type="http://schemas.openxmlformats.org/officeDocument/2006/relationships/image" Target="/ppt/media/image4.png" Id="Rd4d5394c1fa64fd1" /><Relationship Type="http://schemas.openxmlformats.org/officeDocument/2006/relationships/notesSlide" Target="/ppt/notesSlides/notesSlide10.xml" Id="R9f249aefd0eb4d6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905bc362664495" /><Relationship Type="http://schemas.openxmlformats.org/officeDocument/2006/relationships/notesSlide" Target="/ppt/notesSlides/notesSlide11.xml" Id="R3b749d29943d431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2de9df9c884e31" /><Relationship Type="http://schemas.openxmlformats.org/officeDocument/2006/relationships/notesSlide" Target="/ppt/notesSlides/notesSlide12.xml" Id="R33a04803d0d14d2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90a743983d4e30" /><Relationship Type="http://schemas.openxmlformats.org/officeDocument/2006/relationships/notesSlide" Target="/ppt/notesSlides/notesSlide13.xml" Id="Rf608d351145e4b6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86475E-B6A5-49D5-93CA-295239CC7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0"/>
            <a:ext cx="3619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3B53BE-84E6-4B8A-B881-5C546376B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876300"/>
            <a:ext cx="0" cy="4953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3D8D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CCBBCD-A60A-4009-8160-0F67AF4B8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8650"/>
            <a:ext cx="581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MASTER OF ARTIFICIAL INTELLIGENCE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B30E05-C1F6-47B8-B365-F94EDD2EB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66850"/>
            <a:ext cx="7524750" cy="2419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938"/>
          </a:bodyPr>
          <a:lstStyle xmlns:a="http://schemas.openxmlformats.org/drawingml/2006/main"/>
          <a:p xmlns:a="http://schemas.openxmlformats.org/drawingml/2006/main">
            <a:pPr algn="l">
              <a:buNone/>
              <a:defRPr sz="52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2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Nano-Mamba U-Net:</a:t>
            </a:r>
          </a:p>
          <a:p xmlns:a="http://schemas.openxmlformats.org/drawingml/2006/main">
            <a:pPr algn="l">
              <a:buNone/>
              <a:defRPr sz="52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2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Spatio-Temporal Framework</a:t>
            </a:r>
          </a:p>
          <a:p xmlns:a="http://schemas.openxmlformats.org/drawingml/2006/main">
            <a:pPr algn="l">
              <a:buNone/>
              <a:defRPr sz="52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2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Cardiac Motion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BFB670-3F7F-4A41-B92D-0D1BFFCCE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434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375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P2 Final Defense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7773D0-18B5-4E36-8BE2-58A697F14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53000"/>
            <a:ext cx="5334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Tong Siyuan</a:t>
            </a:r>
          </a:p>
          <a:p xmlns:a="http://schemas.openxmlformats.org/drawingml/2006/main">
            <a:pPr algn="l">
              <a:buNone/>
              <a:defRPr sz="1725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Supervisor: Dr. Uzair Iqbal</a:t>
            </a:r>
          </a:p>
          <a:p xmlns:a="http://schemas.openxmlformats.org/drawingml/2006/main">
            <a:pPr algn="l">
              <a:buNone/>
              <a:defRPr sz="1725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Universiti Malaya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62F44D-4A19-447B-A061-6D43C4DE2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3835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3D segmentation</a:t>
            </a:r>
          </a:p>
          <a:p xmlns:a="http://schemas.openxmlformats.org/drawingml/2006/main">
            <a:pPr algn="l">
              <a:buNone/>
              <a:defRPr sz="21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Mamba-inspired gate</a:t>
            </a:r>
          </a:p>
          <a:p xmlns:a="http://schemas.openxmlformats.org/drawingml/2006/main">
            <a:pPr algn="l">
              <a:buNone/>
              <a:defRPr sz="21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Compact trade-off</a:t>
            </a:r>
          </a:p>
        </p:txBody>
      </p:sp>
    </p:spTree>
    <p:extLst>
      <p:ext uri="{BB962C8B-B14F-4D97-AF65-F5344CB8AC3E}">
        <p14:creationId xmlns:p14="http://schemas.microsoft.com/office/powerpoint/2010/main" val="3052180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F120D1-027B-4E4A-8777-F6CC86914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P2 FINAL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4B87FD-90FE-4C89-B14F-2CCC82D55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1201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028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task is segmentation—not motion tracking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D69DB8-1943-4D3F-B07A-3C7288605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620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DA075C-0EB7-48C1-AD82-01690362E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1905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AD9A90-0866-4FFC-95F8-79B16F764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4095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65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6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4-class</a:t>
            </a:r>
          </a:p>
          <a:p xmlns:a="http://schemas.openxmlformats.org/drawingml/2006/main">
            <a:pPr algn="l">
              <a:buNone/>
              <a:defRPr sz="465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6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3D CMR</a:t>
            </a:r>
          </a:p>
          <a:p xmlns:a="http://schemas.openxmlformats.org/drawingml/2006/main">
            <a:pPr algn="l">
              <a:buNone/>
              <a:defRPr sz="465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6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segmentation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F39AA0-70B7-49C3-B339-D3A8CB27A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657350"/>
            <a:ext cx="0" cy="3638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E6202C-9991-46AB-AEB5-095A5499B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7526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7917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572D8C-0F37-4ACC-A37E-30045B0A1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095500"/>
            <a:ext cx="533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38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Labelled ED and ES volumes, processed independently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4885D8-A787-48EF-963A-8F8ECDE6F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1051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7917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DED511-C6B5-411C-8B34-2E235160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448050"/>
            <a:ext cx="533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Background · RV · MYO · LV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698AEF-B175-4F1A-9DF4-6379E57D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4005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7917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BOUNDARY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3D0FA9-D841-464E-BE37-AD5814059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743450"/>
            <a:ext cx="533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3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Depth = anatomical slices, never cardiac time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CF7822-7E79-4BF3-B3E7-D56F6937A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05450"/>
            <a:ext cx="104394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DB7230-630B-49E6-99DA-231164E03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57850"/>
            <a:ext cx="1005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 temporal tracking, registration, displacement, optical flow, EF, or true 4D modelling was evaluated.</a:t>
            </a:r>
          </a:p>
        </p:txBody>
      </p:sp>
    </p:spTree>
    <p:extLst>
      <p:ext uri="{BB962C8B-B14F-4D97-AF65-F5344CB8AC3E}">
        <p14:creationId xmlns:p14="http://schemas.microsoft.com/office/powerpoint/2010/main" val="145044267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FB7871-7D12-4A5E-8895-84F189FDC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P2 FINAL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657EC6-72AA-4873-95F6-9BB9FE295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1201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028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patient-level split protects the comparison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F9F916-A0C3-44F2-B671-1C309436E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620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1AC05B-99A2-4803-9290-C210ACF76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1905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6ED491-610A-48EC-AD90-0BF3C0308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242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D907DF-F19A-44E7-BB4B-EEF607218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575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4F4590-B4B4-4FD2-A966-0ED69AB85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575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66B81E-F3FF-4314-B8FB-554AC1993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0575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293060-B197-43E0-888B-34C78644C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860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58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DISCOVER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E8FA3B-CF6A-4CB5-A42E-0545C8E1C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814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100 patients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5D8B13-CEA4-4F57-A934-3BE97F4AD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7195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200 labelled ED/ES cases found; no invalid containers reported.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507187-D4EE-4ABF-A0F8-58E26EC0D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860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58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SPLIT · SEED 42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914A19-67C3-4B28-981E-E85EAE25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5814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80 / 20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AD9847-1C0E-4A0E-9792-EFA9D0BD2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17195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Patients are disjoint and cover patient001–patient100 exactly once.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3C8601-CDB0-4E88-88A4-7897EF14F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860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58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EVALUATE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2E8745-AE3D-4411-A91E-1AA7A64F9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814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160 / 40 cases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7DEE4D-48B3-4A37-8BB9-EF6CA960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17195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One shared split for all models; best checkpoint selected by validation mean Dice.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BE5CAF-66C0-43DA-AABC-42FF468EB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820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F2CBA9-759B-434E-ABEB-34B7EA78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81675"/>
            <a:ext cx="1043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Important: the same 20-patient validation set selects checkpoints and supplies the reported table—it is not an independent test set.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FE1EDD-06C4-4D5A-A541-B26D50CA0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95250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0256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Source: audited split JSON and discovery report</a:t>
            </a:r>
          </a:p>
        </p:txBody>
      </p:sp>
    </p:spTree>
    <p:extLst>
      <p:ext uri="{BB962C8B-B14F-4D97-AF65-F5344CB8AC3E}">
        <p14:creationId xmlns:p14="http://schemas.microsoft.com/office/powerpoint/2010/main" val="11522316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BBEEFA-E2F2-4FE8-899A-A93F6BD63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P2 FINAL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955464-7EB6-4E45-9576-A0CE2946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1201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028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Nano-Mamba mixes 2,048 spatial tokens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81EF51-D2D9-4120-8C87-DC5892DA4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620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8C6254-CA97-47CC-B346-F07A04FCC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1905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C1B463-6B29-4CE7-8C1F-C3F831BE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00200"/>
            <a:ext cx="5524500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7bc88834d243df"/>
          <a:stretch xmlns:a="http://schemas.openxmlformats.org/drawingml/2006/main"/>
        </p:blipFill>
        <p:spPr>
          <a:xfrm xmlns:a="http://schemas.openxmlformats.org/drawingml/2006/main">
            <a:off x="5817215" y="1600200"/>
            <a:ext cx="5510569" cy="41148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FAD5AF-3E9E-493C-8D66-25B7D8C17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375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the block does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0DB3CE-BD57-488C-AB59-50AB420B7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43815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 Bottleneck: B × 128 × 32 × 32 ×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 32 × 32 × 2 = 2,048 spatial tokens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 Depthwise 1D mix + gate + projection + residual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82D17E-08E4-4897-B6EA-623E03A38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438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5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Spatial tokens ≠ cardiac time points or full Mamba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5E7773-3658-48EA-94D8-C29936BD7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95250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0256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Source: implementation-faithful thesis Figure 5.3 and nano_mamba_core.py</a:t>
            </a:r>
          </a:p>
        </p:txBody>
      </p:sp>
    </p:spTree>
    <p:extLst>
      <p:ext uri="{BB962C8B-B14F-4D97-AF65-F5344CB8AC3E}">
        <p14:creationId xmlns:p14="http://schemas.microsoft.com/office/powerpoint/2010/main" val="131547564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AEF2D8-18C2-4C11-854B-3154BC500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P2 FINAL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C9DBD7-9F60-4976-BBAC-67F0EA7C0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1201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028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Image preprocessing is deterministic and explicit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1AF9ED-57AA-4E30-B3AF-A74500666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620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814761-359C-47B7-991E-02A557178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1905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C5F50B-3D09-4167-A56F-EAAD520DA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7917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LOAD + SHAPE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2D46A7-AD02-4EAC-A818-2C653EB42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4286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  Load image + label</a:t>
            </a:r>
          </a:p>
          <a:p xmlns:a="http://schemas.openxmlformats.org/drawingml/2006/main">
            <a:pPr algn="l">
              <a:buNone/>
              <a:defRPr sz="25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  Add channel axis</a:t>
            </a:r>
          </a:p>
          <a:p xmlns:a="http://schemas.openxmlformats.org/drawingml/2006/main">
            <a:pPr algn="l">
              <a:buNone/>
              <a:defRPr sz="25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  Resize: 256 × 256 ×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16121E-8EF9-4F5E-A815-934562FC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76400"/>
            <a:ext cx="504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7917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INTERPOLATE + PREDICT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429FF3-AB87-4762-8E2E-8AA508C57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14550"/>
            <a:ext cx="5048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MRI: trilinear + 0–1 scaling</a:t>
            </a:r>
          </a:p>
          <a:p xmlns:a="http://schemas.openxmlformats.org/drawingml/2006/main">
            <a:pPr algn="l">
              <a:buNone/>
              <a:defRPr sz="25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Label: nearest-neighbour</a:t>
            </a:r>
          </a:p>
          <a:p xmlns:a="http://schemas.openxmlformats.org/drawingml/2006/main">
            <a:pPr algn="l">
              <a:buNone/>
              <a:defRPr sz="25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 logits → argmax mask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E3DEDB-FB95-4E29-9453-3AD55085D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619250"/>
            <a:ext cx="0" cy="2514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51B2B4-3136-477C-AFB9-CEBDF8E3C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62450"/>
            <a:ext cx="104394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6DD14E-5FDA-4D2E-B232-957369ABE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720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205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Geometry boundary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6DBF82-4B03-4757-B09F-B160ECE61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10150"/>
            <a:ext cx="9886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 augmentation, Orientationd, Spacingd, heart crop, inverse resampling, or mask post-processing. Dice is measured on the resized grid.</a:t>
            </a:r>
          </a:p>
        </p:txBody>
      </p:sp>
    </p:spTree>
    <p:extLst>
      <p:ext uri="{BB962C8B-B14F-4D97-AF65-F5344CB8AC3E}">
        <p14:creationId xmlns:p14="http://schemas.microsoft.com/office/powerpoint/2010/main" val="140887825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DFB55E-E1D8-404F-B778-794E975B2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P2 FINAL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FB8D0C-8324-463A-93EB-EF45D89EF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1201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028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SegResNet16 leads Dice; Nano-Mamba is smallest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EAD3DE-52CF-458C-8689-04E12B86A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620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29E757-32C0-4186-B6AE-376900D83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1905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14350" y="1619250"/>
          <a:ext xmlns:a="http://schemas.openxmlformats.org/drawingml/2006/main" cx="111633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1619250"/>
                <a:gridCol w="1619250"/>
                <a:gridCol w="1619250"/>
                <a:gridCol w="1619250"/>
                <a:gridCol w="1828800"/>
              </a:tblGrid>
              <a:tr h="5715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91440" marR="91440" marT="45720" marB="4572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</a:t>
                      </a:r>
                    </a:p>
                  </a:txBody>
                  <a:tcPr marL="91440" marR="91440" marT="45720" marB="4572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RV</a:t>
                      </a:r>
                    </a:p>
                  </a:txBody>
                  <a:tcPr marL="91440" marR="91440" marT="45720" marB="4572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MYO</a:t>
                      </a:r>
                    </a:p>
                  </a:txBody>
                  <a:tcPr marL="91440" marR="91440" marT="45720" marB="4572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LV</a:t>
                      </a:r>
                    </a:p>
                  </a:txBody>
                  <a:tcPr marL="91440" marR="91440" marT="45720" marB="4572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Params</a:t>
                      </a:r>
                    </a:p>
                  </a:txBody>
                  <a:tcPr marL="91440" marR="91440" marT="45720" marB="45720">
                    <a:solidFill>
                      <a:srgbClr val="000000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UNet3D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80.83%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78.35%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74.57%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89.59%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4.809M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65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Nano-Mamba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84.78%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82.11%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80.35%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91.88%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1.456M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No-Mamba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85.64%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83.26%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81.30%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92.37%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2.288M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Half-Mamba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84.95%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82.41%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80.46%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91.99%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1.638M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Attention U-Net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74.78%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69.43%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72.38%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82.53%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5.909M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65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SegResNet16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86.70%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84.30%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82.76%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93.03%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50" b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4.701M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6DAE79-A310-463A-A9D4-683E5893E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781675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Highest Dice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5FEDB2-EA74-4D04-8C3F-C4376EFA3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5781675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926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Smallest reported size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4AD900-1CB4-4E84-BE76-5CEE3748E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95250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0256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Source: audited summary_metrics.csv; percentages rounded to two decimals for display</a:t>
            </a:r>
          </a:p>
        </p:txBody>
      </p:sp>
    </p:spTree>
    <p:extLst>
      <p:ext uri="{BB962C8B-B14F-4D97-AF65-F5344CB8AC3E}">
        <p14:creationId xmlns:p14="http://schemas.microsoft.com/office/powerpoint/2010/main" val="20022806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73780C-B9B3-4B3B-9C22-ACEEA894E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P2 FINAL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452967-003E-4A79-AA8F-8C8B94CD1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1201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028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Nano-Mamba occupies a useful accuracy–parameter corner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85CFD6-379F-4DD9-83C9-497AE991C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620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99F365-45FC-4134-AF49-2C450338C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1905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44098B-600B-4911-BC97-51BE936E5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04950"/>
            <a:ext cx="7810500" cy="468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0315bef5f486e"/>
          <a:stretch xmlns:a="http://schemas.openxmlformats.org/drawingml/2006/main"/>
        </p:blipFill>
        <p:spPr>
          <a:xfrm xmlns:a="http://schemas.openxmlformats.org/drawingml/2006/main">
            <a:off x="688537" y="1504950"/>
            <a:ext cx="7424027" cy="46863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42967C-3E1D-437F-89ED-1CF4A859B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9431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167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+3.945 pp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5E7E21-ACA7-433E-A8FD-076F65C75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5745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97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vs UNet · CI [+2.83, +5.01]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FC18D0-85E5-4631-99BE-3C48AD54E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3147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167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−69.714%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891918-3728-427C-8F76-1EB03F13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829050"/>
            <a:ext cx="247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03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reported parameters vs UNet3D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510238-2093-4BA5-9FB6-CDBE5137B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81965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518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−1.918 pp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0B2075-2F40-4604-93DC-3B4967810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31495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CI [−3.01, −0.88] vs Seg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D81AE6-7B94-4151-BE7D-2694715C0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95250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0256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Figure from summary CSV; paired CIs from six recovered per-case CSVs</a:t>
            </a:r>
          </a:p>
        </p:txBody>
      </p:sp>
    </p:spTree>
    <p:extLst>
      <p:ext uri="{BB962C8B-B14F-4D97-AF65-F5344CB8AC3E}">
        <p14:creationId xmlns:p14="http://schemas.microsoft.com/office/powerpoint/2010/main" val="155971198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AEAA3B-DCA7-4827-A584-3305FB9EF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P2 FINAL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876834-57B7-4713-9835-6AB7B9364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1201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028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No-Mamba result prevents a causal accuracy claim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2B9A95-3012-4C0C-9AC8-6CF988E57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620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E273C9-4E9C-45F4-B393-0B26AC041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1905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D98D45-5401-4BE0-A0AF-82011091C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62150"/>
            <a:ext cx="3714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581"/>
          </a:bodyPr>
          <a:lstStyle xmlns:a="http://schemas.openxmlformats.org/drawingml/2006/main"/>
          <a:p xmlns:a="http://schemas.openxmlformats.org/drawingml/2006/main">
            <a:pPr algn="l">
              <a:buNone/>
              <a:defRPr sz="58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8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85.64%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42B023-626B-4280-8A48-EDCE6EAF3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7180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9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No-Mamba mean Dice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E39B67-732A-454B-A53E-F05B938DC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962150"/>
            <a:ext cx="3714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581"/>
          </a:bodyPr>
          <a:lstStyle xmlns:a="http://schemas.openxmlformats.org/drawingml/2006/main"/>
          <a:p xmlns:a="http://schemas.openxmlformats.org/drawingml/2006/main">
            <a:pPr algn="l">
              <a:buNone/>
              <a:defRPr sz="585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58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84.78%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65CF07-7FEF-4E0D-8975-22C9284C9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97180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9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Nano-Mamba mean Dice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44C72D-9FD3-4009-96B8-D8B203D3B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828800"/>
            <a:ext cx="0" cy="1752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97F654-94DE-478D-A6B8-6517885C3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428875"/>
            <a:ext cx="2000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+0.862 pp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B4654A-331B-4809-A3CE-386265C55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9886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362408-322D-4F7E-B2A2-4D569642C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053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542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C55DFF-BBC0-4911-8040-91C47EC11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762500"/>
            <a:ext cx="9391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Paired Nano − No-Mamba interval: [−1.48, −0.23] pp. No-Mamba is higher on this split, but 57.076% more parameters and structural confounds prevent a causal gate conclusion.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BCA3AC-B557-4DF8-B8E0-8ADDA778B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95250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0256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Source: summary CSV, six recovered per-case CSVs, and model definitions</a:t>
            </a:r>
          </a:p>
        </p:txBody>
      </p:sp>
    </p:spTree>
    <p:extLst>
      <p:ext uri="{BB962C8B-B14F-4D97-AF65-F5344CB8AC3E}">
        <p14:creationId xmlns:p14="http://schemas.microsoft.com/office/powerpoint/2010/main" val="13745619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A49CE6-5452-4DAB-B22C-BBF55EB18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P2 FINAL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F9A43B-C707-47FE-9C4C-51AC9BCFB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1201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028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MYO remains the hardest structure across models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67D55D-F181-44AE-B47D-050B661EF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620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582B5A-70E7-40A3-AB37-9F0EE790A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1905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862839-CDFB-4ECD-8811-3BF71B117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04950"/>
            <a:ext cx="8096250" cy="468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1c4f1315c540e2"/>
          <a:stretch xmlns:a="http://schemas.openxmlformats.org/drawingml/2006/main"/>
        </p:blipFill>
        <p:spPr>
          <a:xfrm xmlns:a="http://schemas.openxmlformats.org/drawingml/2006/main">
            <a:off x="722259" y="1504950"/>
            <a:ext cx="7642331" cy="46863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2E0FAF-A548-4FE3-BDAD-C2CEDA54A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002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Nano-Mamba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AA0B37-042E-4163-89C5-1512181D5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57450"/>
            <a:ext cx="2095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RV 82.11%</a:t>
            </a:r>
          </a:p>
          <a:p xmlns:a="http://schemas.openxmlformats.org/drawingml/2006/main">
            <a:pPr algn="l">
              <a:buNone/>
              <a:defRPr sz="21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MYO 80.35%</a:t>
            </a:r>
          </a:p>
          <a:p xmlns:a="http://schemas.openxmlformats.org/drawingml/2006/main">
            <a:pPr algn="l">
              <a:buNone/>
              <a:defRPr sz="21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LV 91.88%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147804-03D1-4413-8E3F-A1C62976D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943350"/>
            <a:ext cx="2076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B063E4-FB68-4828-9D9E-E869D229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2672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Clinical reading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C8F5C-3AB9-4D4C-86AC-68B8E9415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705350"/>
            <a:ext cx="2095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861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Thin myocardium and boundary ambiguity make MYO consistently more difficult than LV.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114C71-07B1-4BDC-BDDF-D8D7D3115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95250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0256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Source: audited summary_metrics.csv</a:t>
            </a:r>
          </a:p>
        </p:txBody>
      </p:sp>
    </p:spTree>
    <p:extLst>
      <p:ext uri="{BB962C8B-B14F-4D97-AF65-F5344CB8AC3E}">
        <p14:creationId xmlns:p14="http://schemas.microsoft.com/office/powerpoint/2010/main" val="196507321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C882A9-B393-4F5A-83D8-7F85ED004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P2 FINAL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9C3EC3-282A-4CFC-ABF4-85D7346B6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1201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028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Parameter count does not predict measured speed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CCF83E-C901-456E-8A4A-3C2A3350F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620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34416B-CAED-460C-835E-B5EB500EA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1905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BD0928-4812-4501-BE81-B43AECA10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04950"/>
            <a:ext cx="7905750" cy="468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d5394c1fa64fd1"/>
          <a:stretch xmlns:a="http://schemas.openxmlformats.org/drawingml/2006/main"/>
        </p:blipFill>
        <p:spPr>
          <a:xfrm xmlns:a="http://schemas.openxmlformats.org/drawingml/2006/main">
            <a:off x="706241" y="1504950"/>
            <a:ext cx="7483868" cy="46863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59827D-8D93-4A6B-A94F-C09EAAC2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885950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2051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88.17 FPS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7B28BE-583F-4498-A614-D616FFE55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19350"/>
            <a:ext cx="247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UNet3D—the fastest measured configuration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6B7AB7-A29B-48C0-A1BB-3E4D2D476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448050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2051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29.09 FPS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CCC389-559D-4FE4-9476-C5E060749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81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54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Nano-Mamba under the recorded benchmark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71F196-5D1E-4076-9A48-9B87AC7D6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953000"/>
            <a:ext cx="2667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BB9756-0D15-45D8-AF47-1B76C8AFC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14350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1212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Batch 1 · random 256×256×16 input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 warm-ups · 30 timed runs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63BB61-3D8C-48D1-A350-A87DA10DB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95250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0256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Batch-one random-input benchmark on the recorded RTX 4060 setup; hardware- and implementation-specific</a:t>
            </a:r>
          </a:p>
        </p:txBody>
      </p:sp>
    </p:spTree>
    <p:extLst>
      <p:ext uri="{BB962C8B-B14F-4D97-AF65-F5344CB8AC3E}">
        <p14:creationId xmlns:p14="http://schemas.microsoft.com/office/powerpoint/2010/main" val="84234946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AC5368-0219-4767-9304-4C74E1CC1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P2 FINAL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4FFF9C-3C75-49B9-8371-88A135C05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1201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028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Internal validity ≠ generalization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BA4526-2D38-4425-9135-05AB64B64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620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B7713B-6652-4555-8DC2-AD48C6E2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1905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969F74-612F-4B20-94B1-644A233B0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542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WHAT THE STUDY SUPPORTS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4FE614-8ED2-4A4B-B1BC-718EA2A54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476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 Patient-level split; no leakage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 Same preprocessing + checkpoint rule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 Case rows reproduce each Dice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 Curves reproduce best epochs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A46E39-184B-4E6B-B9D6-0FC12A7F5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619250"/>
            <a:ext cx="0" cy="384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CCF1DC-49CD-4CF9-8D0F-6A665B19E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695450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542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REMAINS UNTESTED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652978-8AB1-4827-AAC1-C30D6F76D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209800"/>
            <a:ext cx="4857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 Independent test + multiple seeds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 Augmentation + native-space evaluation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 Capacity-matched ablations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 ED/ES, pathology, HD95/ASD + visual review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83E721-7399-4D0F-9F36-A3E94032D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8165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F056E1-0D29-4410-8B3E-D00DFCB4D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05475"/>
            <a:ext cx="990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These are scientific design limits—not missing historical logs or submission files.</a:t>
            </a:r>
          </a:p>
        </p:txBody>
      </p:sp>
    </p:spTree>
    <p:extLst>
      <p:ext uri="{BB962C8B-B14F-4D97-AF65-F5344CB8AC3E}">
        <p14:creationId xmlns:p14="http://schemas.microsoft.com/office/powerpoint/2010/main" val="168935149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95D73E-4660-4CC0-8D52-37F65B3AB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P2 FINAL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55503B-7EEA-45E2-90CD-D9718A30E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1201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028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Contribution now; true temporal modelling later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2EDD27-44FD-4598-8C81-62851F150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620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4384EC-7C06-49C2-A361-315BBDBE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1905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BAB84F-5AAF-442C-B40B-82785382D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242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A6E1D8-EA99-4922-A6B4-965D15BDE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575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747D8C-1AAC-413F-8280-C446C2CA7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575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497050-BA3F-4E47-9FCF-B78711FA2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0575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F2E0B0-5FAA-4BB8-828F-78F2FEF2A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860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58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DELIVERED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C49811-26AC-4E80-91D4-10AC24015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814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923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Compact 3D model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FE5CE7-5110-40A0-84D2-1F8CD0E15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7195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A U-Net with an implementation-faithful Mamba-inspired spatial sequence gate.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21C11B-BFD8-4BAF-8CC5-11123758C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860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58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NEXT VALIDATION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CF486D-276D-4819-A54A-383AEDD8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5814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655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Strengthen validity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4A9A30-A1C2-4C33-9308-E0D38180A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17195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21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Run multiple seeds and an independent test; add matched ablations, augmentation, native-space preprocessing, and surface metrics.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83C346-5693-44A1-A2D6-38CCDD7FF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860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58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FUTURE SCOPE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345CA3-3E48-44FF-AFDE-ED6ACC45F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814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True 4D motion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9AD8F1-5ADD-4E0A-8906-F3EED65B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17195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Process full cine sequences with temporal modelling and evaluate motion/functional outputs.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60106E-8734-429E-A220-48B08DE40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B814DF-0D9D-452C-9F6D-26A6080A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62625"/>
            <a:ext cx="1043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registered title is retained; temporal motion analysis is the research trajectory, not a completed experimental claim.</a:t>
            </a:r>
          </a:p>
        </p:txBody>
      </p:sp>
    </p:spTree>
    <p:extLst>
      <p:ext uri="{BB962C8B-B14F-4D97-AF65-F5344CB8AC3E}">
        <p14:creationId xmlns:p14="http://schemas.microsoft.com/office/powerpoint/2010/main" val="16617721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9F3445-92B9-4007-955B-911BA4764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43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DEFENSIBLE CONCLUSION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A62FE5-31DB-4C99-95F6-240E480CB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43000"/>
            <a:ext cx="7524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86"/>
          </a:bodyPr>
          <a:lstStyle xmlns:a="http://schemas.openxmlformats.org/drawingml/2006/main"/>
          <a:p xmlns:a="http://schemas.openxmlformats.org/drawingml/2006/main">
            <a:pPr algn="l">
              <a:buNone/>
              <a:defRPr sz="49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9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Competitive Dice at the</a:t>
            </a:r>
          </a:p>
          <a:p xmlns:a="http://schemas.openxmlformats.org/drawingml/2006/main">
            <a:pPr algn="l">
              <a:buNone/>
              <a:defRPr sz="49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9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smallest reported model size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F57971-946C-4CA7-9DF6-BACC41D83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09900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5754D9-0A5B-4229-AD48-3510C64E0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8615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655"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84.78%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119075-BCFA-4A8A-88FB-110F9548D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481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validation mean Dice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7E1C92-3D0F-4EE4-BCC7-1917A865E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48615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655"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1.456M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45ABD7-CD44-4405-BC0E-572ECE2D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2481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reported parameters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419123-78CE-4452-902E-A0472A121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8615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655"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69.7%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81D579-84E4-4ADF-83C3-5771BF1FC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4815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5F667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F6670"/>
                </a:solidFill>
                <a:latin typeface="Arial"/>
                <a:ea typeface="Arial"/>
                <a:cs typeface="Arial"/>
              </a:rPr>
              <a:t>fewer parameters vs UNet3D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FBA280-9438-4E1C-9588-7F676766E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24450"/>
            <a:ext cx="10668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DC822A-B87E-4B21-9E33-A3BE15B4B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14950"/>
            <a:ext cx="1021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506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SegResNet16 is most accurate. No-Mamba is higher by Dice. Nano-Mamba's contribution is the compact trade-off—not a universal accuracy win.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72B4F5-C681-4860-BE6C-9B1BD89EA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191250"/>
            <a:ext cx="1638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1795"/>
          </a:bodyPr>
          <a:lstStyle xmlns:a="http://schemas.openxmlformats.org/drawingml/2006/main"/>
          <a:p xmlns:a="http://schemas.openxmlformats.org/drawingml/2006/main">
            <a:pPr algn="r">
              <a:buNone/>
              <a:defRPr sz="195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15855394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2026-08-20T21:38:22.6330000Z</dcterms:created>
  <dcterms:modified xsi:type="dcterms:W3CDTF">2026-08-20T21:38:22.6330000Z</dcterms:modified>
</coreProperties>
</file>