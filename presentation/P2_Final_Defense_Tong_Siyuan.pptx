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18b7b245d245f9" /><Relationship Type="http://schemas.openxmlformats.org/officeDocument/2006/relationships/extended-properties" Target="/docProps/app.xml" Id="R17cefe690a88483f" /><Relationship Type="http://schemas.openxmlformats.org/officeDocument/2006/relationships/officeDocument" Target="/ppt/presentation.xml" Id="R1370b250b28d49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005ce325204cfd"/>
  </p:sldMasterIdLst>
  <p:notesMasterIdLst>
    <p:notesMasterId xmlns:r="http://schemas.openxmlformats.org/officeDocument/2006/relationships" r:id="R0e41e3f8c1344321"/>
  </p:notesMasterIdLst>
  <p:sldIdLst>
    <p:sldId xmlns:r="http://schemas.openxmlformats.org/officeDocument/2006/relationships" id="256" r:id="R77dfc9a5489240c8"/>
    <p:sldId xmlns:r="http://schemas.openxmlformats.org/officeDocument/2006/relationships" id="257" r:id="Rc12df25c0bff49b7"/>
    <p:sldId xmlns:r="http://schemas.openxmlformats.org/officeDocument/2006/relationships" id="258" r:id="Rdbb07b5e66084e0a"/>
    <p:sldId xmlns:r="http://schemas.openxmlformats.org/officeDocument/2006/relationships" id="259" r:id="Rf45c0c4d31e942fc"/>
    <p:sldId xmlns:r="http://schemas.openxmlformats.org/officeDocument/2006/relationships" id="260" r:id="R08a8fd08463d4d94"/>
    <p:sldId xmlns:r="http://schemas.openxmlformats.org/officeDocument/2006/relationships" id="261" r:id="R832d0b11d1794788"/>
    <p:sldId xmlns:r="http://schemas.openxmlformats.org/officeDocument/2006/relationships" id="262" r:id="R1b1eaa38688147f2"/>
    <p:sldId xmlns:r="http://schemas.openxmlformats.org/officeDocument/2006/relationships" id="263" r:id="R2aacc23b3d5f44b5"/>
    <p:sldId xmlns:r="http://schemas.openxmlformats.org/officeDocument/2006/relationships" id="264" r:id="R12b2fd41aae8438f"/>
    <p:sldId xmlns:r="http://schemas.openxmlformats.org/officeDocument/2006/relationships" id="265" r:id="R3ccfc0da6c9f442f"/>
    <p:sldId xmlns:r="http://schemas.openxmlformats.org/officeDocument/2006/relationships" id="266" r:id="Rd57898c315234164"/>
    <p:sldId xmlns:r="http://schemas.openxmlformats.org/officeDocument/2006/relationships" id="267" r:id="Ra627be6e76274a99"/>
    <p:sldId xmlns:r="http://schemas.openxmlformats.org/officeDocument/2006/relationships" id="268" r:id="R5105fe4aff9644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55d95fbc7f42b9" /><Relationship Type="http://schemas.openxmlformats.org/officeDocument/2006/relationships/slideMaster" Target="/ppt/slideMasters/slideMaster1.xml" Id="Rc8005ce325204cfd" /><Relationship Type="http://schemas.openxmlformats.org/officeDocument/2006/relationships/notesMaster" Target="/ppt/notesMasters/notesMaster1.xml" Id="R0e41e3f8c1344321" /><Relationship Type="http://schemas.openxmlformats.org/officeDocument/2006/relationships/presProps" Target="/ppt/presProps.xml" Id="R1c695505d8194c0b" /><Relationship Type="http://schemas.openxmlformats.org/officeDocument/2006/relationships/tableStyles" Target="/ppt/tableStyles.xml" Id="Rf862eee6f9b14335" /><Relationship Type="http://schemas.openxmlformats.org/officeDocument/2006/relationships/slide" Target="/ppt/slides/slide1.xml" Id="R77dfc9a5489240c8" /><Relationship Type="http://schemas.openxmlformats.org/officeDocument/2006/relationships/slide" Target="/ppt/slides/slide2.xml" Id="Rc12df25c0bff49b7" /><Relationship Type="http://schemas.openxmlformats.org/officeDocument/2006/relationships/slide" Target="/ppt/slides/slide3.xml" Id="Rdbb07b5e66084e0a" /><Relationship Type="http://schemas.openxmlformats.org/officeDocument/2006/relationships/slide" Target="/ppt/slides/slide4.xml" Id="Rf45c0c4d31e942fc" /><Relationship Type="http://schemas.openxmlformats.org/officeDocument/2006/relationships/slide" Target="/ppt/slides/slide5.xml" Id="R08a8fd08463d4d94" /><Relationship Type="http://schemas.openxmlformats.org/officeDocument/2006/relationships/slide" Target="/ppt/slides/slide6.xml" Id="R832d0b11d1794788" /><Relationship Type="http://schemas.openxmlformats.org/officeDocument/2006/relationships/slide" Target="/ppt/slides/slide7.xml" Id="R1b1eaa38688147f2" /><Relationship Type="http://schemas.openxmlformats.org/officeDocument/2006/relationships/slide" Target="/ppt/slides/slide8.xml" Id="R2aacc23b3d5f44b5" /><Relationship Type="http://schemas.openxmlformats.org/officeDocument/2006/relationships/slide" Target="/ppt/slides/slide9.xml" Id="R12b2fd41aae8438f" /><Relationship Type="http://schemas.openxmlformats.org/officeDocument/2006/relationships/slide" Target="/ppt/slides/slide10.xml" Id="R3ccfc0da6c9f442f" /><Relationship Type="http://schemas.openxmlformats.org/officeDocument/2006/relationships/slide" Target="/ppt/slides/slide11.xml" Id="Rd57898c315234164" /><Relationship Type="http://schemas.openxmlformats.org/officeDocument/2006/relationships/slide" Target="/ppt/slides/slide12.xml" Id="Ra627be6e76274a99" /><Relationship Type="http://schemas.openxmlformats.org/officeDocument/2006/relationships/slide" Target="/ppt/slides/slide13.xml" Id="R5105fe4aff9644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786f8102424a8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d3429a02a2495e" /><Relationship Type="http://schemas.openxmlformats.org/officeDocument/2006/relationships/notesMaster" Target="/ppt/notesMasters/notesMaster1.xml" Id="R1e3850e1127841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588a7fb7884ba6" /><Relationship Type="http://schemas.openxmlformats.org/officeDocument/2006/relationships/notesMaster" Target="/ppt/notesMasters/notesMaster1.xml" Id="R70b0020886f547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05347da5234fe7" /><Relationship Type="http://schemas.openxmlformats.org/officeDocument/2006/relationships/notesMaster" Target="/ppt/notesMasters/notesMaster1.xml" Id="R31a5e5ffc16647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e1a61a93bf4207" /><Relationship Type="http://schemas.openxmlformats.org/officeDocument/2006/relationships/notesMaster" Target="/ppt/notesMasters/notesMaster1.xml" Id="R2668b1a7fae343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ac1d164e624b25" /><Relationship Type="http://schemas.openxmlformats.org/officeDocument/2006/relationships/notesMaster" Target="/ppt/notesMasters/notesMaster1.xml" Id="R0479a47e8f5844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f719bc82670442a" /><Relationship Type="http://schemas.openxmlformats.org/officeDocument/2006/relationships/notesMaster" Target="/ppt/notesMasters/notesMaster1.xml" Id="Rf841e513b56e4c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63211d32b14ed1" /><Relationship Type="http://schemas.openxmlformats.org/officeDocument/2006/relationships/notesMaster" Target="/ppt/notesMasters/notesMaster1.xml" Id="R69c6ff38f7bc44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e9a67f10ab481d" /><Relationship Type="http://schemas.openxmlformats.org/officeDocument/2006/relationships/notesMaster" Target="/ppt/notesMasters/notesMaster1.xml" Id="R0d4d8ee1140f497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010415aff6740b0" /><Relationship Type="http://schemas.openxmlformats.org/officeDocument/2006/relationships/notesMaster" Target="/ppt/notesMasters/notesMaster1.xml" Id="R45e818dd7c2f48a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29612f3a60447c5" /><Relationship Type="http://schemas.openxmlformats.org/officeDocument/2006/relationships/notesMaster" Target="/ppt/notesMasters/notesMaster1.xml" Id="R423fec39625f44a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e58c4ca83284461" /><Relationship Type="http://schemas.openxmlformats.org/officeDocument/2006/relationships/notesMaster" Target="/ppt/notesMasters/notesMaster1.xml" Id="R948285e612f64fa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e11adb432484091" /><Relationship Type="http://schemas.openxmlformats.org/officeDocument/2006/relationships/notesMaster" Target="/ppt/notesMasters/notesMaster1.xml" Id="R5b0845b8954c4ae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301057780834d0c" /><Relationship Type="http://schemas.openxmlformats.org/officeDocument/2006/relationships/notesMaster" Target="/ppt/notesMasters/notesMaster1.xml" Id="R78912b36bf5c4f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0:40.</a:t>
            </a:r>
          </a:p>
          <a:p xmlns:a="http://schemas.openxmlformats.org/drawingml/2006/main">
            <a:r>
              <a:t>Introduce the fixed registered title, then state the completed scope immediately: this is a 3D cardiac MRI segmentation study with a compact Mamba-inspired bottleneck.</a:t>
            </a:r>
          </a:p>
          <a:p xmlns:a="http://schemas.openxmlformats.org/drawingml/2006/main">
            <a:r>
              <a:t>Preview the central conclusion: the model is valuable for compactness, not because it wins Dice.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paper_write/Universiti_Malaya_Thesis_Template/thesis.tex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1:00.</a:t>
            </a:r>
          </a:p>
          <a:p xmlns:a="http://schemas.openxmlformats.org/drawingml/2006/main">
            <a:r>
              <a:t>Define the task before discussing architecture. ED and ES are two labelled volumes per patient, but each volume is a separate sample.</a:t>
            </a:r>
          </a:p>
          <a:p xmlns:a="http://schemas.openxmlformats.org/drawingml/2006/main">
            <a:r>
              <a:t>Make the title boundary explicit: the broader motion-analysis motivation remains, while the completed experiment is spatial segmentation.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SCIENTIFIC_BOUNDARIES.md</a:t>
            </a:r>
          </a:p>
          <a:p xmlns:a="http://schemas.openxmlformats.org/drawingml/2006/main">
            <a:r>
              <a:t>- Repository: paper_write/Universiti_Malaya_Thesis_Template/sample-chap-intro.tex</a:t>
            </a:r>
          </a:p>
          <a:p xmlns:a="http://schemas.openxmlformats.org/drawingml/2006/main">
            <a:r>
              <a:t>- ACDC task: Bernard et al. (2018), https://doi.org/10.1109/TMI.2018.2837502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1:10.</a:t>
            </a:r>
          </a:p>
          <a:p xmlns:a="http://schemas.openxmlformats.org/drawingml/2006/main">
            <a:r>
              <a:t>Explain why patient-level—not case-level—splitting matters: both ED and ES frames from one patient stay on the same side.</a:t>
            </a:r>
          </a:p>
          <a:p xmlns:a="http://schemas.openxmlformats.org/drawingml/2006/main">
            <a:r>
              <a:t>State the limitation without euphemism: checkpoint selection and descriptive reporting use the same held-out validation cohort.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evidence/rigorous_patient_split/patient_split_seed42.json</a:t>
            </a:r>
          </a:p>
          <a:p xmlns:a="http://schemas.openxmlformats.org/drawingml/2006/main">
            <a:r>
              <a:t>- Repository: evidence/rigorous_patient_split/data_discovery_report.json</a:t>
            </a:r>
          </a:p>
          <a:p xmlns:a="http://schemas.openxmlformats.org/drawingml/2006/main">
            <a:r>
              <a:t>- Repository: src/22_p2_evidence_audit.py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1:20.</a:t>
            </a:r>
          </a:p>
          <a:p xmlns:a="http://schemas.openxmlformats.org/drawingml/2006/main">
            <a:r>
              <a:t>Walk from encoder to bottleneck to decoder. The architectural contribution is an added low-resolution sequence gate, not replacement of the entire U-Net.</a:t>
            </a:r>
          </a:p>
          <a:p xmlns:a="http://schemas.openxmlformats.org/drawingml/2006/main">
            <a:r>
              <a:t>Defend the terminology carefully: the implementation has no selective scan and does not model time.</a:t>
            </a:r>
          </a:p>
          <a:p xmlns:a="http://schemas.openxmlformats.org/drawingml/2006/main">
            <a:r>
              <a:t>If asked about parameter accounting, note that legacy gate-projection channels without an output path remain included in the reported trainable parameter total.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src/nano_mamba_core.py</a:t>
            </a:r>
          </a:p>
          <a:p xmlns:a="http://schemas.openxmlformats.org/drawingml/2006/main">
            <a:r>
              <a:t>- Repository: paper_write/Universiti_Malaya_Thesis_Template/sample-chap-methodology.tex</a:t>
            </a:r>
          </a:p>
          <a:p xmlns:a="http://schemas.openxmlformats.org/drawingml/2006/main">
            <a:r>
              <a:t>- Mamba reference: Gu and Dao (2023), https://arxiv.org/abs/2312.00752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0:55.</a:t>
            </a:r>
          </a:p>
          <a:p xmlns:a="http://schemas.openxmlformats.org/drawingml/2006/main">
            <a:r>
              <a:t>Name the six configurations quickly, then spend more time on what the design cannot isolate.</a:t>
            </a:r>
          </a:p>
          <a:p xmlns:a="http://schemas.openxmlformats.org/drawingml/2006/main">
            <a:r>
              <a:t>Different batch sizes and non-parameter-matched bottlenecks mean the results compare executed systems; they do not identify a pure causal effect of the 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src/21_rigorous_experiment_pipeline.py</a:t>
            </a:r>
          </a:p>
          <a:p xmlns:a="http://schemas.openxmlformats.org/drawingml/2006/main">
            <a:r>
              <a:t>- Repository: paper_write/Universiti_Malaya_Thesis_Template/sample-chap-methodology.tex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1:30.</a:t>
            </a:r>
          </a:p>
          <a:p xmlns:a="http://schemas.openxmlformats.org/drawingml/2006/main">
            <a:r>
              <a:t>Read the table by conclusion, not row by row. SegResNet16 is the accuracy leader at 86.70%. Nano-Mamba reaches 84.78% with 1.456M reported parameters, the smallest count.</a:t>
            </a:r>
          </a:p>
          <a:p xmlns:a="http://schemas.openxmlformats.org/drawingml/2006/main">
            <a:r>
              <a:t>Mention that LV is easiest and MYO is hardest across the stronger models.</a:t>
            </a:r>
          </a:p>
          <a:p xmlns:a="http://schemas.openxmlformats.org/drawingml/2006/main">
            <a:r>
              <a:t>Do not call this an independent test table; it is held-out validation used for checkpoint selection.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evidence/rigorous_patient_split/summary_metrics.csv</a:t>
            </a:r>
          </a:p>
          <a:p xmlns:a="http://schemas.openxmlformats.org/drawingml/2006/main">
            <a:r>
              <a:t>- Repository: evidence/rigorous_patient_split/evidence_audit_report.json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1:10.</a:t>
            </a:r>
          </a:p>
          <a:p xmlns:a="http://schemas.openxmlformats.org/drawingml/2006/main">
            <a:r>
              <a:t>Use the graph to articulate the actual contribution: Nano-Mamba sits left because of compactness, while retaining competitive validation Dice.</a:t>
            </a:r>
          </a:p>
          <a:p xmlns:a="http://schemas.openxmlformats.org/drawingml/2006/main">
            <a:r>
              <a:t>Compared with SegResNet16, it gives up 1.918 percentage points while using 69.021% fewer reported parameters.</a:t>
            </a:r>
          </a:p>
          <a:p xmlns:a="http://schemas.openxmlformats.org/drawingml/2006/main">
            <a:r>
              <a:t>Avoid turning the chart into a universal deployment claim; it only covers the six executed configurations.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asset: figures/accuracy_parameter_tradeoff.png</a:t>
            </a:r>
          </a:p>
          <a:p xmlns:a="http://schemas.openxmlformats.org/drawingml/2006/main">
            <a:r>
              <a:t>- Repository: figures/quantitative_figure_provenance.json</a:t>
            </a:r>
          </a:p>
          <a:p xmlns:a="http://schemas.openxmlformats.org/drawingml/2006/main">
            <a:r>
              <a:t>- Repository: evidence/rigorous_patient_split/summary_metrics.csv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1:10.</a:t>
            </a:r>
          </a:p>
          <a:p xmlns:a="http://schemas.openxmlformats.org/drawingml/2006/main">
            <a:r>
              <a:t>Treat this as an important negative result, not an embarrassment. The current gated module is not consistently better by Dice.</a:t>
            </a:r>
          </a:p>
          <a:p xmlns:a="http://schemas.openxmlformats.org/drawingml/2006/main">
            <a:r>
              <a:t>The correct defence is that the project explores an accuracy–efficiency design point. A matched-capacity ablation and multiple seeds are needed for a causal architecture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evidence/rigorous_patient_split/summary_metrics.csv</a:t>
            </a:r>
          </a:p>
          <a:p xmlns:a="http://schemas.openxmlformats.org/drawingml/2006/main">
            <a:r>
              <a:t>- Repository: src/21_rigorous_experiment_pipeline.py</a:t>
            </a:r>
          </a:p>
          <a:p xmlns:a="http://schemas.openxmlformats.org/drawingml/2006/main">
            <a:r>
              <a:t>- Repository: SCIENTIFIC_BOUNDARIES.md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0:55.</a:t>
            </a:r>
          </a:p>
          <a:p xmlns:a="http://schemas.openxmlformats.org/drawingml/2006/main">
            <a:r>
              <a:t>Show that the aggregate mean does not hide a class reversal: LV is strongest and MYO is most difficult across the stronger systems.</a:t>
            </a:r>
          </a:p>
          <a:p xmlns:a="http://schemas.openxmlformats.org/drawingml/2006/main">
            <a:r>
              <a:t>Keep the clinical interpretation cautious; the experiment reports segmentation overlap, not downstream EF or clinical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asset: figures/class_specific_dice_scores.png</a:t>
            </a:r>
          </a:p>
          <a:p xmlns:a="http://schemas.openxmlformats.org/drawingml/2006/main">
            <a:r>
              <a:t>- Repository: figures/quantitative_figure_provenance.json</a:t>
            </a:r>
          </a:p>
          <a:p xmlns:a="http://schemas.openxmlformats.org/drawingml/2006/main">
            <a:r>
              <a:t>- Repository: evidence/rigorous_patient_split/summary_metrics.csv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1:00.</a:t>
            </a:r>
          </a:p>
          <a:p xmlns:a="http://schemas.openxmlformats.org/drawingml/2006/main">
            <a:r>
              <a:t>This slide prevents an overly simple deployment argument. The smallest parameter count is not the fastest implementation.</a:t>
            </a:r>
          </a:p>
          <a:p xmlns:a="http://schemas.openxmlformats.org/drawingml/2006/main">
            <a:r>
              <a:t>The benchmark uses random batch-one input, five warm-ups, and thirty timed runs. Because the supplied bundle lacks confirmed runtime metadata and dispersion, treat FPS as environment-specific engineering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asset: figures/accuracy_speed_tradeoff.png</a:t>
            </a:r>
          </a:p>
          <a:p xmlns:a="http://schemas.openxmlformats.org/drawingml/2006/main">
            <a:r>
              <a:t>- Repository: evidence/rigorous_patient_split/summary_metrics.csv</a:t>
            </a:r>
          </a:p>
          <a:p xmlns:a="http://schemas.openxmlformats.org/drawingml/2006/main">
            <a:r>
              <a:t>- Repository benchmark implementation: src/21_rigorous_experiment_pipeline.py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1:35.</a:t>
            </a:r>
          </a:p>
          <a:p xmlns:a="http://schemas.openxmlformats.org/drawingml/2006/main">
            <a:r>
              <a:t>Separate validity from completeness. The central table and split pass data-free consistency checks; this supports a descriptive comparison.</a:t>
            </a:r>
          </a:p>
          <a:p xmlns:a="http://schemas.openxmlformats.org/drawingml/2006/main">
            <a:r>
              <a:t>However, the bundle omitted per-case rows, logs, checkpoint identity, and confirmed environment. Therefore no confidence intervals or exact learning curve are claimed.</a:t>
            </a:r>
          </a:p>
          <a:p xmlns:a="http://schemas.openxmlformats.org/drawingml/2006/main">
            <a:r>
              <a:t>Explain the closure collector: it hashes checkpoints without publishing weights and computes patient-level bootstrap intervals only if all original rows are recovered.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paper_write/P2_FINAL_AUDIT.md</a:t>
            </a:r>
          </a:p>
          <a:p xmlns:a="http://schemas.openxmlformats.org/drawingml/2006/main">
            <a:r>
              <a:t>- Repository: evidence/rigorous_patient_split/evidence_audit_report.json</a:t>
            </a:r>
          </a:p>
          <a:p xmlns:a="http://schemas.openxmlformats.org/drawingml/2006/main">
            <a:r>
              <a:t>- Repository: src/22_p2_evidence_audit.py</a:t>
            </a:r>
          </a:p>
          <a:p xmlns:a="http://schemas.openxmlformats.org/drawingml/2006/main">
            <a:r>
              <a:t>- Repository: RIGOROUS_EXPERIMENTS.md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1:05.</a:t>
            </a:r>
          </a:p>
          <a:p xmlns:a="http://schemas.openxmlformats.org/drawingml/2006/main">
            <a:r>
              <a:t>Summarize the contribution in the narrow form supported by the evidence: a compact spatial 3D segmentation architecture and a transparent accuracy–efficiency evaluation.</a:t>
            </a:r>
          </a:p>
          <a:p xmlns:a="http://schemas.openxmlformats.org/drawingml/2006/main">
            <a:r>
              <a:t>Then distinguish immediate evidence work from true 4D research. Do not imply that adding ED and ES as separate cases creates a temporal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paper_write/Universiti_Malaya_Thesis_Template/sample-chap-conclusion.tex</a:t>
            </a:r>
          </a:p>
          <a:p xmlns:a="http://schemas.openxmlformats.org/drawingml/2006/main">
            <a:r>
              <a:t>- Repository: SCIENTIFIC_BOUNDARIES.md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0:40, then transition to Q&amp;A.</a:t>
            </a:r>
          </a:p>
          <a:p xmlns:a="http://schemas.openxmlformats.org/drawingml/2006/main">
            <a:r>
              <a:t>Close by restating one disciplined sentence: Nano-Mamba provides competitive held-out validation Dice at the smallest reported parameter count among the evaluated models.</a:t>
            </a:r>
          </a:p>
          <a:p xmlns:a="http://schemas.openxmlformats.org/drawingml/2006/main">
            <a:r>
              <a:t>Proactively acknowledge the two negative facts—SegResNet16 leads and No-Mamba is higher—because they make the conclusion credible.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evidence/rigorous_patient_split/summary_metrics.csv</a:t>
            </a:r>
          </a:p>
          <a:p xmlns:a="http://schemas.openxmlformats.org/drawingml/2006/main">
            <a:r>
              <a:t>- Repository: paper_write/Universiti_Malaya_Thesis_Template/sample-chap-conclusion.tex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87535107f540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a5114f321a492d" /><Relationship Type="http://schemas.openxmlformats.org/officeDocument/2006/relationships/slideLayout" Target="/ppt/slideLayouts/slideLayout1.xml" Id="R97f03223490c46f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f03223490c46f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255562a6e48c4" /><Relationship Type="http://schemas.openxmlformats.org/officeDocument/2006/relationships/notesSlide" Target="/ppt/notesSlides/notesSlide1.xml" Id="R89aaef44ca914a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9f0f8c3004a33" /><Relationship Type="http://schemas.openxmlformats.org/officeDocument/2006/relationships/notesSlide" Target="/ppt/notesSlides/notesSlide2.xml" Id="Rdbbdbcecfca344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eea7cb7ab3474f" /><Relationship Type="http://schemas.openxmlformats.org/officeDocument/2006/relationships/notesSlide" Target="/ppt/notesSlides/notesSlide3.xml" Id="R11e551c431ce43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49c3806f044cd" /><Relationship Type="http://schemas.openxmlformats.org/officeDocument/2006/relationships/image" Target="/ppt/media/image.png" Id="R74a33f5384754afd" /><Relationship Type="http://schemas.openxmlformats.org/officeDocument/2006/relationships/notesSlide" Target="/ppt/notesSlides/notesSlide4.xml" Id="R7f55c3c5bd2c43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a68c67b763488e" /><Relationship Type="http://schemas.openxmlformats.org/officeDocument/2006/relationships/notesSlide" Target="/ppt/notesSlides/notesSlide5.xml" Id="R7f4a99a2178c40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b797060f1c418f" /><Relationship Type="http://schemas.openxmlformats.org/officeDocument/2006/relationships/notesSlide" Target="/ppt/notesSlides/notesSlide6.xml" Id="R447c4b1bc2d343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e16db97d0f411b" /><Relationship Type="http://schemas.openxmlformats.org/officeDocument/2006/relationships/image" Target="/ppt/media/image2.png" Id="R69a81b3af71e42e5" /><Relationship Type="http://schemas.openxmlformats.org/officeDocument/2006/relationships/notesSlide" Target="/ppt/notesSlides/notesSlide7.xml" Id="R93e5ac65942644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bbe8cf86bb4709" /><Relationship Type="http://schemas.openxmlformats.org/officeDocument/2006/relationships/notesSlide" Target="/ppt/notesSlides/notesSlide8.xml" Id="Rdbcb61a95c464b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f4014ea0540b3" /><Relationship Type="http://schemas.openxmlformats.org/officeDocument/2006/relationships/image" Target="/ppt/media/image3.png" Id="Rf2a029e7ff9643ed" /><Relationship Type="http://schemas.openxmlformats.org/officeDocument/2006/relationships/notesSlide" Target="/ppt/notesSlides/notesSlide9.xml" Id="Rb797d9c0758a470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907087b934534" /><Relationship Type="http://schemas.openxmlformats.org/officeDocument/2006/relationships/image" Target="/ppt/media/image4.png" Id="R52b61adafc3243cf" /><Relationship Type="http://schemas.openxmlformats.org/officeDocument/2006/relationships/notesSlide" Target="/ppt/notesSlides/notesSlide10.xml" Id="R43b813ccf6e843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788088c28f4b97" /><Relationship Type="http://schemas.openxmlformats.org/officeDocument/2006/relationships/notesSlide" Target="/ppt/notesSlides/notesSlide11.xml" Id="R66faa0c0509f485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48fcff377d44a0" /><Relationship Type="http://schemas.openxmlformats.org/officeDocument/2006/relationships/notesSlide" Target="/ppt/notesSlides/notesSlide12.xml" Id="R61e313a5a9de471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e9a812fab64caa" /><Relationship Type="http://schemas.openxmlformats.org/officeDocument/2006/relationships/notesSlide" Target="/ppt/notesSlides/notesSlide13.xml" Id="Rf4cf515c350543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86475E-B6A5-49D5-93CA-295239CC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3B53BE-84E6-4B8A-B881-5C546376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876300"/>
            <a:ext cx="0" cy="4953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3D8D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CCBBCD-A60A-4009-8160-0F67AF4B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8650"/>
            <a:ext cx="581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MASTER OF ARTIFICIAL INTELLIGENCE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B30E05-C1F6-47B8-B365-F94EDD2E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752475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38"/>
          </a:bodyPr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Nano-Mamba U-Net:</a:t>
            </a:r>
          </a:p>
          <a:p xmlns:a="http://schemas.openxmlformats.org/drawingml/2006/main">
            <a:pPr algn="l">
              <a:defRPr sz="5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Spatio-Temporal Framework</a:t>
            </a:r>
          </a:p>
          <a:p xmlns:a="http://schemas.openxmlformats.org/drawingml/2006/main">
            <a:pPr algn="l">
              <a:defRPr sz="5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Cardiac Motion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BFB670-3F7F-4A41-B92D-0D1BFFCC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434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75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7773D0-18B5-4E36-8BE2-58A697F1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53000"/>
            <a:ext cx="5334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Tong Siyuan</a:t>
            </a:r>
          </a:p>
          <a:p xmlns:a="http://schemas.openxmlformats.org/drawingml/2006/main">
            <a:pPr algn="l">
              <a:defRPr sz="172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Supervisor: Dr. Uzair Iqbal</a:t>
            </a:r>
          </a:p>
          <a:p xmlns:a="http://schemas.openxmlformats.org/drawingml/2006/main">
            <a:pPr algn="l">
              <a:defRPr sz="172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Universiti Malaya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2F44D-4A19-447B-A061-6D43C4DE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383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3D segmentation</a:t>
            </a:r>
          </a:p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Mamba-inspired gate</a:t>
            </a:r>
          </a:p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Compact trade-off</a:t>
            </a:r>
          </a:p>
        </p:txBody>
      </p:sp>
    </p:spTree>
    <p:extLst>
      <p:ext uri="{BB962C8B-B14F-4D97-AF65-F5344CB8AC3E}">
        <p14:creationId xmlns:p14="http://schemas.microsoft.com/office/powerpoint/2010/main" val="3052180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F120D1-027B-4E4A-8777-F6CC8691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4B87FD-90FE-4C89-B14F-2CCC82D5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task is segmentation—not motion tracking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D69DB8-1943-4D3F-B07A-3C728860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DA075C-0EB7-48C1-AD82-01690362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AD9A90-0866-4FFC-95F8-79B16F76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4095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4-class</a:t>
            </a:r>
          </a:p>
          <a:p xmlns:a="http://schemas.openxmlformats.org/drawingml/2006/main">
            <a:pPr algn="l">
              <a:defRPr sz="46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3D CMR</a:t>
            </a:r>
          </a:p>
          <a:p xmlns:a="http://schemas.openxmlformats.org/drawingml/2006/main">
            <a:pPr algn="l">
              <a:defRPr sz="46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segmentation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F39AA0-70B7-49C3-B339-D3A8CB27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657350"/>
            <a:ext cx="0" cy="3638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6202C-9991-46AB-AEB5-095A5499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526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7917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572D8C-0F37-4ACC-A37E-30045B0A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95500"/>
            <a:ext cx="533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38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Labelled ED and ES volumes, processed independently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4885D8-A787-48EF-963A-8F8ECDE6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05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7917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DED511-C6B5-411C-8B34-2E235160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48050"/>
            <a:ext cx="533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Background · RV · MYO · LV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698AEF-B175-4F1A-9DF4-6379E57D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00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7917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BOUNDARY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3D0FA9-D841-464E-BE37-AD581405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743450"/>
            <a:ext cx="533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395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Depth = anatomical slices, never cardiac time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CF7822-7E79-4BF3-B3E7-D56F6937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10439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DB7230-630B-49E6-99DA-231164E0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5785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temporal tracking, registration, displacement, optical flow, EF, or true 4D modelling was evaluated.</a:t>
            </a:r>
          </a:p>
        </p:txBody>
      </p:sp>
    </p:spTree>
    <p:extLst>
      <p:ext uri="{BB962C8B-B14F-4D97-AF65-F5344CB8AC3E}">
        <p14:creationId xmlns:p14="http://schemas.microsoft.com/office/powerpoint/2010/main" val="14504426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FB7871-7D12-4A5E-8895-84F189FD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57EC6-72AA-4873-95F6-9BB9FE29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patient-level split protects the 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F9F916-A0C3-44F2-B671-1C309436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1AC05B-99A2-4803-9290-C210ACF7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ED491-610A-48EC-AD90-0BF3C030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D907DF-F19A-44E7-BB4B-EEF60721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4F4590-B4B4-4FD2-A966-0ED69AB8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66B81E-F3FF-4314-B8FB-554AC199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93060-B197-43E0-888B-34C78644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58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DISCOVER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E8FA3B-CF6A-4CB5-A42E-0545C8E1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patients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D8B13-CEA4-4F57-A934-3BE97F4A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200 labelled ED/ES cases found; no invalid containers reported.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07187-D4EE-4ABF-A0F8-58E26EC0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86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58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SPLIT · SEED 42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14A19-67C3-4B28-981E-E85EAE25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814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80 / 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AD9847-1C0E-4A0E-9792-EFA9D0BD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719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Patients are disjoint and cover patient001–patient100 exactly once.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3C8601-CDB0-4E88-88A4-7897EF14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58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EVALUATE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E8745-AE3D-4411-A91E-1AA7A64F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814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160 / 40 cases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7DEE4D-48B3-4A37-8BB9-EF6CA96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719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One shared split for all models; best checkpoint selected by validation mean Dice.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BE5CAF-66C0-43DA-AABC-42FF468E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F2CBA9-759B-434E-ABEB-34B7EA78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81675"/>
            <a:ext cx="1043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Important: the same 20-patient validation set selects checkpoints and supplies the reported table—it is not an independent test set.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FE1EDD-06C4-4D5A-A541-B26D50CA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Source: audited split JSON and discovery report</a:t>
            </a:r>
          </a:p>
        </p:txBody>
      </p:sp>
    </p:spTree>
    <p:extLst>
      <p:ext uri="{BB962C8B-B14F-4D97-AF65-F5344CB8AC3E}">
        <p14:creationId xmlns:p14="http://schemas.microsoft.com/office/powerpoint/2010/main" val="11522316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BEEFA-E2F2-4FE8-899A-A93F6BD6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55464-7EB6-4E45-9576-A0CE2946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Nano-Mamba adds a compact spatial sequence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81EF51-D2D9-4120-8C87-DC5892DA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C6254-CA97-47CC-B346-F07A04FC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1B463-6B29-4CE7-8C1F-C3F831BE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00200"/>
            <a:ext cx="55245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a33f5384754afd"/>
          <a:stretch xmlns:a="http://schemas.openxmlformats.org/drawingml/2006/main"/>
        </p:blipFill>
        <p:spPr>
          <a:xfrm xmlns:a="http://schemas.openxmlformats.org/drawingml/2006/main">
            <a:off x="5817215" y="1600200"/>
            <a:ext cx="5510569" cy="41148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FAD5AF-3E9E-493C-8D66-25B7D8C1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75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the block does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0DB3CE-BD57-488C-AB59-50AB420B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381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Flattens the compressed 3D grid in a fixed spatial raster order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Uses a depthwise 1D convolution, scalar sigmoid gate, output projection, and residual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Reshapes the sequence back to a 3D feature grid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82D17E-08E4-4897-B6EA-623E03A3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438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57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Mamba-inspired ≠ full Mamba selective scan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E7773-3658-48EA-94D8-C29936BD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Source: implementation-faithful thesis Figure 5.3 and nano_mamba_core.py</a:t>
            </a:r>
          </a:p>
        </p:txBody>
      </p:sp>
    </p:spTree>
    <p:extLst>
      <p:ext uri="{BB962C8B-B14F-4D97-AF65-F5344CB8AC3E}">
        <p14:creationId xmlns:p14="http://schemas.microsoft.com/office/powerpoint/2010/main" val="13154756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AEF2D8-18C2-4C11-854B-3154BC50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C9DBD7-9F60-4976-BBAC-67F0EA7C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Six executed models test accuracy and compactness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AF9ED-57AA-4E30-B3AF-A7450066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814761-359C-47B7-991E-02A55717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5F50B-3D09-4167-A56F-EAAD520D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7917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REFERENCE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2D46A7-AD02-4EAC-A818-2C653EB4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286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3D U-Net</a:t>
            </a:r>
          </a:p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Attention U-Net</a:t>
            </a:r>
          </a:p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SegResNet16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16121E-8EF9-4F5E-A815-934562FC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504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7917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PROPOSED + ABLATIONS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429FF3-AB87-4762-8E2E-8AA508C5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14550"/>
            <a:ext cx="5048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Nano-Mamba U-Net</a:t>
            </a:r>
          </a:p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No-Mamba U-Net</a:t>
            </a:r>
          </a:p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Half-Mamba U-Net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E3DEDB-FB95-4E29-9453-3AD55085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619250"/>
            <a:ext cx="0" cy="2514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51B2B4-3136-477C-AFB9-CEBDF8E3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104394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6DD14E-5FDA-4D2E-B232-957369AB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Fairness boundary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6DBF82-4B03-4757-B09F-B160ECE6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988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Batch sizes differ (1 or 2), custom models use BatchNorm, and the No-Mamba ablation has more parameters. The comparison is informative, but it is not a matched-capacity causal test of gating.</a:t>
            </a:r>
          </a:p>
        </p:txBody>
      </p:sp>
    </p:spTree>
    <p:extLst>
      <p:ext uri="{BB962C8B-B14F-4D97-AF65-F5344CB8AC3E}">
        <p14:creationId xmlns:p14="http://schemas.microsoft.com/office/powerpoint/2010/main" val="14088782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DFB55E-E1D8-404F-B778-794E975B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B8D0C-8324-463A-93EB-EF45D89E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SegResNet16 leads Dice; Nano-Mamba is smallest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AD3DE-52CF-458C-8689-04E12B86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29E757-32C0-4186-B6AE-376900D8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514350" y="1619250"/>
          <a:ext xmlns:a="http://schemas.openxmlformats.org/drawingml/2006/main" cx="111633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1619250"/>
                <a:gridCol w="1619250"/>
                <a:gridCol w="1619250"/>
                <a:gridCol w="1619250"/>
                <a:gridCol w="1828800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RV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MYO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LV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Params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UNet3D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80.83%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78.35%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74.57%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89.59%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4.809M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Nano-Mamba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84.78%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82.11%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80.35%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91.88%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1.456M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No-Mamba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85.64%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83.26%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81.30%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92.37%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2.288M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Half-Mamba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84.95%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82.41%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80.46%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91.99%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1.638M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Attention U-Net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74.78%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69.43%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72.38%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82.53%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5.909M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SegResNet16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86.70%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84.30%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82.76%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93.03%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4.701M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DAE79-A310-463A-A9D4-683E5893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78167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Highest Dice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5FEDB2-EA74-4D04-8C3F-C4376EFA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781675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Smallest reported size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4AD900-1CB4-4E84-BE76-5CEE3748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Source: audited summary_metrics.csv; percentages rounded to two decimals for display</a:t>
            </a:r>
          </a:p>
        </p:txBody>
      </p:sp>
    </p:spTree>
    <p:extLst>
      <p:ext uri="{BB962C8B-B14F-4D97-AF65-F5344CB8AC3E}">
        <p14:creationId xmlns:p14="http://schemas.microsoft.com/office/powerpoint/2010/main" val="20022806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3780C-B9B3-4B3B-9C22-ACEEA894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52967-003E-4A79-AA8F-8C8B94CD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Nano-Mamba occupies a useful accuracy–parameter corner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5CFD6-379F-4DD9-83C9-497AE991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99F365-45FC-4134-AF49-2C450338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44098B-600B-4911-BC97-51BE936E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781050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a81b3af71e42e5"/>
          <a:stretch xmlns:a="http://schemas.openxmlformats.org/drawingml/2006/main"/>
        </p:blipFill>
        <p:spPr>
          <a:xfrm xmlns:a="http://schemas.openxmlformats.org/drawingml/2006/main">
            <a:off x="688537" y="1504950"/>
            <a:ext cx="7424027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42967C-3E1D-437F-89ED-1CF4A859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431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167"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+3.945 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5E7E21-ACA7-433E-A8FD-076F65C7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574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mean Dice vs UNet3D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C18D0-85E5-4631-99BE-3C48AD54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147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167"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−69.714%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891918-3728-427C-8F76-1EB03F13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2905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03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reported parameters vs UNet3D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510238-2093-4BA5-9FB6-CDBE5137B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196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518"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−1.918 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0B2075-2F40-4604-93DC-3B496781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3149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143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mean Dice vs SegResNet16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D81AE6-7B94-4151-BE7D-2694715C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Figure generated directly from the audited CSV; provenance manifest committed</a:t>
            </a:r>
          </a:p>
        </p:txBody>
      </p:sp>
    </p:spTree>
    <p:extLst>
      <p:ext uri="{BB962C8B-B14F-4D97-AF65-F5344CB8AC3E}">
        <p14:creationId xmlns:p14="http://schemas.microsoft.com/office/powerpoint/2010/main" val="15597119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AEAA3B-DCA7-4827-A584-3305FB9E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876834-57B7-4713-9835-6AB7B936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No-Mamba result prevents a causal accuracy claim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2B9A95-3012-4C0C-9AC8-6CF988E5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E273C9-4E9C-45F4-B393-0B26AC04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D98D45-5401-4BE0-A0AF-82011091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581"/>
          </a:bodyPr>
          <a:lstStyle xmlns:a="http://schemas.openxmlformats.org/drawingml/2006/main"/>
          <a:p xmlns:a="http://schemas.openxmlformats.org/drawingml/2006/main">
            <a:pPr algn="l">
              <a:defRPr sz="58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8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85.64%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42B023-626B-4280-8A48-EDCE6EAF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No-Mamba mean Dice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39B67-732A-454B-A53E-F05B938D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9621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581"/>
          </a:bodyPr>
          <a:lstStyle xmlns:a="http://schemas.openxmlformats.org/drawingml/2006/main"/>
          <a:p xmlns:a="http://schemas.openxmlformats.org/drawingml/2006/main">
            <a:pPr algn="l">
              <a:defRPr sz="58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58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84.78%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65CF07-7FEF-4E0D-8975-22C9284C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718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Nano-Mamba mean Dice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44C72D-9FD3-4009-96B8-D8B203D3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828800"/>
            <a:ext cx="0" cy="1752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97F654-94DE-478D-A6B8-6517885C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28875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+0.862 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B4654A-331B-4809-A3CE-386265C5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9886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362408-322D-4F7E-B2A2-4D569642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05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42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C55DFF-BBC0-4911-8040-91C47EC1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62500"/>
            <a:ext cx="9391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157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gated bottleneck did not improve Dice over this stronger, larger convolutional alternative. Because No-Mamba uses 57.076% more parameters and a different bottleneck, the comparison is not causal.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BCA3AC-B557-4DF8-B8E0-8ADDA778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Source: audited summary_metrics.csv and executed model definitions</a:t>
            </a:r>
          </a:p>
        </p:txBody>
      </p:sp>
    </p:spTree>
    <p:extLst>
      <p:ext uri="{BB962C8B-B14F-4D97-AF65-F5344CB8AC3E}">
        <p14:creationId xmlns:p14="http://schemas.microsoft.com/office/powerpoint/2010/main" val="1374561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A49CE6-5452-4DAB-B22C-BBF55EB1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F9A43B-C707-47FE-9C4C-51AC9BCF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MYO remains the hardest structure across models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67D55D-F181-44AE-B47D-050B661E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582B5A-70E7-40A3-AB37-9F0EE790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62839-CDFB-4ECD-8811-3BF71B11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809625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a029e7ff9643ed"/>
          <a:stretch xmlns:a="http://schemas.openxmlformats.org/drawingml/2006/main"/>
        </p:blipFill>
        <p:spPr>
          <a:xfrm xmlns:a="http://schemas.openxmlformats.org/drawingml/2006/main">
            <a:off x="722259" y="1504950"/>
            <a:ext cx="7642331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2E0FAF-A548-4FE3-BDAD-C2CEDA54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Nano-Mamba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AA0B37-042E-4163-89C5-1512181D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57450"/>
            <a:ext cx="2095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RV 82.11%</a:t>
            </a:r>
          </a:p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MYO 80.35%</a:t>
            </a:r>
          </a:p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LV 91.88%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147804-03D1-4413-8E3F-A1C62976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43350"/>
            <a:ext cx="2076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063E4-FB68-4828-9D9E-E869D229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267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Clinical reading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C8F5C-3AB9-4D4C-86AC-68B8E941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05350"/>
            <a:ext cx="209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861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Thin myocardium and boundary ambiguity make MYO consistently more difficult than LV.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114C71-07B1-4BDC-BDDF-D8D7D311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Source: audited summary_metrics.csv</a:t>
            </a:r>
          </a:p>
        </p:txBody>
      </p:sp>
    </p:spTree>
    <p:extLst>
      <p:ext uri="{BB962C8B-B14F-4D97-AF65-F5344CB8AC3E}">
        <p14:creationId xmlns:p14="http://schemas.microsoft.com/office/powerpoint/2010/main" val="19650732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C882A9-B393-4F5A-83D8-7F85ED00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C3EC3-282A-4CFC-ABF4-85D7346B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Parameter count does not predict measured speed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CF83E-C901-456E-8A4A-3C2A3350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34416B-CAED-460C-835E-B5EB500E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BD0928-4812-4501-BE81-B43AECA1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790575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b61adafc3243cf"/>
          <a:stretch xmlns:a="http://schemas.openxmlformats.org/drawingml/2006/main"/>
        </p:blipFill>
        <p:spPr>
          <a:xfrm xmlns:a="http://schemas.openxmlformats.org/drawingml/2006/main">
            <a:off x="706241" y="1504950"/>
            <a:ext cx="7483868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59827D-8D93-4A6B-A94F-C09EAAC2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859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2051"/>
          </a:bodyPr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88.17 FPS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7B28BE-583F-4498-A614-D616FFE5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19350"/>
            <a:ext cx="247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UNet3D—the fastest measured configuration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6B7AB7-A29B-48C0-A1BB-3E4D2D47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480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2051"/>
          </a:bodyPr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29.09 FPS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CCC389-559D-4FE4-9476-C5E06074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54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Nano-Mamba under the recorded benchmark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71F196-5D1E-4076-9A48-9B87AC7D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53000"/>
            <a:ext cx="2667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BB9756-0D15-45D8-AF47-1B76C8AF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4350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212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Batch 1 · random 256×256×16 input</a:t>
            </a:r>
          </a:p>
          <a:p xmlns:a="http://schemas.openxmlformats.org/drawingml/2006/main">
            <a:pPr algn="l">
              <a:defRPr sz="1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 warm-ups · 30 timed runs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63BB61-3D8C-48D1-A350-A87DA10D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Original runtime environment was not included in the supplied evidence bundle</a:t>
            </a:r>
          </a:p>
        </p:txBody>
      </p:sp>
    </p:spTree>
    <p:extLst>
      <p:ext uri="{BB962C8B-B14F-4D97-AF65-F5344CB8AC3E}">
        <p14:creationId xmlns:p14="http://schemas.microsoft.com/office/powerpoint/2010/main" val="8423494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AC5368-0219-4767-9304-4C74E1CC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4FFF9C-3C75-49B9-8371-88A135C0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comparison is auditable—but uncertainty remains open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BA4526-2D38-4425-9135-05AB64B64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B7713B-6652-4555-8DC2-AD48C6E2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969F74-612F-4B20-94B1-644A233B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42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CLOSED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4FE614-8ED2-4A4B-B1BC-718EA2A5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476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Main CSV and JSON agree arithmetically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Seed-42 split is disjoint and complete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All quantitative figures read the audited CSV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Unsupported curve and qualitative claims removed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46E39-184B-4E6B-B9D6-0FC12A7F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619250"/>
            <a:ext cx="0" cy="384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CF1DC-49CD-4CF9-8D0F-6A665B19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954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42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ON ORIGINAL MACHINE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652978-8AB1-4827-AAC1-C30D6F76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09800"/>
            <a:ext cx="4857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Per-case rows for confidence intervals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Epoch logs for learning-curve verification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Checkpoint hashes and confirmed environment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Independent test, multi-seed, and external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83E721-7399-4D0F-9F36-A3E94032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F056E1-0D29-4410-8B3E-D00DFCB4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054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evidence audit: PASS · Strict closure: INCOMPLETE (truthfully blocked on missing original artefacts)</a:t>
            </a:r>
          </a:p>
        </p:txBody>
      </p:sp>
    </p:spTree>
    <p:extLst>
      <p:ext uri="{BB962C8B-B14F-4D97-AF65-F5344CB8AC3E}">
        <p14:creationId xmlns:p14="http://schemas.microsoft.com/office/powerpoint/2010/main" val="16893514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95D73E-4660-4CC0-8D52-37F65B3AB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55503B-7EEA-45E2-90CD-D9718A30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Contribution now; true temporal modelling later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2EDD27-44FD-4598-8C81-62851F15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4384EC-7C06-49C2-A361-315BBDBE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AB84F-5AAF-442C-B40B-82785382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6E1D8-EA99-4922-A6B4-965D15BD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747D8C-1AAC-413F-8280-C446C2CA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497050-BA3F-4E47-9FCF-B78711FA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F2E0B0-5FAA-4BB8-828F-78F2FEF2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58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DELIVERED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49811-26AC-4E80-91D4-10AC2401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923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Compact 3D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FE5CE7-5110-40A0-84D2-1F8CD0E1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A U-Net with an implementation-faithful Mamba-inspired spatial sequence gate.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21C11B-BFD8-4BAF-8CC5-11123758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86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58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CF486D-276D-4819-A54A-383AEDD8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814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Close uncertainty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4A9A30-A1C2-4C33-9308-E0D38180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719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Recover per-case rows, add paired CIs, matched ablations, multiple seeds, and external validation.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83C346-5693-44A1-A2D6-38CCDD7F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58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FUTURE SCOPE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345CA3-3E48-44FF-AFDE-ED6ACC45F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814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True 4D motion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9AD8F1-5ADD-4E0A-8906-F3EED65B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719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Process full cine sequences with temporal modelling and evaluate motion/functional outputs.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60106E-8734-429E-A220-48B08DE4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B814DF-0D9D-452C-9F6D-26A6080A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043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registered title is retained; temporal motion analysis is the research trajectory, not a completed experimental claim.</a:t>
            </a:r>
          </a:p>
        </p:txBody>
      </p:sp>
    </p:spTree>
    <p:extLst>
      <p:ext uri="{BB962C8B-B14F-4D97-AF65-F5344CB8AC3E}">
        <p14:creationId xmlns:p14="http://schemas.microsoft.com/office/powerpoint/2010/main" val="1661772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9F3445-92B9-4007-955B-911BA476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43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DEFENSIBLE 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A62FE5-31DB-4C99-95F6-240E480C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43000"/>
            <a:ext cx="7524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86"/>
          </a:bodyPr>
          <a:lstStyle xmlns:a="http://schemas.openxmlformats.org/drawingml/2006/main"/>
          <a:p xmlns:a="http://schemas.openxmlformats.org/drawingml/2006/main">
            <a:pPr algn="l">
              <a:defRPr sz="49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9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Competitive Dice at the</a:t>
            </a:r>
          </a:p>
          <a:p xmlns:a="http://schemas.openxmlformats.org/drawingml/2006/main">
            <a:pPr algn="l">
              <a:defRPr sz="49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9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smallest reported model size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57971-946C-4CA7-9DF6-BACC41D8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0990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5754D9-0A5B-4229-AD48-3510C64E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861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655"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84.78%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19075-BCFA-4A8A-88FB-110F9548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481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validation mean Dice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7E1C92-3D0F-4EE4-BCC7-1917A865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4861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655"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1.456M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45ABD7-CD44-4405-BC0E-572ECE2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2481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reported parameters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419123-78CE-4452-902E-A0472A12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861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655"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69.7%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81D579-84E4-4ADF-83C3-5771BF1F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481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fewer parameters vs UNet3D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FBA280-9438-4E1C-9588-7F676766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24450"/>
            <a:ext cx="10668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DC822A-B87E-4B21-9E33-A3BE15B4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14950"/>
            <a:ext cx="1021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5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SegResNet16 is most accurate. No-Mamba is higher by Dice. Nano-Mamba's contribution is the compact trade-off—not a universal accuracy win.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72B4F5-C681-4860-BE6C-9B1BD89E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/>
          <a:p xmlns:a="http://schemas.openxmlformats.org/drawingml/2006/main">
            <a:pPr algn="r">
              <a:defRPr sz="19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5855394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2026-08-19T21:06:45.4910000Z</dcterms:created>
  <dcterms:modified xsi:type="dcterms:W3CDTF">2026-08-19T21:06:45.4910000Z</dcterms:modified>
</coreProperties>
</file>