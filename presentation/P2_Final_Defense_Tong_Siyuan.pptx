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20e52fd58b248ff" /><Relationship Type="http://schemas.openxmlformats.org/officeDocument/2006/relationships/extended-properties" Target="/docProps/app.xml" Id="R0ce4b476b8964b41" /><Relationship Type="http://schemas.openxmlformats.org/officeDocument/2006/relationships/officeDocument" Target="/ppt/presentation.xml" Id="R6c6f522789bf4bd9" /></Relationships>
</file>

<file path=ppt/presentation.xml><?xml version="1.0" encoding="utf-8"?>
<p:presentation xmlns:p="http://schemas.openxmlformats.org/presentationml/2006/main">
  <p:sldMasterIdLst>
    <p:sldMasterId xmlns:r="http://schemas.openxmlformats.org/officeDocument/2006/relationships" id="2147483648" r:id="Rb2527270788a46b4"/>
  </p:sldMasterIdLst>
  <p:notesMasterIdLst>
    <p:notesMasterId xmlns:r="http://schemas.openxmlformats.org/officeDocument/2006/relationships" r:id="Raae51987226b43d5"/>
  </p:notesMasterIdLst>
  <p:sldIdLst>
    <p:sldId xmlns:r="http://schemas.openxmlformats.org/officeDocument/2006/relationships" id="256" r:id="R654852bfbf7449c2"/>
    <p:sldId xmlns:r="http://schemas.openxmlformats.org/officeDocument/2006/relationships" id="257" r:id="R5b18ad981e5846af"/>
    <p:sldId xmlns:r="http://schemas.openxmlformats.org/officeDocument/2006/relationships" id="258" r:id="R792887100af04354"/>
    <p:sldId xmlns:r="http://schemas.openxmlformats.org/officeDocument/2006/relationships" id="259" r:id="Rb4606738d1504cf6"/>
    <p:sldId xmlns:r="http://schemas.openxmlformats.org/officeDocument/2006/relationships" id="260" r:id="R829142a99c0f4547"/>
    <p:sldId xmlns:r="http://schemas.openxmlformats.org/officeDocument/2006/relationships" id="261" r:id="Ra30744796d9d4f86"/>
    <p:sldId xmlns:r="http://schemas.openxmlformats.org/officeDocument/2006/relationships" id="262" r:id="R9df967ad83fe4c31"/>
    <p:sldId xmlns:r="http://schemas.openxmlformats.org/officeDocument/2006/relationships" id="263" r:id="Rc63b9c068c05489c"/>
    <p:sldId xmlns:r="http://schemas.openxmlformats.org/officeDocument/2006/relationships" id="264" r:id="R7f9236d9a95940ef"/>
    <p:sldId xmlns:r="http://schemas.openxmlformats.org/officeDocument/2006/relationships" id="265" r:id="Rd0d96fee6e6c452b"/>
    <p:sldId xmlns:r="http://schemas.openxmlformats.org/officeDocument/2006/relationships" id="266" r:id="Rce708fc7f3444d5c"/>
    <p:sldId xmlns:r="http://schemas.openxmlformats.org/officeDocument/2006/relationships" id="267" r:id="R35420dffaa054fbe"/>
    <p:sldId xmlns:r="http://schemas.openxmlformats.org/officeDocument/2006/relationships" id="268" r:id="Rcf6a749bc6e74189"/>
    <p:sldId xmlns:r="http://schemas.openxmlformats.org/officeDocument/2006/relationships" id="269" r:id="R7726ac07020943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9e005ce565a4520" /><Relationship Type="http://schemas.openxmlformats.org/officeDocument/2006/relationships/slideMaster" Target="/ppt/slideMasters/slideMaster1.xml" Id="Rb2527270788a46b4" /><Relationship Type="http://schemas.openxmlformats.org/officeDocument/2006/relationships/notesMaster" Target="/ppt/notesMasters/notesMaster1.xml" Id="Raae51987226b43d5" /><Relationship Type="http://schemas.openxmlformats.org/officeDocument/2006/relationships/presProps" Target="/ppt/presProps.xml" Id="R95b6eb4596b74192" /><Relationship Type="http://schemas.openxmlformats.org/officeDocument/2006/relationships/tableStyles" Target="/ppt/tableStyles.xml" Id="R634deceb7f16493c" /><Relationship Type="http://schemas.openxmlformats.org/officeDocument/2006/relationships/slide" Target="/ppt/slides/slide1.xml" Id="R654852bfbf7449c2" /><Relationship Type="http://schemas.openxmlformats.org/officeDocument/2006/relationships/slide" Target="/ppt/slides/slide2.xml" Id="R5b18ad981e5846af" /><Relationship Type="http://schemas.openxmlformats.org/officeDocument/2006/relationships/slide" Target="/ppt/slides/slide3.xml" Id="R792887100af04354" /><Relationship Type="http://schemas.openxmlformats.org/officeDocument/2006/relationships/slide" Target="/ppt/slides/slide4.xml" Id="Rb4606738d1504cf6" /><Relationship Type="http://schemas.openxmlformats.org/officeDocument/2006/relationships/slide" Target="/ppt/slides/slide5.xml" Id="R829142a99c0f4547" /><Relationship Type="http://schemas.openxmlformats.org/officeDocument/2006/relationships/slide" Target="/ppt/slides/slide6.xml" Id="Ra30744796d9d4f86" /><Relationship Type="http://schemas.openxmlformats.org/officeDocument/2006/relationships/slide" Target="/ppt/slides/slide7.xml" Id="R9df967ad83fe4c31" /><Relationship Type="http://schemas.openxmlformats.org/officeDocument/2006/relationships/slide" Target="/ppt/slides/slide8.xml" Id="Rc63b9c068c05489c" /><Relationship Type="http://schemas.openxmlformats.org/officeDocument/2006/relationships/slide" Target="/ppt/slides/slide9.xml" Id="R7f9236d9a95940ef" /><Relationship Type="http://schemas.openxmlformats.org/officeDocument/2006/relationships/slide" Target="/ppt/slides/slide10.xml" Id="Rd0d96fee6e6c452b" /><Relationship Type="http://schemas.openxmlformats.org/officeDocument/2006/relationships/slide" Target="/ppt/slides/slide11.xml" Id="Rce708fc7f3444d5c" /><Relationship Type="http://schemas.openxmlformats.org/officeDocument/2006/relationships/slide" Target="/ppt/slides/slide12.xml" Id="R35420dffaa054fbe" /><Relationship Type="http://schemas.openxmlformats.org/officeDocument/2006/relationships/slide" Target="/ppt/slides/slide13.xml" Id="Rcf6a749bc6e74189" /><Relationship Type="http://schemas.openxmlformats.org/officeDocument/2006/relationships/slide" Target="/ppt/slides/slide14.xml" Id="R7726ac07020943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afb701bcc5949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c419c9e17445cf" /><Relationship Type="http://schemas.openxmlformats.org/officeDocument/2006/relationships/notesMaster" Target="/ppt/notesMasters/notesMaster1.xml" Id="Rcc50255e320e4c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c60a569b1459427e" /><Relationship Type="http://schemas.openxmlformats.org/officeDocument/2006/relationships/notesMaster" Target="/ppt/notesMasters/notesMaster1.xml" Id="R5c1fc52ee1784c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90b5b5a46040bd" /><Relationship Type="http://schemas.openxmlformats.org/officeDocument/2006/relationships/notesMaster" Target="/ppt/notesMasters/notesMaster1.xml" Id="R79948fe7216043a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cedcc9daf3441e" /><Relationship Type="http://schemas.openxmlformats.org/officeDocument/2006/relationships/notesMaster" Target="/ppt/notesMasters/notesMaster1.xml" Id="Rb341b0f7ceee475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8bb612ab0e4a80" /><Relationship Type="http://schemas.openxmlformats.org/officeDocument/2006/relationships/notesMaster" Target="/ppt/notesMasters/notesMaster1.xml" Id="R13b05a7aea6942b0"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4b2857987f47a4" /><Relationship Type="http://schemas.openxmlformats.org/officeDocument/2006/relationships/notesMaster" Target="/ppt/notesMasters/notesMaster1.xml" Id="R87a7827bc05240b0" /></Relationships>
</file>

<file path=ppt/notesSlides/_rels/notesSlide7.xml.rels>&#65279;<?xml version="1.0" encoding="utf-8"?><Relationships xmlns="http://schemas.openxmlformats.org/package/2006/relationships"><Relationship Type="http://schemas.openxmlformats.org/officeDocument/2006/relationships/slide" Target="/ppt/slides/slide7.xml" Id="Re509fd23eff14dbf" /><Relationship Type="http://schemas.openxmlformats.org/officeDocument/2006/relationships/notesMaster" Target="/ppt/notesMasters/notesMaster1.xml" Id="Ra8fe93e25f7648ef" /></Relationships>
</file>

<file path=ppt/notesSlides/_rels/notesSlide8.xml.rels>&#65279;<?xml version="1.0" encoding="utf-8"?><Relationships xmlns="http://schemas.openxmlformats.org/package/2006/relationships"><Relationship Type="http://schemas.openxmlformats.org/officeDocument/2006/relationships/slide" Target="/ppt/slides/slide8.xml" Id="R733c4f96c374416c" /><Relationship Type="http://schemas.openxmlformats.org/officeDocument/2006/relationships/notesMaster" Target="/ppt/notesMasters/notesMaster1.xml" Id="R9990fb503b6b4b44" /></Relationships>
</file>

<file path=ppt/notesSlides/_rels/notesSlide9.xml.rels>&#65279;<?xml version="1.0" encoding="utf-8"?><Relationships xmlns="http://schemas.openxmlformats.org/package/2006/relationships"><Relationship Type="http://schemas.openxmlformats.org/officeDocument/2006/relationships/slide" Target="/ppt/slides/slide9.xml" Id="Rdfbc7ade60664844" /><Relationship Type="http://schemas.openxmlformats.org/officeDocument/2006/relationships/notesMaster" Target="/ppt/notesMasters/notesMaster1.xml" Id="R32fea263b98a4af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b473d033b1b4c93" /><Relationship Type="http://schemas.openxmlformats.org/officeDocument/2006/relationships/notesMaster" Target="/ppt/notesMasters/notesMaster1.xml" Id="Rfa7d3b6202e44df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c8fbd256ac74125" /><Relationship Type="http://schemas.openxmlformats.org/officeDocument/2006/relationships/notesMaster" Target="/ppt/notesMasters/notesMaster1.xml" Id="Re0b19b5c8ff84fe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188399812364dac" /><Relationship Type="http://schemas.openxmlformats.org/officeDocument/2006/relationships/notesMaster" Target="/ppt/notesMasters/notesMaster1.xml" Id="R528400db602a4fd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d491e3eb0dc4546" /><Relationship Type="http://schemas.openxmlformats.org/officeDocument/2006/relationships/notesMaster" Target="/ppt/notesMasters/notesMaster1.xml" Id="Rf328fc483e734d8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4bbed6945984748" /><Relationship Type="http://schemas.openxmlformats.org/officeDocument/2006/relationships/notesMaster" Target="/ppt/notesMasters/notesMaster1.xml" Id="R11b288759cfb4fe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0:30</a:t>
            </a:r>
          </a:p>
          <a:p xmlns:a="http://schemas.openxmlformats.org/drawingml/2006/main">
            <a:r>
              <a:t/>
            </a:r>
          </a:p>
          <a:p xmlns:a="http://schemas.openxmlformats.org/drawingml/2006/main">
            <a:r>
              <a:t>My project has two connected but distinct parts. First, Nano-Mamba U-Net performs compact spatial 3D cardiac segmentation. Second, the completed full-cine analysis applies that frozen spatial checkpoint to every cardiac phase and derives global functional and motion trajectories. I will keep those stages separate throughout the defense so I do not imply that the network learned temporal dynamics.</a:t>
            </a:r>
          </a:p>
          <a:p xmlns:a="http://schemas.openxmlformats.org/drawingml/2006/main">
            <a:r>
              <a:t/>
            </a:r>
          </a:p>
          <a:p xmlns:a="http://schemas.openxmlformats.org/drawingml/2006/main">
            <a:r>
              <a:t>[Sources]</a:t>
            </a:r>
          </a:p>
          <a:p xmlns:a="http://schemas.openxmlformats.org/drawingml/2006/main">
            <a:r>
              <a:t>- paper_write/Universiti_Malaya_Thesis_Template/sample-abstract.tex</a:t>
            </a:r>
          </a:p>
          <a:p xmlns:a="http://schemas.openxmlformats.org/drawingml/2006/main">
            <a:r>
              <a:t>- SPATIOTEMPORAL_ANALYSIS.md</a:t>
            </a:r>
          </a:p>
          <a:p xmlns:a="http://schemas.openxmlformats.org/drawingml/2006/main">
            <a:r>
              <a:t>- evidence/spatiotemporal_cine/INDEPENDENT_AUDIT.json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a:t>
            </a:r>
          </a:p>
          <a:p xmlns:a="http://schemas.openxmlformats.org/drawingml/2006/main">
            <a:r>
              <a:t/>
            </a:r>
          </a:p>
          <a:p xmlns:a="http://schemas.openxmlformats.org/drawingml/2006/main">
            <a:r>
              <a:t>The trained task uses labelled end-diastolic and end-systolic 3D volumes. In these tensors, D means anatomical slice depth, not time. The full-cine stage is a post-hoc analysis: each 3D phase is segmented independently, then adjacent softmax probability maps are combined with fixed weights. From the native-grid masks I calculate chamber volumes, phase timing, ejection fraction and two global geometric motion surrogates. This is a genuine full-cycle analysis, but it is not a learned temporal Mamba model, optical flow, registration, dense deformation or strain estimation.</a:t>
            </a:r>
          </a:p>
          <a:p xmlns:a="http://schemas.openxmlformats.org/drawingml/2006/main">
            <a:r>
              <a:t/>
            </a:r>
          </a:p>
          <a:p xmlns:a="http://schemas.openxmlformats.org/drawingml/2006/main">
            <a:r>
              <a:t>If asked whether the title is supported: yes, by the completed segmentation-derived full-cine function and global motion analysis. I explicitly bound the claim to avoid equating global geometric trajectories with tissue tracking.</a:t>
            </a:r>
          </a:p>
          <a:p xmlns:a="http://schemas.openxmlformats.org/drawingml/2006/main">
            <a:r>
              <a:t/>
            </a:r>
          </a:p>
          <a:p xmlns:a="http://schemas.openxmlformats.org/drawingml/2006/main">
            <a:r>
              <a:t>[Sources]</a:t>
            </a:r>
          </a:p>
          <a:p xmlns:a="http://schemas.openxmlformats.org/drawingml/2006/main">
            <a:r>
              <a:t>- paper_write/Universiti_Malaya_Thesis_Template/sample-chap-methodology.tex</a:t>
            </a:r>
          </a:p>
          <a:p xmlns:a="http://schemas.openxmlformats.org/drawingml/2006/main">
            <a:r>
              <a:t>- SPATIOTEMPORAL_ANALYSIS.md</a:t>
            </a:r>
          </a:p>
          <a:p xmlns:a="http://schemas.openxmlformats.org/drawingml/2006/main">
            <a:r>
              <a:t>- SCIENTIFIC_BOUNDARIES.md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0:55</a:t>
            </a:r>
          </a:p>
          <a:p xmlns:a="http://schemas.openxmlformats.org/drawingml/2006/main">
            <a:r>
              <a:t/>
            </a:r>
          </a:p>
          <a:p xmlns:a="http://schemas.openxmlformats.org/drawingml/2006/main">
            <a:r>
              <a:t>The ACDC training cohort contains 100 patients. A fixed patient-level split with seed 42 assigns 80 patients to training and 20 to validation. Both ED and ES volumes from a patient remain in the same partition, so there is no patient leakage. The full-cine analysis uses those same 20 validation patients, 550 phases in total. Therefore it validates the completed pipeline on the held-out validation cohort, but it is not an independent test set and the same cohort was used for checkpoint selection.</a:t>
            </a:r>
          </a:p>
          <a:p xmlns:a="http://schemas.openxmlformats.org/drawingml/2006/main">
            <a:r>
              <a:t/>
            </a:r>
          </a:p>
          <a:p xmlns:a="http://schemas.openxmlformats.org/drawingml/2006/main">
            <a:r>
              <a:t>[Sources]</a:t>
            </a:r>
          </a:p>
          <a:p xmlns:a="http://schemas.openxmlformats.org/drawingml/2006/main">
            <a:r>
              <a:t>- evidence/rigorous_patient_split/patient_split_seed42.json</a:t>
            </a:r>
          </a:p>
          <a:p xmlns:a="http://schemas.openxmlformats.org/drawingml/2006/main">
            <a:r>
              <a:t>- evidence/spatiotemporal_cine/raw/run_metadata.json</a:t>
            </a:r>
          </a:p>
          <a:p xmlns:a="http://schemas.openxmlformats.org/drawingml/2006/main">
            <a:r>
              <a:t>- evidence/spatiotemporal_cine/INDEPENDENT_AUDIT.json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1:05</a:t>
            </a:r>
          </a:p>
          <a:p xmlns:a="http://schemas.openxmlformats.org/drawingml/2006/main">
            <a:r>
              <a:t/>
            </a:r>
          </a:p>
          <a:p xmlns:a="http://schemas.openxmlformats.org/drawingml/2006/main">
            <a:r>
              <a:t>The architecture is a compact 3D encoder-decoder. The bottleneck uses a Mamba-inspired selective state-space gate across flattened spatial tokens, but it is not the reference Mamba implementation and it does not scan cine time. The longitudinal full-cine behavior comes from repeated spatial inference plus the fixed post-hoc temporal probability fusion, not from learned recurrent state across phases.</a:t>
            </a:r>
          </a:p>
          <a:p xmlns:a="http://schemas.openxmlformats.org/drawingml/2006/main">
            <a:r>
              <a:t/>
            </a:r>
          </a:p>
          <a:p xmlns:a="http://schemas.openxmlformats.org/drawingml/2006/main">
            <a:r>
              <a:t>The reported parameter count is 1.456 million. The main limitation of the architecture comparison is that No-Mamba is not parameter matched and uses a different batch size, so its higher Dice cannot isolate the causal effect of the gate.</a:t>
            </a:r>
          </a:p>
          <a:p xmlns:a="http://schemas.openxmlformats.org/drawingml/2006/main">
            <a:r>
              <a:t/>
            </a:r>
          </a:p>
          <a:p xmlns:a="http://schemas.openxmlformats.org/drawingml/2006/main">
            <a:r>
              <a:t>[Sources]</a:t>
            </a:r>
          </a:p>
          <a:p xmlns:a="http://schemas.openxmlformats.org/drawingml/2006/main">
            <a:r>
              <a:t>- src/nano_mamba_core.py</a:t>
            </a:r>
          </a:p>
          <a:p xmlns:a="http://schemas.openxmlformats.org/drawingml/2006/main">
            <a:r>
              <a:t>- paper_write/Universiti_Malaya_Thesis_Template/sample-chap-methodology.tex</a:t>
            </a:r>
          </a:p>
          <a:p xmlns:a="http://schemas.openxmlformats.org/drawingml/2006/main">
            <a:r>
              <a:t>- evidence/rigorous_patient_split/summary_metrics.csv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r>
              <a:t/>
            </a:r>
          </a:p>
          <a:p xmlns:a="http://schemas.openxmlformats.org/drawingml/2006/main">
            <a:r>
              <a:t>This is the exact image-processing pipeline. I load a NIfTI volume; for a full 4D cine I extract one phase at a time. I add the channel axis and resize each phase to 256 by 256 by 16. MRI intensities use trilinear interpolation and are independently normalized to zero-to-one using that phase's finite minimum and maximum. The network produces four-class softmax probabilities. Framewise inference uses those probabilities directly; temporal inference combines probability maps before argmax. The predicted labels are restored to the original array shape using nearest-neighbor interpolation, so class indices are not blended.</a:t>
            </a:r>
          </a:p>
          <a:p xmlns:a="http://schemas.openxmlformats.org/drawingml/2006/main">
            <a:r>
              <a:t/>
            </a:r>
          </a:p>
          <a:p xmlns:a="http://schemas.openxmlformats.org/drawingml/2006/main">
            <a:r>
              <a:t>Historical endpoint Dice in the original experiment is measured on the resized grid. For the cine analysis, physical volumes use the native-grid mask and voxel volume from the NIfTI header spacings. There is no crop, connected-component filtering, registration, optical flow, dense deformation or hidden morphological cleanup. This distinction is why resized-grid and native-grid Dice are both reported.</a:t>
            </a:r>
          </a:p>
          <a:p xmlns:a="http://schemas.openxmlformats.org/drawingml/2006/main">
            <a:r>
              <a:t/>
            </a:r>
          </a:p>
          <a:p xmlns:a="http://schemas.openxmlformats.org/drawingml/2006/main">
            <a:r>
              <a:t>[Sources]</a:t>
            </a:r>
          </a:p>
          <a:p xmlns:a="http://schemas.openxmlformats.org/drawingml/2006/main">
            <a:r>
              <a:t>- src/21_rigorous_experiment_pipeline.py</a:t>
            </a:r>
          </a:p>
          <a:p xmlns:a="http://schemas.openxmlformats.org/drawingml/2006/main">
            <a:r>
              <a:t>- src/23_spatiotemporal_cine_analysis.py</a:t>
            </a:r>
          </a:p>
          <a:p xmlns:a="http://schemas.openxmlformats.org/drawingml/2006/main">
            <a:r>
              <a:t>- paper_write/Universiti_Malaya_Thesis_Template/sample-chap-methodology.tex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a:t>
            </a:r>
          </a:p>
          <a:p xmlns:a="http://schemas.openxmlformats.org/drawingml/2006/main">
            <a:r>
              <a:t/>
            </a:r>
          </a:p>
          <a:p xmlns:a="http://schemas.openxmlformats.org/drawingml/2006/main">
            <a:r>
              <a:t>This table is the primary six-model comparison on the same 20-patient validation split. SegResNet16 has the highest mean Dice. No-Mamba also exceeds Nano-Mamba, so I do not claim that the Mamba-inspired gate improves accuracy. Nano-Mamba's defensible contribution is the compact accuracy-efficiency operating point: 84.779 percent mean Dice with 1.456 million reported parameters. FPS is hardware-specific and is secondary evidence.</a:t>
            </a:r>
          </a:p>
          <a:p xmlns:a="http://schemas.openxmlformats.org/drawingml/2006/main">
            <a:r>
              <a:t/>
            </a:r>
          </a:p>
          <a:p xmlns:a="http://schemas.openxmlformats.org/drawingml/2006/main">
            <a:r>
              <a:t>[Sources]</a:t>
            </a:r>
          </a:p>
          <a:p xmlns:a="http://schemas.openxmlformats.org/drawingml/2006/main">
            <a:r>
              <a:t>- evidence/rigorous_patient_split/summary_metrics.csv</a:t>
            </a:r>
          </a:p>
          <a:p xmlns:a="http://schemas.openxmlformats.org/drawingml/2006/main">
            <a:r>
              <a:t>- evidence/rigorous_patient_split/evidence_audit_report.json</a:t>
            </a:r>
          </a:p>
          <a:p xmlns:a="http://schemas.openxmlformats.org/drawingml/2006/main">
            <a:r>
              <a:t>- paper_write/Universiti_Malaya_Thesis_Template/sample-chap-results-p2.tex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r>
              <a:t>Use the graph to articulate the actual contribution: Nano-Mamba sits left because of compactness while retaining competitive validation Dice.</a:t>
            </a:r>
          </a:p>
          <a:p xmlns:a="http://schemas.openxmlformats.org/drawingml/2006/main">
            <a:r>
              <a:t>The recovered paired patient interval is +2.83 to +5.01 percentage points versus UNet3D and −3.01 to −0.88 versus SegResNet16.</a:t>
            </a:r>
          </a:p>
          <a:p xmlns:a="http://schemas.openxmlformats.org/drawingml/2006/main">
            <a:r>
              <a:t>These are post-hoc intervals on the validation patients used for checkpoint selection, not an independent test.</a:t>
            </a:r>
          </a:p>
          <a:p xmlns:a="http://schemas.openxmlformats.org/drawingml/2006/main">
            <a:r>
              <a:t/>
            </a:r>
          </a:p>
          <a:p xmlns:a="http://schemas.openxmlformats.org/drawingml/2006/main">
            <a:r>
              <a:t>[Sources]</a:t>
            </a:r>
          </a:p>
          <a:p xmlns:a="http://schemas.openxmlformats.org/drawingml/2006/main">
            <a:r>
              <a:t>- Repository asset: figures/accuracy_parameter_tradeoff.png</a:t>
            </a:r>
          </a:p>
          <a:p xmlns:a="http://schemas.openxmlformats.org/drawingml/2006/main">
            <a:r>
              <a:t>- Repository: figures/quantitative_figure_provenance.json</a:t>
            </a:r>
          </a:p>
          <a:p xmlns:a="http://schemas.openxmlformats.org/drawingml/2006/main">
            <a:r>
              <a:t>- Repository: evidence/rigorous_patient_split/summary_metrics.csv</a:t>
            </a:r>
          </a:p>
          <a:p xmlns:a="http://schemas.openxmlformats.org/drawingml/2006/main">
            <a:r>
              <a:t>- Repository: evidence/rigorous_patient_split/evidence_audit_report.json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r>
              <a:t>Treat this as an important negative result. The paired Nano-minus-No-Mamba interval is −1.48 to −0.23 percentage points on these validation patients.</a:t>
            </a:r>
          </a:p>
          <a:p xmlns:a="http://schemas.openxmlformats.org/drawingml/2006/main">
            <a:r>
              <a:t>No-Mamba is larger and structurally different, so the observed ordering does not isolate a causal effect of the gate. Matched capacity and multiple seeds remain necessary.</a:t>
            </a:r>
          </a:p>
          <a:p xmlns:a="http://schemas.openxmlformats.org/drawingml/2006/main">
            <a:r>
              <a:t/>
            </a:r>
          </a:p>
          <a:p xmlns:a="http://schemas.openxmlformats.org/drawingml/2006/main">
            <a:r>
              <a:t>[Sources]</a:t>
            </a:r>
          </a:p>
          <a:p xmlns:a="http://schemas.openxmlformats.org/drawingml/2006/main">
            <a:r>
              <a:t>- Repository: evidence/rigorous_patient_split/summary_metrics.csv</a:t>
            </a:r>
          </a:p>
          <a:p xmlns:a="http://schemas.openxmlformats.org/drawingml/2006/main">
            <a:r>
              <a:t>- Repository: evidence/rigorous_patient_split/per_case_NanoMambaUNet.csv</a:t>
            </a:r>
          </a:p>
          <a:p xmlns:a="http://schemas.openxmlformats.org/drawingml/2006/main">
            <a:r>
              <a:t>- Repository: evidence/rigorous_patient_split/per_case_Ablation_NoMamba_UNet.csv</a:t>
            </a:r>
          </a:p>
          <a:p xmlns:a="http://schemas.openxmlformats.org/drawingml/2006/main">
            <a:r>
              <a:t>- Repository: src/21_rigorous_experiment_pipeline.py</a:t>
            </a:r>
          </a:p>
          <a:p xmlns:a="http://schemas.openxmlformats.org/drawingml/2006/main">
            <a:r>
              <a:t>- Repository: SCIENTIFIC_BOUNDARIES.md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1:30</a:t>
            </a:r>
          </a:p>
          <a:p xmlns:a="http://schemas.openxmlformats.org/drawingml/2006/main">
            <a:r>
              <a:t/>
            </a:r>
          </a:p>
          <a:p xmlns:a="http://schemas.openxmlformats.org/drawingml/2006/main">
            <a:r>
              <a:t>All 20 validation cines were processed, giving 550 three-dimensional phases. For each phase the frozen Nano-Mamba checkpoint outputs four-class softmax probabilities. The framewise path takes argmax directly. The temporal path applies a fixed circular three-phase filter: 0.25 times the previous probability map, 0.50 times the current map and 0.25 times the next map, then argmax. Circular boundaries connect the final phase to the first because the cardiac cycle is periodic.</a:t>
            </a:r>
          </a:p>
          <a:p xmlns:a="http://schemas.openxmlformats.org/drawingml/2006/main">
            <a:r>
              <a:t/>
            </a:r>
          </a:p>
          <a:p xmlns:a="http://schemas.openxmlformats.org/drawingml/2006/main">
            <a:r>
              <a:t>After nearest-neighbor restoration to native array shape, class voxel counts are multiplied by dx times dy times dz from the NIfTI header to obtain millilitres. A circular three-point filter is used on the scalar LV-volume curve for stable phase detection. ED is the global maximum of the filtered LV curve and ES is its global minimum. Stroke volume is EDV minus ESV, and EF is 100 times stroke volume divided by EDV.</a:t>
            </a:r>
          </a:p>
          <a:p xmlns:a="http://schemas.openxmlformats.org/drawingml/2006/main">
            <a:r>
              <a:t/>
            </a:r>
          </a:p>
          <a:p xmlns:a="http://schemas.openxmlformats.org/drawingml/2006/main">
            <a:r>
              <a:t>Global motion is summarized by the three-dimensional displacement of the LV centroid from ED and by the change in mean myocardial radius around that centroid. These are interpretable global geometric surrogates; they are not dense tissue correspondence or strain.</a:t>
            </a:r>
          </a:p>
          <a:p xmlns:a="http://schemas.openxmlformats.org/drawingml/2006/main">
            <a:r>
              <a:t/>
            </a:r>
          </a:p>
          <a:p xmlns:a="http://schemas.openxmlformats.org/drawingml/2006/main">
            <a:r>
              <a:t>[Sources]</a:t>
            </a:r>
          </a:p>
          <a:p xmlns:a="http://schemas.openxmlformats.org/drawingml/2006/main">
            <a:r>
              <a:t>- src/23_spatiotemporal_cine_analysis.py</a:t>
            </a:r>
          </a:p>
          <a:p xmlns:a="http://schemas.openxmlformats.org/drawingml/2006/main">
            <a:r>
              <a:t>- src/cardiac_motion_metrics.py</a:t>
            </a:r>
          </a:p>
          <a:p xmlns:a="http://schemas.openxmlformats.org/drawingml/2006/main">
            <a:r>
              <a:t>- SPATIOTEMPORAL_ANALYSIS.md</a:t>
            </a:r>
          </a:p>
          <a:p xmlns:a="http://schemas.openxmlformats.org/drawingml/2006/main">
            <a:r>
              <a:t>- paper_write/Universiti_Malaya_Thesis_Template/sample-chap-methodology.tex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r>
              <a:t/>
            </a:r>
          </a:p>
          <a:p xmlns:a="http://schemas.openxmlformats.org/drawingml/2006/main">
            <a:r>
              <a:t>The supported temporal finding is smoother global LV-volume trajectories. The lower-is-smoother metric improved by 0.001129, and its paired 95 percent bootstrap interval is entirely below zero. Nineteen of twenty patients improved. By contrast, endpoint Dice changed by only plus 0.0144 percentage points and its interval crosses zero. Therefore I do not claim an accuracy gain from the fixed fusion.</a:t>
            </a:r>
          </a:p>
          <a:p xmlns:a="http://schemas.openxmlformats.org/drawingml/2006/main">
            <a:r>
              <a:t/>
            </a:r>
          </a:p>
          <a:p xmlns:a="http://schemas.openxmlformats.org/drawingml/2006/main">
            <a:r>
              <a:t>The chart aligns every patient's predicted ED to normalized phase zero and divides volume by that patient's predicted EDV before averaging. The shaded band is the patient-level standard deviation, not a confidence interval. All patient metrics and the bootstrap were independently recomputed from the supplied frame table.</a:t>
            </a:r>
          </a:p>
          <a:p xmlns:a="http://schemas.openxmlformats.org/drawingml/2006/main">
            <a:r>
              <a:t/>
            </a:r>
          </a:p>
          <a:p xmlns:a="http://schemas.openxmlformats.org/drawingml/2006/main">
            <a:r>
              <a:t>[Sources]</a:t>
            </a:r>
          </a:p>
          <a:p xmlns:a="http://schemas.openxmlformats.org/drawingml/2006/main">
            <a:r>
              <a:t>- evidence/spatiotemporal_cine/raw/paired_method_comparison.csv</a:t>
            </a:r>
          </a:p>
          <a:p xmlns:a="http://schemas.openxmlformats.org/drawingml/2006/main">
            <a:r>
              <a:t>- evidence/spatiotemporal_cine/raw/paired_bootstrap_ci.csv</a:t>
            </a:r>
          </a:p>
          <a:p xmlns:a="http://schemas.openxmlformats.org/drawingml/2006/main">
            <a:r>
              <a:t>- evidence/spatiotemporal_cine/raw/population_lv_motion_curve.csv</a:t>
            </a:r>
          </a:p>
          <a:p xmlns:a="http://schemas.openxmlformats.org/drawingml/2006/main">
            <a:r>
              <a:t>- evidence/spatiotemporal_cine/INDEPENDENT_AUDIT.json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a:t>
            </a:r>
          </a:p>
          <a:p xmlns:a="http://schemas.openxmlformats.org/drawingml/2006/main">
            <a:r>
              <a:t/>
            </a:r>
          </a:p>
          <a:p xmlns:a="http://schemas.openxmlformats.org/drawingml/2006/main">
            <a:r>
              <a:t>Manual masks are available only at ED and ES, so those endpoints provide the anatomical validation. For the fused method, EF mean absolute error is 3.329 percentage points and Pearson r is 0.9803. Predicted ED is exact for 55 percent and within one phase for 80 percent; predicted ES is exact for 55 percent and within one phase for 85 percent.</a:t>
            </a:r>
          </a:p>
          <a:p xmlns:a="http://schemas.openxmlformats.org/drawingml/2006/main">
            <a:r>
              <a:t/>
            </a:r>
          </a:p>
          <a:p xmlns:a="http://schemas.openxmlformats.org/drawingml/2006/main">
            <a:r>
              <a:t>The median maximum LV-centroid displacement from ED is 6.252 millimetres, and the mean change in myocardial radius from ED to ES is 4.153 millimetres. I call these global surrogates because without intermediate manual labels or registration I cannot verify local tissue trajectories. Patient 016 is the largest phase-timing outlier; patient 057 has the largest fused EF error, about 8.12 percentage points.</a:t>
            </a:r>
          </a:p>
          <a:p xmlns:a="http://schemas.openxmlformats.org/drawingml/2006/main">
            <a:r>
              <a:t/>
            </a:r>
          </a:p>
          <a:p xmlns:a="http://schemas.openxmlformats.org/drawingml/2006/main">
            <a:r>
              <a:t>The recovered official cine files contain an affine-metadata inconsistency relative to endpoint files for six patients. Shape, voxel spacing and endpoint pixel identity were checked; physical scalar metrics use header spacings. I do not use those affines to assert world-coordinate tissue correspondence.</a:t>
            </a:r>
          </a:p>
          <a:p xmlns:a="http://schemas.openxmlformats.org/drawingml/2006/main">
            <a:r>
              <a:t/>
            </a:r>
          </a:p>
          <a:p xmlns:a="http://schemas.openxmlformats.org/drawingml/2006/main">
            <a:r>
              <a:t>[Sources]</a:t>
            </a:r>
          </a:p>
          <a:p xmlns:a="http://schemas.openxmlformats.org/drawingml/2006/main">
            <a:r>
              <a:t>- evidence/spatiotemporal_cine/raw/patient_metrics.csv</a:t>
            </a:r>
          </a:p>
          <a:p xmlns:a="http://schemas.openxmlformats.org/drawingml/2006/main">
            <a:r>
              <a:t>- evidence/spatiotemporal_cine/raw/ejection_fraction_validation.csv</a:t>
            </a:r>
          </a:p>
          <a:p xmlns:a="http://schemas.openxmlformats.org/drawingml/2006/main">
            <a:r>
              <a:t>- evidence/spatiotemporal_cine/raw/phase_detection_validation.csv</a:t>
            </a:r>
          </a:p>
          <a:p xmlns:a="http://schemas.openxmlformats.org/drawingml/2006/main">
            <a:r>
              <a:t>- evidence/spatiotemporal_cine/INDEPENDENT_AUDIT.json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1:10</a:t>
            </a:r>
          </a:p>
          <a:p xmlns:a="http://schemas.openxmlformats.org/drawingml/2006/main">
            <a:r>
              <a:t/>
            </a:r>
          </a:p>
          <a:p xmlns:a="http://schemas.openxmlformats.org/drawingml/2006/main">
            <a:r>
              <a:t>The completeness claim is operational: every expected validation patient and every expected cine phase was processed, endpoint identities and metrics reproduce, and the result package passes an independent audit. The central limits remain important. The validation cohort selected the checkpoint, intermediate phases have no manual masks, and a smoother volume curve cannot prove every intermediate contour is anatomically correct. There is one split and seed and no external cohort.</a:t>
            </a:r>
          </a:p>
          <a:p xmlns:a="http://schemas.openxmlformats.org/drawingml/2006/main">
            <a:r>
              <a:t/>
            </a:r>
          </a:p>
          <a:p xmlns:a="http://schemas.openxmlformats.org/drawingml/2006/main">
            <a:r>
              <a:t>If asked why the analysis is still useful, it tests whether a compact spatial segmentation model can generate coherent whole-cycle global function and motion summaries. It does not replace a future learned temporal or registration-based study.</a:t>
            </a:r>
          </a:p>
          <a:p xmlns:a="http://schemas.openxmlformats.org/drawingml/2006/main">
            <a:r>
              <a:t/>
            </a:r>
          </a:p>
          <a:p xmlns:a="http://schemas.openxmlformats.org/drawingml/2006/main">
            <a:r>
              <a:t>[Sources]</a:t>
            </a:r>
          </a:p>
          <a:p xmlns:a="http://schemas.openxmlformats.org/drawingml/2006/main">
            <a:r>
              <a:t>- evidence/spatiotemporal_cine/INDEPENDENT_AUDIT.json</a:t>
            </a:r>
          </a:p>
          <a:p xmlns:a="http://schemas.openxmlformats.org/drawingml/2006/main">
            <a:r>
              <a:t>- SCIENTIFIC_BOUNDARIES.md</a:t>
            </a:r>
          </a:p>
          <a:p xmlns:a="http://schemas.openxmlformats.org/drawingml/2006/main">
            <a:r>
              <a:t>- paper_write/Universiti_Malaya_Thesis_Template/sample-chap-results-p2.tex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0:55</a:t>
            </a:r>
          </a:p>
          <a:p xmlns:a="http://schemas.openxmlformats.org/drawingml/2006/main">
            <a:r>
              <a:t/>
            </a:r>
          </a:p>
          <a:p xmlns:a="http://schemas.openxmlformats.org/drawingml/2006/main">
            <a:r>
              <a:t>The completed contribution is a compact spatial segmentation backbone plus an audited full-cycle analysis that turns all 550 cine phases into native-grid masks, functional indices, phase timing and bounded global motion trajectories. The fixed fusion is a transparent baseline and improves curve smoothness, not endpoint accuracy. The next scientific step is an independent test cohort and a learned temporal model; dense motion would additionally require registration or correspondence and dedicated strain validation.</a:t>
            </a:r>
          </a:p>
          <a:p xmlns:a="http://schemas.openxmlformats.org/drawingml/2006/main">
            <a:r>
              <a:t/>
            </a:r>
          </a:p>
          <a:p xmlns:a="http://schemas.openxmlformats.org/drawingml/2006/main">
            <a:r>
              <a:t>[Sources]</a:t>
            </a:r>
          </a:p>
          <a:p xmlns:a="http://schemas.openxmlformats.org/drawingml/2006/main">
            <a:r>
              <a:t>- paper_write/Universiti_Malaya_Thesis_Template/sample-chap-conclusion.tex</a:t>
            </a:r>
          </a:p>
          <a:p xmlns:a="http://schemas.openxmlformats.org/drawingml/2006/main">
            <a:r>
              <a:t>- SPATIOTEMPORAL_ANALYSIS.md</a:t>
            </a:r>
          </a:p>
          <a:p xmlns:a="http://schemas.openxmlformats.org/drawingml/2006/main">
            <a:r>
              <a:t>- evidence/spatiotemporal_cine/INDEPENDENT_AUDIT.json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0:30</a:t>
            </a:r>
          </a:p>
          <a:p xmlns:a="http://schemas.openxmlformats.org/drawingml/2006/main">
            <a:r>
              <a:t/>
            </a:r>
          </a:p>
          <a:p xmlns:a="http://schemas.openxmlformats.org/drawingml/2006/main">
            <a:r>
              <a:t>In conclusion, Nano-Mamba is not the most accurate model and the fixed temporal fusion does not establish a Dice or EF gain. The defensible contribution is a compact 1.456-million-parameter spatial model at 84.78 percent validation Dice, together with a complete and independently audited 20-patient full-cine analysis whose strongest temporal result is smoother LV-volume curves in 19 of 20 patients.</a:t>
            </a:r>
          </a:p>
          <a:p xmlns:a="http://schemas.openxmlformats.org/drawingml/2006/main">
            <a:r>
              <a:t/>
            </a:r>
          </a:p>
          <a:p xmlns:a="http://schemas.openxmlformats.org/drawingml/2006/main">
            <a:r>
              <a:t>[Sources]</a:t>
            </a:r>
          </a:p>
          <a:p xmlns:a="http://schemas.openxmlformats.org/drawingml/2006/main">
            <a:r>
              <a:t>- evidence/rigorous_patient_split/summary_metrics.csv</a:t>
            </a:r>
          </a:p>
          <a:p xmlns:a="http://schemas.openxmlformats.org/drawingml/2006/main">
            <a:r>
              <a:t>- evidence/spatiotemporal_cine/raw/paired_method_comparison.csv</a:t>
            </a:r>
          </a:p>
          <a:p xmlns:a="http://schemas.openxmlformats.org/drawingml/2006/main">
            <a:r>
              <a:t>- evidence/spatiotemporal_cine/raw/paired_bootstrap_ci.csv</a:t>
            </a:r>
          </a:p>
          <a:p xmlns:a="http://schemas.openxmlformats.org/drawingml/2006/main">
            <a:r>
              <a:t>- evidence/spatiotemporal_cine/INDEPENDENT_AUDIT.json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f630462d3d458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ad0e63f37a4764" /><Relationship Type="http://schemas.openxmlformats.org/officeDocument/2006/relationships/slideLayout" Target="/ppt/slideLayouts/slideLayout1.xml" Id="R756830230bab44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6830230bab44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3769911ae9f4e45" /><Relationship Type="http://schemas.openxmlformats.org/officeDocument/2006/relationships/notesSlide" Target="/ppt/notesSlides/notesSlide1.xml" Id="R5baad3a7910142a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8f43d5825834a20" /><Relationship Type="http://schemas.openxmlformats.org/officeDocument/2006/relationships/notesSlide" Target="/ppt/notesSlides/notesSlide2.xml" Id="Ra3db1413821b46c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49c35720db54cf8" /><Relationship Type="http://schemas.openxmlformats.org/officeDocument/2006/relationships/notesSlide" Target="/ppt/notesSlides/notesSlide3.xml" Id="Rc44046b78f3b490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c761b81e44a4d0a" /><Relationship Type="http://schemas.openxmlformats.org/officeDocument/2006/relationships/image" Target="/ppt/media/image.png" Id="Rb46ddc65938b4514" /><Relationship Type="http://schemas.openxmlformats.org/officeDocument/2006/relationships/notesSlide" Target="/ppt/notesSlides/notesSlide4.xml" Id="Rf509f119a36d4a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fed716fc0d340dd" /><Relationship Type="http://schemas.openxmlformats.org/officeDocument/2006/relationships/notesSlide" Target="/ppt/notesSlides/notesSlide5.xml" Id="R397a92a2a98c4eb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c0f999428fb4520" /><Relationship Type="http://schemas.openxmlformats.org/officeDocument/2006/relationships/notesSlide" Target="/ppt/notesSlides/notesSlide6.xml" Id="Rce00a10279f94f5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0d36a98cec241df" /><Relationship Type="http://schemas.openxmlformats.org/officeDocument/2006/relationships/image" Target="/ppt/media/image2.png" Id="Rcb87a48cec8c4b0a" /><Relationship Type="http://schemas.openxmlformats.org/officeDocument/2006/relationships/notesSlide" Target="/ppt/notesSlides/notesSlide7.xml" Id="R6487aa8d3e124ea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51aed39f1aa418c" /><Relationship Type="http://schemas.openxmlformats.org/officeDocument/2006/relationships/notesSlide" Target="/ppt/notesSlides/notesSlide8.xml" Id="Rdfb87dbc08d941e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d00bd60fb3c4d6a" /><Relationship Type="http://schemas.openxmlformats.org/officeDocument/2006/relationships/notesSlide" Target="/ppt/notesSlides/notesSlide9.xml" Id="R24355238f97c48d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28ff81cface4bbb" /><Relationship Type="http://schemas.openxmlformats.org/officeDocument/2006/relationships/image" Target="/ppt/media/image3.png" Id="Rbc44b8b8f68c4402" /><Relationship Type="http://schemas.openxmlformats.org/officeDocument/2006/relationships/notesSlide" Target="/ppt/notesSlides/notesSlide10.xml" Id="R1d9b7536486540f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91eea69f0be48c8" /><Relationship Type="http://schemas.openxmlformats.org/officeDocument/2006/relationships/image" Target="/ppt/media/image4.png" Id="Rec32042c05224310" /><Relationship Type="http://schemas.openxmlformats.org/officeDocument/2006/relationships/notesSlide" Target="/ppt/notesSlides/notesSlide11.xml" Id="R5f325eb5c086433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b64ac171b944571" /><Relationship Type="http://schemas.openxmlformats.org/officeDocument/2006/relationships/notesSlide" Target="/ppt/notesSlides/notesSlide12.xml" Id="R31909ca612fb414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6cb316bc8ba4609" /><Relationship Type="http://schemas.openxmlformats.org/officeDocument/2006/relationships/notesSlide" Target="/ppt/notesSlides/notesSlide13.xml" Id="R29dfd01c145f411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8d62d95886a4fa0" /><Relationship Type="http://schemas.openxmlformats.org/officeDocument/2006/relationships/notesSlide" Target="/ppt/notesSlides/notesSlide14.xml" Id="R2a3760427421455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86475E-B6A5-49D5-93CA-295239CC7C67}"/>
              </a:ext>
            </a:extLst>
          </p:cNvPr>
          <p:cNvSpPr>
            <a:spLocks xmlns:a="http://schemas.openxmlformats.org/drawingml/2006/main" noGrp="1"/>
          </p:cNvSpPr>
          <p:nvPr/>
        </p:nvSpPr>
        <p:spPr>
          <a:xfrm xmlns:a="http://schemas.openxmlformats.org/drawingml/2006/main">
            <a:off x="8572500" y="0"/>
            <a:ext cx="3619500" cy="685800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33B53BE-84E6-4B8A-B881-5C546376BCEA}"/>
              </a:ext>
            </a:extLst>
          </p:cNvPr>
          <p:cNvSpPr>
            <a:spLocks xmlns:a="http://schemas.openxmlformats.org/drawingml/2006/main" noGrp="1"/>
          </p:cNvSpPr>
          <p:nvPr/>
        </p:nvSpPr>
        <p:spPr>
          <a:xfrm xmlns:a="http://schemas.openxmlformats.org/drawingml/2006/main">
            <a:off x="8763000" y="876300"/>
            <a:ext cx="0" cy="4953000"/>
          </a:xfrm>
          <a:prstGeom xmlns:a="http://schemas.openxmlformats.org/drawingml/2006/main" prst="line">
            <a:avLst/>
          </a:prstGeom>
          <a:noFill xmlns:a="http://schemas.openxmlformats.org/drawingml/2006/main"/>
          <a:ln xmlns:a="http://schemas.openxmlformats.org/drawingml/2006/main" w="76200">
            <a:solidFill>
              <a:srgbClr val="3D8DFF"/>
            </a:solidFill>
            <a:prstDash val="solid"/>
          </a:ln>
        </p:spPr>
      </p:sp>
      <p:sp>
        <p:nvSpPr>
          <p:cNvPr id="3" name="">
            <a:extLst xmlns:a="http://schemas.openxmlformats.org/drawingml/2006/main">
              <a:ext uri="{FF2B5EF4-FFF2-40B4-BE49-F238E27FC236}">
                <a16:creationId xmlns:a16="http://schemas.microsoft.com/office/drawing/2014/main" id="{71CCBBCD-A60A-4009-8160-0F67AF4B8010}"/>
              </a:ext>
            </a:extLst>
          </p:cNvPr>
          <p:cNvSpPr>
            <a:spLocks xmlns:a="http://schemas.openxmlformats.org/drawingml/2006/main" noGrp="1"/>
          </p:cNvSpPr>
          <p:nvPr/>
        </p:nvSpPr>
        <p:spPr>
          <a:xfrm xmlns:a="http://schemas.openxmlformats.org/drawingml/2006/main">
            <a:off x="590550" y="628650"/>
            <a:ext cx="581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i="0">
                <a:solidFill>
                  <a:srgbClr val="5F6670"/>
                </a:solidFill>
                <a:latin typeface="Arial"/>
                <a:ea typeface="Arial"/>
                <a:cs typeface="Arial"/>
              </a:defRPr>
            </a:pPr>
            <a:r>
              <a:rPr sz="1275" b="1" i="0">
                <a:solidFill>
                  <a:srgbClr val="5F6670"/>
                </a:solidFill>
                <a:latin typeface="Arial"/>
                <a:ea typeface="Arial"/>
                <a:cs typeface="Arial"/>
              </a:rPr>
              <a:t>MASTER OF ARTIFICIAL INTELLIGENCE</a:t>
            </a:r>
          </a:p>
        </p:txBody>
      </p:sp>
      <p:sp>
        <p:nvSpPr>
          <p:cNvPr id="4" name="">
            <a:extLst xmlns:a="http://schemas.openxmlformats.org/drawingml/2006/main">
              <a:ext uri="{FF2B5EF4-FFF2-40B4-BE49-F238E27FC236}">
                <a16:creationId xmlns:a16="http://schemas.microsoft.com/office/drawing/2014/main" id="{1BB30E05-C1F6-47B8-B365-F94EDD2EB781}"/>
              </a:ext>
            </a:extLst>
          </p:cNvPr>
          <p:cNvSpPr>
            <a:spLocks xmlns:a="http://schemas.openxmlformats.org/drawingml/2006/main" noGrp="1"/>
          </p:cNvSpPr>
          <p:nvPr/>
        </p:nvSpPr>
        <p:spPr>
          <a:xfrm xmlns:a="http://schemas.openxmlformats.org/drawingml/2006/main">
            <a:off x="590550" y="1466850"/>
            <a:ext cx="7524750" cy="2419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938"/>
          </a:bodyPr>
          <a:lstStyle xmlns:a="http://schemas.openxmlformats.org/drawingml/2006/main"/>
          <a:p xmlns:a="http://schemas.openxmlformats.org/drawingml/2006/main">
            <a:pPr algn="l">
              <a:buNone/>
              <a:defRPr sz="5250" b="1" i="0">
                <a:solidFill>
                  <a:srgbClr val="000000"/>
                </a:solidFill>
                <a:latin typeface="Arial"/>
                <a:ea typeface="Arial"/>
                <a:cs typeface="Arial"/>
              </a:defRPr>
            </a:pPr>
            <a:r>
              <a:rPr sz="5250" b="1" i="0">
                <a:solidFill>
                  <a:srgbClr val="000000"/>
                </a:solidFill>
                <a:latin typeface="Arial"/>
                <a:ea typeface="Arial"/>
                <a:cs typeface="Arial"/>
              </a:rPr>
              <a:t>Nano-Mamba U-Net:</a:t>
            </a:r>
          </a:p>
          <a:p xmlns:a="http://schemas.openxmlformats.org/drawingml/2006/main">
            <a:pPr algn="l">
              <a:buNone/>
              <a:defRPr sz="5250" b="1" i="0">
                <a:solidFill>
                  <a:srgbClr val="000000"/>
                </a:solidFill>
                <a:latin typeface="Arial"/>
                <a:ea typeface="Arial"/>
                <a:cs typeface="Arial"/>
              </a:defRPr>
            </a:pPr>
            <a:r>
              <a:rPr sz="5250" b="1" i="0">
                <a:solidFill>
                  <a:srgbClr val="000000"/>
                </a:solidFill>
                <a:latin typeface="Arial"/>
                <a:ea typeface="Arial"/>
                <a:cs typeface="Arial"/>
              </a:rPr>
              <a:t>A Spatio-Temporal Framework</a:t>
            </a:r>
          </a:p>
          <a:p xmlns:a="http://schemas.openxmlformats.org/drawingml/2006/main">
            <a:pPr algn="l">
              <a:buNone/>
              <a:defRPr sz="5250" b="1" i="0">
                <a:solidFill>
                  <a:srgbClr val="000000"/>
                </a:solidFill>
                <a:latin typeface="Arial"/>
                <a:ea typeface="Arial"/>
                <a:cs typeface="Arial"/>
              </a:defRPr>
            </a:pPr>
            <a:r>
              <a:rPr sz="5250" b="1" i="0">
                <a:solidFill>
                  <a:srgbClr val="000000"/>
                </a:solidFill>
                <a:latin typeface="Arial"/>
                <a:ea typeface="Arial"/>
                <a:cs typeface="Arial"/>
              </a:rPr>
              <a:t>for Cardiac Motion Analysis</a:t>
            </a:r>
          </a:p>
        </p:txBody>
      </p:sp>
      <p:sp>
        <p:nvSpPr>
          <p:cNvPr id="5" name="">
            <a:extLst xmlns:a="http://schemas.openxmlformats.org/drawingml/2006/main">
              <a:ext uri="{FF2B5EF4-FFF2-40B4-BE49-F238E27FC236}">
                <a16:creationId xmlns:a16="http://schemas.microsoft.com/office/drawing/2014/main" id="{26BFB670-3F7F-4A41-B92D-0D1BFFCCE010}"/>
              </a:ext>
            </a:extLst>
          </p:cNvPr>
          <p:cNvSpPr>
            <a:spLocks xmlns:a="http://schemas.openxmlformats.org/drawingml/2006/main" noGrp="1"/>
          </p:cNvSpPr>
          <p:nvPr/>
        </p:nvSpPr>
        <p:spPr>
          <a:xfrm xmlns:a="http://schemas.openxmlformats.org/drawingml/2006/main">
            <a:off x="590550" y="434340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P2 Final Defense</a:t>
            </a:r>
          </a:p>
        </p:txBody>
      </p:sp>
      <p:sp>
        <p:nvSpPr>
          <p:cNvPr id="6" name="">
            <a:extLst xmlns:a="http://schemas.openxmlformats.org/drawingml/2006/main">
              <a:ext uri="{FF2B5EF4-FFF2-40B4-BE49-F238E27FC236}">
                <a16:creationId xmlns:a16="http://schemas.microsoft.com/office/drawing/2014/main" id="{307773D0-18B5-4E36-8BE2-58A697F1447D}"/>
              </a:ext>
            </a:extLst>
          </p:cNvPr>
          <p:cNvSpPr>
            <a:spLocks xmlns:a="http://schemas.openxmlformats.org/drawingml/2006/main" noGrp="1"/>
          </p:cNvSpPr>
          <p:nvPr/>
        </p:nvSpPr>
        <p:spPr>
          <a:xfrm xmlns:a="http://schemas.openxmlformats.org/drawingml/2006/main">
            <a:off x="590550" y="4953000"/>
            <a:ext cx="5334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i="0">
                <a:solidFill>
                  <a:srgbClr val="5F6670"/>
                </a:solidFill>
                <a:latin typeface="Arial"/>
                <a:ea typeface="Arial"/>
                <a:cs typeface="Arial"/>
              </a:defRPr>
            </a:pPr>
            <a:r>
              <a:rPr sz="1725" b="0" i="0">
                <a:solidFill>
                  <a:srgbClr val="5F6670"/>
                </a:solidFill>
                <a:latin typeface="Arial"/>
                <a:ea typeface="Arial"/>
                <a:cs typeface="Arial"/>
              </a:rPr>
              <a:t>Tong Siyuan</a:t>
            </a:r>
          </a:p>
          <a:p xmlns:a="http://schemas.openxmlformats.org/drawingml/2006/main">
            <a:pPr algn="l">
              <a:buNone/>
              <a:defRPr sz="1725" b="0" i="0">
                <a:solidFill>
                  <a:srgbClr val="5F6670"/>
                </a:solidFill>
                <a:latin typeface="Arial"/>
                <a:ea typeface="Arial"/>
                <a:cs typeface="Arial"/>
              </a:defRPr>
            </a:pPr>
            <a:r>
              <a:rPr sz="1725" b="0" i="0">
                <a:solidFill>
                  <a:srgbClr val="5F6670"/>
                </a:solidFill>
                <a:latin typeface="Arial"/>
                <a:ea typeface="Arial"/>
                <a:cs typeface="Arial"/>
              </a:rPr>
              <a:t>Supervisor: Dr. Uzair Iqbal</a:t>
            </a:r>
          </a:p>
          <a:p xmlns:a="http://schemas.openxmlformats.org/drawingml/2006/main">
            <a:pPr algn="l">
              <a:buNone/>
              <a:defRPr sz="1725" b="0" i="0">
                <a:solidFill>
                  <a:srgbClr val="5F6670"/>
                </a:solidFill>
                <a:latin typeface="Arial"/>
                <a:ea typeface="Arial"/>
                <a:cs typeface="Arial"/>
              </a:defRPr>
            </a:pPr>
            <a:r>
              <a:rPr sz="1725" b="0" i="0">
                <a:solidFill>
                  <a:srgbClr val="5F6670"/>
                </a:solidFill>
                <a:latin typeface="Arial"/>
                <a:ea typeface="Arial"/>
                <a:cs typeface="Arial"/>
              </a:rPr>
              <a:t>Universiti Malaya · 2026</a:t>
            </a:r>
          </a:p>
        </p:txBody>
      </p:sp>
      <p:sp>
        <p:nvSpPr>
          <p:cNvPr id="7" name="">
            <a:extLst xmlns:a="http://schemas.openxmlformats.org/drawingml/2006/main">
              <a:ext uri="{FF2B5EF4-FFF2-40B4-BE49-F238E27FC236}">
                <a16:creationId xmlns:a16="http://schemas.microsoft.com/office/drawing/2014/main" id="{F962F44D-4A19-447B-A061-6D43C4DE2B6D}"/>
              </a:ext>
            </a:extLst>
          </p:cNvPr>
          <p:cNvSpPr>
            <a:spLocks xmlns:a="http://schemas.openxmlformats.org/drawingml/2006/main" noGrp="1"/>
          </p:cNvSpPr>
          <p:nvPr/>
        </p:nvSpPr>
        <p:spPr>
          <a:xfrm xmlns:a="http://schemas.openxmlformats.org/drawingml/2006/main">
            <a:off x="9048750" y="20383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3D segmentation</a:t>
            </a:r>
          </a:p>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Full-cine function</a:t>
            </a:r>
          </a:p>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Compact trade-off</a:t>
            </a:r>
          </a:p>
        </p:txBody>
      </p:sp>
    </p:spTree>
    <p:extLst>
      <p:ext uri="{BB962C8B-B14F-4D97-AF65-F5344CB8AC3E}">
        <p14:creationId xmlns:p14="http://schemas.microsoft.com/office/powerpoint/2010/main" val="3052180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CF120D1-027B-4E4A-8777-F6CC869143E7}"/>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E94B87FD-90FE-4C89-B14F-2CCC82D55C35}"/>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The framework has two distinct stages</a:t>
            </a:r>
          </a:p>
        </p:txBody>
      </p:sp>
      <p:sp>
        <p:nvSpPr>
          <p:cNvPr id="3" name="">
            <a:extLst xmlns:a="http://schemas.openxmlformats.org/drawingml/2006/main">
              <a:ext uri="{FF2B5EF4-FFF2-40B4-BE49-F238E27FC236}">
                <a16:creationId xmlns:a16="http://schemas.microsoft.com/office/drawing/2014/main" id="{13D69DB8-1943-4D3F-B07A-3C72886053F4}"/>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F3DA075C-0EB7-48C1-AD82-01690362E974}"/>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57AD9A90-0866-4FFC-95F8-79B16F76426B}"/>
              </a:ext>
            </a:extLst>
          </p:cNvPr>
          <p:cNvSpPr>
            <a:spLocks xmlns:a="http://schemas.openxmlformats.org/drawingml/2006/main" noGrp="1"/>
          </p:cNvSpPr>
          <p:nvPr/>
        </p:nvSpPr>
        <p:spPr>
          <a:xfrm xmlns:a="http://schemas.openxmlformats.org/drawingml/2006/main">
            <a:off x="685800" y="1790700"/>
            <a:ext cx="4095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650" b="1" i="0">
                <a:solidFill>
                  <a:srgbClr val="3D8DFF"/>
                </a:solidFill>
                <a:latin typeface="Arial"/>
                <a:ea typeface="Arial"/>
                <a:cs typeface="Arial"/>
              </a:defRPr>
            </a:pPr>
            <a:r>
              <a:rPr sz="4650" b="1" i="0">
                <a:solidFill>
                  <a:srgbClr val="3D8DFF"/>
                </a:solidFill>
                <a:latin typeface="Arial"/>
                <a:ea typeface="Arial"/>
                <a:cs typeface="Arial"/>
              </a:rPr>
              <a:t>Spatial 3D</a:t>
            </a:r>
          </a:p>
          <a:p xmlns:a="http://schemas.openxmlformats.org/drawingml/2006/main">
            <a:pPr algn="l">
              <a:buNone/>
              <a:defRPr sz="4650" b="1" i="0">
                <a:solidFill>
                  <a:srgbClr val="3D8DFF"/>
                </a:solidFill>
                <a:latin typeface="Arial"/>
                <a:ea typeface="Arial"/>
                <a:cs typeface="Arial"/>
              </a:defRPr>
            </a:pPr>
            <a:r>
              <a:rPr sz="4650" b="1" i="0">
                <a:solidFill>
                  <a:srgbClr val="3D8DFF"/>
                </a:solidFill>
                <a:latin typeface="Arial"/>
                <a:ea typeface="Arial"/>
                <a:cs typeface="Arial"/>
              </a:rPr>
              <a:t>segmentation</a:t>
            </a:r>
          </a:p>
          <a:p xmlns:a="http://schemas.openxmlformats.org/drawingml/2006/main">
            <a:pPr algn="l">
              <a:buNone/>
              <a:defRPr sz="4650" b="1" i="0">
                <a:solidFill>
                  <a:srgbClr val="3D8DFF"/>
                </a:solidFill>
                <a:latin typeface="Arial"/>
                <a:ea typeface="Arial"/>
                <a:cs typeface="Arial"/>
              </a:defRPr>
            </a:pPr>
            <a:r>
              <a:rPr sz="4650" b="1" i="0">
                <a:solidFill>
                  <a:srgbClr val="3D8DFF"/>
                </a:solidFill>
                <a:latin typeface="Arial"/>
                <a:ea typeface="Arial"/>
                <a:cs typeface="Arial"/>
              </a:rPr>
              <a:t>backbone</a:t>
            </a:r>
          </a:p>
        </p:txBody>
      </p:sp>
      <p:sp>
        <p:nvSpPr>
          <p:cNvPr id="6" name="">
            <a:extLst xmlns:a="http://schemas.openxmlformats.org/drawingml/2006/main">
              <a:ext uri="{FF2B5EF4-FFF2-40B4-BE49-F238E27FC236}">
                <a16:creationId xmlns:a16="http://schemas.microsoft.com/office/drawing/2014/main" id="{50F39AA0-70B7-49C3-B339-D3A8CB27AAEB}"/>
              </a:ext>
            </a:extLst>
          </p:cNvPr>
          <p:cNvSpPr>
            <a:spLocks xmlns:a="http://schemas.openxmlformats.org/drawingml/2006/main" noGrp="1"/>
          </p:cNvSpPr>
          <p:nvPr/>
        </p:nvSpPr>
        <p:spPr>
          <a:xfrm xmlns:a="http://schemas.openxmlformats.org/drawingml/2006/main">
            <a:off x="5219700" y="1657350"/>
            <a:ext cx="0" cy="363855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7" name="">
            <a:extLst xmlns:a="http://schemas.openxmlformats.org/drawingml/2006/main">
              <a:ext uri="{FF2B5EF4-FFF2-40B4-BE49-F238E27FC236}">
                <a16:creationId xmlns:a16="http://schemas.microsoft.com/office/drawing/2014/main" id="{59E6202C-9991-46AB-AEB5-095A5499B175}"/>
              </a:ext>
            </a:extLst>
          </p:cNvPr>
          <p:cNvSpPr>
            <a:spLocks xmlns:a="http://schemas.openxmlformats.org/drawingml/2006/main" noGrp="1"/>
          </p:cNvSpPr>
          <p:nvPr/>
        </p:nvSpPr>
        <p:spPr>
          <a:xfrm xmlns:a="http://schemas.openxmlformats.org/drawingml/2006/main">
            <a:off x="5810250" y="175260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917"/>
          </a:bodyPr>
          <a:lstStyle xmlns:a="http://schemas.openxmlformats.org/drawingml/2006/main"/>
          <a:p xmlns:a="http://schemas.openxmlformats.org/drawingml/2006/main">
            <a:pPr algn="l">
              <a:buNone/>
              <a:defRPr sz="2400" b="1" i="0">
                <a:solidFill>
                  <a:srgbClr val="5F6670"/>
                </a:solidFill>
                <a:latin typeface="Arial"/>
                <a:ea typeface="Arial"/>
                <a:cs typeface="Arial"/>
              </a:defRPr>
            </a:pPr>
            <a:r>
              <a:rPr sz="2400" b="1" i="0">
                <a:solidFill>
                  <a:srgbClr val="5F6670"/>
                </a:solidFill>
                <a:latin typeface="Arial"/>
                <a:ea typeface="Arial"/>
                <a:cs typeface="Arial"/>
              </a:rPr>
              <a:t>TRAINED STAGE</a:t>
            </a:r>
          </a:p>
        </p:txBody>
      </p:sp>
      <p:sp>
        <p:nvSpPr>
          <p:cNvPr id="8" name="">
            <a:extLst xmlns:a="http://schemas.openxmlformats.org/drawingml/2006/main">
              <a:ext uri="{FF2B5EF4-FFF2-40B4-BE49-F238E27FC236}">
                <a16:creationId xmlns:a16="http://schemas.microsoft.com/office/drawing/2014/main" id="{03572D8C-0F37-4ACC-A37E-30045B0A1C42}"/>
              </a:ext>
            </a:extLst>
          </p:cNvPr>
          <p:cNvSpPr>
            <a:spLocks xmlns:a="http://schemas.openxmlformats.org/drawingml/2006/main" noGrp="1"/>
          </p:cNvSpPr>
          <p:nvPr/>
        </p:nvSpPr>
        <p:spPr>
          <a:xfrm xmlns:a="http://schemas.openxmlformats.org/drawingml/2006/main">
            <a:off x="5810250" y="2095500"/>
            <a:ext cx="5334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441"/>
          </a:bodyPr>
          <a:lstStyle xmlns:a="http://schemas.openxmlformats.org/drawingml/2006/main"/>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Labelled ED/ES 3D volumes; depth = anatomical slices</a:t>
            </a:r>
          </a:p>
        </p:txBody>
      </p:sp>
      <p:sp>
        <p:nvSpPr>
          <p:cNvPr id="9" name="">
            <a:extLst xmlns:a="http://schemas.openxmlformats.org/drawingml/2006/main">
              <a:ext uri="{FF2B5EF4-FFF2-40B4-BE49-F238E27FC236}">
                <a16:creationId xmlns:a16="http://schemas.microsoft.com/office/drawing/2014/main" id="{F44885D8-A787-48EF-963A-8F8ECDE6F878}"/>
              </a:ext>
            </a:extLst>
          </p:cNvPr>
          <p:cNvSpPr>
            <a:spLocks xmlns:a="http://schemas.openxmlformats.org/drawingml/2006/main" noGrp="1"/>
          </p:cNvSpPr>
          <p:nvPr/>
        </p:nvSpPr>
        <p:spPr>
          <a:xfrm xmlns:a="http://schemas.openxmlformats.org/drawingml/2006/main">
            <a:off x="5810250" y="31051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917"/>
          </a:bodyPr>
          <a:lstStyle xmlns:a="http://schemas.openxmlformats.org/drawingml/2006/main"/>
          <a:p xmlns:a="http://schemas.openxmlformats.org/drawingml/2006/main">
            <a:pPr algn="l">
              <a:buNone/>
              <a:defRPr sz="2400" b="1" i="0">
                <a:solidFill>
                  <a:srgbClr val="5F6670"/>
                </a:solidFill>
                <a:latin typeface="Arial"/>
                <a:ea typeface="Arial"/>
                <a:cs typeface="Arial"/>
              </a:defRPr>
            </a:pPr>
            <a:r>
              <a:rPr sz="2400" b="1" i="0">
                <a:solidFill>
                  <a:srgbClr val="5F6670"/>
                </a:solidFill>
                <a:latin typeface="Arial"/>
                <a:ea typeface="Arial"/>
                <a:cs typeface="Arial"/>
              </a:rPr>
              <a:t>POST-HOC STAGE</a:t>
            </a:r>
          </a:p>
        </p:txBody>
      </p:sp>
      <p:sp>
        <p:nvSpPr>
          <p:cNvPr id="10" name="">
            <a:extLst xmlns:a="http://schemas.openxmlformats.org/drawingml/2006/main">
              <a:ext uri="{FF2B5EF4-FFF2-40B4-BE49-F238E27FC236}">
                <a16:creationId xmlns:a16="http://schemas.microsoft.com/office/drawing/2014/main" id="{28DED511-C6B5-411C-8B34-2E235160D2CB}"/>
              </a:ext>
            </a:extLst>
          </p:cNvPr>
          <p:cNvSpPr>
            <a:spLocks xmlns:a="http://schemas.openxmlformats.org/drawingml/2006/main" noGrp="1"/>
          </p:cNvSpPr>
          <p:nvPr/>
        </p:nvSpPr>
        <p:spPr>
          <a:xfrm xmlns:a="http://schemas.openxmlformats.org/drawingml/2006/main">
            <a:off x="5810250" y="3448050"/>
            <a:ext cx="533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1205"/>
          </a:bodyPr>
          <a:lstStyle xmlns:a="http://schemas.openxmlformats.org/drawingml/2006/main"/>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Every cine frame → probabilities → fixed temporal fusion</a:t>
            </a:r>
          </a:p>
        </p:txBody>
      </p:sp>
      <p:sp>
        <p:nvSpPr>
          <p:cNvPr id="11" name="">
            <a:extLst xmlns:a="http://schemas.openxmlformats.org/drawingml/2006/main">
              <a:ext uri="{FF2B5EF4-FFF2-40B4-BE49-F238E27FC236}">
                <a16:creationId xmlns:a16="http://schemas.microsoft.com/office/drawing/2014/main" id="{70698AEF-B175-4F1A-9DF4-6379E57D98E9}"/>
              </a:ext>
            </a:extLst>
          </p:cNvPr>
          <p:cNvSpPr>
            <a:spLocks xmlns:a="http://schemas.openxmlformats.org/drawingml/2006/main" noGrp="1"/>
          </p:cNvSpPr>
          <p:nvPr/>
        </p:nvSpPr>
        <p:spPr>
          <a:xfrm xmlns:a="http://schemas.openxmlformats.org/drawingml/2006/main">
            <a:off x="5810250" y="44005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917"/>
          </a:bodyPr>
          <a:lstStyle xmlns:a="http://schemas.openxmlformats.org/drawingml/2006/main"/>
          <a:p xmlns:a="http://schemas.openxmlformats.org/drawingml/2006/main">
            <a:pPr algn="l">
              <a:buNone/>
              <a:defRPr sz="2400" b="1" i="0">
                <a:solidFill>
                  <a:srgbClr val="5F6670"/>
                </a:solidFill>
                <a:latin typeface="Arial"/>
                <a:ea typeface="Arial"/>
                <a:cs typeface="Arial"/>
              </a:defRPr>
            </a:pPr>
            <a:r>
              <a:rPr sz="2400" b="1" i="0">
                <a:solidFill>
                  <a:srgbClr val="5F6670"/>
                </a:solidFill>
                <a:latin typeface="Arial"/>
                <a:ea typeface="Arial"/>
                <a:cs typeface="Arial"/>
              </a:rPr>
              <a:t>OUTPUT</a:t>
            </a:r>
          </a:p>
        </p:txBody>
      </p:sp>
      <p:sp>
        <p:nvSpPr>
          <p:cNvPr id="12" name="">
            <a:extLst xmlns:a="http://schemas.openxmlformats.org/drawingml/2006/main">
              <a:ext uri="{FF2B5EF4-FFF2-40B4-BE49-F238E27FC236}">
                <a16:creationId xmlns:a16="http://schemas.microsoft.com/office/drawing/2014/main" id="{083D0FA9-D841-464E-BE37-AD5814059768}"/>
              </a:ext>
            </a:extLst>
          </p:cNvPr>
          <p:cNvSpPr>
            <a:spLocks xmlns:a="http://schemas.openxmlformats.org/drawingml/2006/main" noGrp="1"/>
          </p:cNvSpPr>
          <p:nvPr/>
        </p:nvSpPr>
        <p:spPr>
          <a:xfrm xmlns:a="http://schemas.openxmlformats.org/drawingml/2006/main">
            <a:off x="5810250" y="4743450"/>
            <a:ext cx="5334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024"/>
          </a:bodyPr>
          <a:lstStyle xmlns:a="http://schemas.openxmlformats.org/drawingml/2006/main"/>
          <a:p xmlns:a="http://schemas.openxmlformats.org/drawingml/2006/main">
            <a:pPr algn="l">
              <a:buNone/>
              <a:defRPr sz="2100" b="1" i="0">
                <a:solidFill>
                  <a:srgbClr val="000000"/>
                </a:solidFill>
                <a:latin typeface="Arial"/>
                <a:ea typeface="Arial"/>
                <a:cs typeface="Arial"/>
              </a:defRPr>
            </a:pPr>
            <a:r>
              <a:rPr sz="2100" b="1" i="0">
                <a:solidFill>
                  <a:srgbClr val="000000"/>
                </a:solidFill>
                <a:latin typeface="Arial"/>
                <a:ea typeface="Arial"/>
                <a:cs typeface="Arial"/>
              </a:rPr>
              <a:t>Native masks · volume curves · ED/ES · EF · global motion surrogates</a:t>
            </a:r>
          </a:p>
        </p:txBody>
      </p:sp>
      <p:sp>
        <p:nvSpPr>
          <p:cNvPr id="13" name="">
            <a:extLst xmlns:a="http://schemas.openxmlformats.org/drawingml/2006/main">
              <a:ext uri="{FF2B5EF4-FFF2-40B4-BE49-F238E27FC236}">
                <a16:creationId xmlns:a16="http://schemas.microsoft.com/office/drawing/2014/main" id="{60CF7822-7E79-4BF3-B3E7-D56F6937AA67}"/>
              </a:ext>
            </a:extLst>
          </p:cNvPr>
          <p:cNvSpPr>
            <a:spLocks xmlns:a="http://schemas.openxmlformats.org/drawingml/2006/main" noGrp="1"/>
          </p:cNvSpPr>
          <p:nvPr/>
        </p:nvSpPr>
        <p:spPr>
          <a:xfrm xmlns:a="http://schemas.openxmlformats.org/drawingml/2006/main">
            <a:off x="685800" y="5505450"/>
            <a:ext cx="10439400" cy="5905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DB7230-630B-49E6-99DA-231164E03ED7}"/>
              </a:ext>
            </a:extLst>
          </p:cNvPr>
          <p:cNvSpPr>
            <a:spLocks xmlns:a="http://schemas.openxmlformats.org/drawingml/2006/main" noGrp="1"/>
          </p:cNvSpPr>
          <p:nvPr/>
        </p:nvSpPr>
        <p:spPr>
          <a:xfrm xmlns:a="http://schemas.openxmlformats.org/drawingml/2006/main">
            <a:off x="876300" y="5657850"/>
            <a:ext cx="1005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424"/>
          </a:bodyPr>
          <a:lstStyle xmlns:a="http://schemas.openxmlformats.org/drawingml/2006/main"/>
          <a:p xmlns:a="http://schemas.openxmlformats.org/drawingml/2006/main">
            <a:pPr algn="l">
              <a:buNone/>
              <a:defRPr sz="1650" b="1" i="0">
                <a:solidFill>
                  <a:srgbClr val="000000"/>
                </a:solidFill>
                <a:latin typeface="Arial"/>
                <a:ea typeface="Arial"/>
                <a:cs typeface="Arial"/>
              </a:defRPr>
            </a:pPr>
            <a:r>
              <a:rPr sz="1650" b="1" i="0">
                <a:solidFill>
                  <a:srgbClr val="000000"/>
                </a:solidFill>
                <a:latin typeface="Arial"/>
                <a:ea typeface="Arial"/>
                <a:cs typeface="Arial"/>
              </a:rPr>
              <a:t>Full cine is complete; learned temporal modeling and dense tissue motion are not claimed.</a:t>
            </a:r>
          </a:p>
        </p:txBody>
      </p:sp>
    </p:spTree>
    <p:extLst>
      <p:ext uri="{BB962C8B-B14F-4D97-AF65-F5344CB8AC3E}">
        <p14:creationId xmlns:p14="http://schemas.microsoft.com/office/powerpoint/2010/main" val="145044267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9FB7871-7D12-4A5E-8895-84F189FDCC36}"/>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DB657EC6-72AA-4873-95F6-9BB9FE295113}"/>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One patient-level split protects the comparison</a:t>
            </a:r>
          </a:p>
        </p:txBody>
      </p:sp>
      <p:sp>
        <p:nvSpPr>
          <p:cNvPr id="3" name="">
            <a:extLst xmlns:a="http://schemas.openxmlformats.org/drawingml/2006/main">
              <a:ext uri="{FF2B5EF4-FFF2-40B4-BE49-F238E27FC236}">
                <a16:creationId xmlns:a16="http://schemas.microsoft.com/office/drawing/2014/main" id="{C3F9F916-A0C3-44F2-B671-1C309436E0A3}"/>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21AC05B-99A2-4803-9290-C210ACF7648D}"/>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A96ED491-610A-48EC-AD90-0BF3C030820F}"/>
              </a:ext>
            </a:extLst>
          </p:cNvPr>
          <p:cNvSpPr>
            <a:spLocks xmlns:a="http://schemas.openxmlformats.org/drawingml/2006/main" noGrp="1"/>
          </p:cNvSpPr>
          <p:nvPr/>
        </p:nvSpPr>
        <p:spPr>
          <a:xfrm xmlns:a="http://schemas.openxmlformats.org/drawingml/2006/main">
            <a:off x="685800" y="3124200"/>
            <a:ext cx="10820400" cy="0"/>
          </a:xfrm>
          <a:prstGeom xmlns:a="http://schemas.openxmlformats.org/drawingml/2006/main" prst="line">
            <a:avLst/>
          </a:prstGeom>
          <a:noFill xmlns:a="http://schemas.openxmlformats.org/drawingml/2006/main"/>
          <a:ln xmlns:a="http://schemas.openxmlformats.org/drawingml/2006/main" w="19050">
            <a:solidFill>
              <a:srgbClr val="000000"/>
            </a:solidFill>
            <a:prstDash val="solid"/>
          </a:ln>
        </p:spPr>
      </p:sp>
      <p:sp>
        <p:nvSpPr>
          <p:cNvPr id="6" name="">
            <a:extLst xmlns:a="http://schemas.openxmlformats.org/drawingml/2006/main">
              <a:ext uri="{FF2B5EF4-FFF2-40B4-BE49-F238E27FC236}">
                <a16:creationId xmlns:a16="http://schemas.microsoft.com/office/drawing/2014/main" id="{61D907DF-F19A-44E7-BB4B-EEF607218707}"/>
              </a:ext>
            </a:extLst>
          </p:cNvPr>
          <p:cNvSpPr>
            <a:spLocks xmlns:a="http://schemas.openxmlformats.org/drawingml/2006/main" noGrp="1"/>
          </p:cNvSpPr>
          <p:nvPr/>
        </p:nvSpPr>
        <p:spPr>
          <a:xfrm xmlns:a="http://schemas.openxmlformats.org/drawingml/2006/main">
            <a:off x="104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B4F4590-B4B4-4FD2-A966-0ED69AB857CD}"/>
              </a:ext>
            </a:extLst>
          </p:cNvPr>
          <p:cNvSpPr>
            <a:spLocks xmlns:a="http://schemas.openxmlformats.org/drawingml/2006/main" noGrp="1"/>
          </p:cNvSpPr>
          <p:nvPr/>
        </p:nvSpPr>
        <p:spPr>
          <a:xfrm xmlns:a="http://schemas.openxmlformats.org/drawingml/2006/main">
            <a:off x="4857750" y="3057525"/>
            <a:ext cx="133350" cy="1333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E66B81E-F3FF-4314-B8FB-554AC1993F48}"/>
              </a:ext>
            </a:extLst>
          </p:cNvPr>
          <p:cNvSpPr>
            <a:spLocks xmlns:a="http://schemas.openxmlformats.org/drawingml/2006/main" noGrp="1"/>
          </p:cNvSpPr>
          <p:nvPr/>
        </p:nvSpPr>
        <p:spPr>
          <a:xfrm xmlns:a="http://schemas.openxmlformats.org/drawingml/2006/main">
            <a:off x="866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6293060-B197-43E0-888B-34C78644CFA4}"/>
              </a:ext>
            </a:extLst>
          </p:cNvPr>
          <p:cNvSpPr>
            <a:spLocks xmlns:a="http://schemas.openxmlformats.org/drawingml/2006/main" noGrp="1"/>
          </p:cNvSpPr>
          <p:nvPr/>
        </p:nvSpPr>
        <p:spPr>
          <a:xfrm xmlns:a="http://schemas.openxmlformats.org/drawingml/2006/main">
            <a:off x="104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DISCOVER</a:t>
            </a:r>
          </a:p>
        </p:txBody>
      </p:sp>
      <p:sp>
        <p:nvSpPr>
          <p:cNvPr id="10" name="">
            <a:extLst xmlns:a="http://schemas.openxmlformats.org/drawingml/2006/main">
              <a:ext uri="{FF2B5EF4-FFF2-40B4-BE49-F238E27FC236}">
                <a16:creationId xmlns:a16="http://schemas.microsoft.com/office/drawing/2014/main" id="{61E8FA3B-CF6A-4CB5-A42E-0545C8E1CC3B}"/>
              </a:ext>
            </a:extLst>
          </p:cNvPr>
          <p:cNvSpPr>
            <a:spLocks xmlns:a="http://schemas.openxmlformats.org/drawingml/2006/main" noGrp="1"/>
          </p:cNvSpPr>
          <p:nvPr/>
        </p:nvSpPr>
        <p:spPr>
          <a:xfrm xmlns:a="http://schemas.openxmlformats.org/drawingml/2006/main">
            <a:off x="104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100 patients</a:t>
            </a:r>
          </a:p>
        </p:txBody>
      </p:sp>
      <p:sp>
        <p:nvSpPr>
          <p:cNvPr id="11" name="">
            <a:extLst xmlns:a="http://schemas.openxmlformats.org/drawingml/2006/main">
              <a:ext uri="{FF2B5EF4-FFF2-40B4-BE49-F238E27FC236}">
                <a16:creationId xmlns:a16="http://schemas.microsoft.com/office/drawing/2014/main" id="{BC5D8B13-CEA4-4F57-A934-3BE97F4ADF27}"/>
              </a:ext>
            </a:extLst>
          </p:cNvPr>
          <p:cNvSpPr>
            <a:spLocks xmlns:a="http://schemas.openxmlformats.org/drawingml/2006/main" noGrp="1"/>
          </p:cNvSpPr>
          <p:nvPr/>
        </p:nvSpPr>
        <p:spPr>
          <a:xfrm xmlns:a="http://schemas.openxmlformats.org/drawingml/2006/main">
            <a:off x="104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200 labelled ED/ES cases found; no invalid containers reported.</a:t>
            </a:r>
          </a:p>
        </p:txBody>
      </p:sp>
      <p:sp>
        <p:nvSpPr>
          <p:cNvPr id="12" name="">
            <a:extLst xmlns:a="http://schemas.openxmlformats.org/drawingml/2006/main">
              <a:ext uri="{FF2B5EF4-FFF2-40B4-BE49-F238E27FC236}">
                <a16:creationId xmlns:a16="http://schemas.microsoft.com/office/drawing/2014/main" id="{95507187-D4EE-4ABF-A0F8-58E26EC0D925}"/>
              </a:ext>
            </a:extLst>
          </p:cNvPr>
          <p:cNvSpPr>
            <a:spLocks xmlns:a="http://schemas.openxmlformats.org/drawingml/2006/main" noGrp="1"/>
          </p:cNvSpPr>
          <p:nvPr/>
        </p:nvSpPr>
        <p:spPr>
          <a:xfrm xmlns:a="http://schemas.openxmlformats.org/drawingml/2006/main">
            <a:off x="485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SPLIT · SEED 42</a:t>
            </a:r>
          </a:p>
        </p:txBody>
      </p:sp>
      <p:sp>
        <p:nvSpPr>
          <p:cNvPr id="13" name="">
            <a:extLst xmlns:a="http://schemas.openxmlformats.org/drawingml/2006/main">
              <a:ext uri="{FF2B5EF4-FFF2-40B4-BE49-F238E27FC236}">
                <a16:creationId xmlns:a16="http://schemas.microsoft.com/office/drawing/2014/main" id="{D9914A19-67C3-4B28-981E-E85EAE25A92E}"/>
              </a:ext>
            </a:extLst>
          </p:cNvPr>
          <p:cNvSpPr>
            <a:spLocks xmlns:a="http://schemas.openxmlformats.org/drawingml/2006/main" noGrp="1"/>
          </p:cNvSpPr>
          <p:nvPr/>
        </p:nvSpPr>
        <p:spPr>
          <a:xfrm xmlns:a="http://schemas.openxmlformats.org/drawingml/2006/main">
            <a:off x="485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80 / 20</a:t>
            </a:r>
          </a:p>
        </p:txBody>
      </p:sp>
      <p:sp>
        <p:nvSpPr>
          <p:cNvPr id="14" name="">
            <a:extLst xmlns:a="http://schemas.openxmlformats.org/drawingml/2006/main">
              <a:ext uri="{FF2B5EF4-FFF2-40B4-BE49-F238E27FC236}">
                <a16:creationId xmlns:a16="http://schemas.microsoft.com/office/drawing/2014/main" id="{CEAD9847-1C0E-4A0E-9792-EFA9D0BD2AE1}"/>
              </a:ext>
            </a:extLst>
          </p:cNvPr>
          <p:cNvSpPr>
            <a:spLocks xmlns:a="http://schemas.openxmlformats.org/drawingml/2006/main" noGrp="1"/>
          </p:cNvSpPr>
          <p:nvPr/>
        </p:nvSpPr>
        <p:spPr>
          <a:xfrm xmlns:a="http://schemas.openxmlformats.org/drawingml/2006/main">
            <a:off x="485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Patients are disjoint and cover patient001–patient100 exactly once.</a:t>
            </a:r>
          </a:p>
        </p:txBody>
      </p:sp>
      <p:sp>
        <p:nvSpPr>
          <p:cNvPr id="15" name="">
            <a:extLst xmlns:a="http://schemas.openxmlformats.org/drawingml/2006/main">
              <a:ext uri="{FF2B5EF4-FFF2-40B4-BE49-F238E27FC236}">
                <a16:creationId xmlns:a16="http://schemas.microsoft.com/office/drawing/2014/main" id="{DF3C8601-CDB0-4E88-88A4-7897EF14F66D}"/>
              </a:ext>
            </a:extLst>
          </p:cNvPr>
          <p:cNvSpPr>
            <a:spLocks xmlns:a="http://schemas.openxmlformats.org/drawingml/2006/main" noGrp="1"/>
          </p:cNvSpPr>
          <p:nvPr/>
        </p:nvSpPr>
        <p:spPr>
          <a:xfrm xmlns:a="http://schemas.openxmlformats.org/drawingml/2006/main">
            <a:off x="866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EVALUATE</a:t>
            </a:r>
          </a:p>
        </p:txBody>
      </p:sp>
      <p:sp>
        <p:nvSpPr>
          <p:cNvPr id="16" name="">
            <a:extLst xmlns:a="http://schemas.openxmlformats.org/drawingml/2006/main">
              <a:ext uri="{FF2B5EF4-FFF2-40B4-BE49-F238E27FC236}">
                <a16:creationId xmlns:a16="http://schemas.microsoft.com/office/drawing/2014/main" id="{242E8745-AE3D-4411-A91E-1AA7A64F9345}"/>
              </a:ext>
            </a:extLst>
          </p:cNvPr>
          <p:cNvSpPr>
            <a:spLocks xmlns:a="http://schemas.openxmlformats.org/drawingml/2006/main" noGrp="1"/>
          </p:cNvSpPr>
          <p:nvPr/>
        </p:nvSpPr>
        <p:spPr>
          <a:xfrm xmlns:a="http://schemas.openxmlformats.org/drawingml/2006/main">
            <a:off x="866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160 / 40 cases</a:t>
            </a:r>
          </a:p>
        </p:txBody>
      </p:sp>
      <p:sp>
        <p:nvSpPr>
          <p:cNvPr id="17" name="">
            <a:extLst xmlns:a="http://schemas.openxmlformats.org/drawingml/2006/main">
              <a:ext uri="{FF2B5EF4-FFF2-40B4-BE49-F238E27FC236}">
                <a16:creationId xmlns:a16="http://schemas.microsoft.com/office/drawing/2014/main" id="{D17DEE4D-48B3-4A37-8BB9-EF6CA960D0D2}"/>
              </a:ext>
            </a:extLst>
          </p:cNvPr>
          <p:cNvSpPr>
            <a:spLocks xmlns:a="http://schemas.openxmlformats.org/drawingml/2006/main" noGrp="1"/>
          </p:cNvSpPr>
          <p:nvPr/>
        </p:nvSpPr>
        <p:spPr>
          <a:xfrm xmlns:a="http://schemas.openxmlformats.org/drawingml/2006/main">
            <a:off x="866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One shared split for all models; best checkpoint selected by validation mean Dice.</a:t>
            </a:r>
          </a:p>
        </p:txBody>
      </p:sp>
      <p:sp>
        <p:nvSpPr>
          <p:cNvPr id="18" name="">
            <a:extLst xmlns:a="http://schemas.openxmlformats.org/drawingml/2006/main">
              <a:ext uri="{FF2B5EF4-FFF2-40B4-BE49-F238E27FC236}">
                <a16:creationId xmlns:a16="http://schemas.microsoft.com/office/drawing/2014/main" id="{A2BE5CAF-66C0-43DA-AABC-42FF468EB139}"/>
              </a:ext>
            </a:extLst>
          </p:cNvPr>
          <p:cNvSpPr>
            <a:spLocks xmlns:a="http://schemas.openxmlformats.org/drawingml/2006/main" noGrp="1"/>
          </p:cNvSpPr>
          <p:nvPr/>
        </p:nvSpPr>
        <p:spPr>
          <a:xfrm xmlns:a="http://schemas.openxmlformats.org/drawingml/2006/main">
            <a:off x="685800" y="5657850"/>
            <a:ext cx="10820400" cy="495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6F2CBA9-759B-434E-ABEB-34B7EA782F39}"/>
              </a:ext>
            </a:extLst>
          </p:cNvPr>
          <p:cNvSpPr>
            <a:spLocks xmlns:a="http://schemas.openxmlformats.org/drawingml/2006/main" noGrp="1"/>
          </p:cNvSpPr>
          <p:nvPr/>
        </p:nvSpPr>
        <p:spPr>
          <a:xfrm xmlns:a="http://schemas.openxmlformats.org/drawingml/2006/main">
            <a:off x="876300" y="5781675"/>
            <a:ext cx="10439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i="0">
                <a:solidFill>
                  <a:srgbClr val="000000"/>
                </a:solidFill>
                <a:latin typeface="Arial"/>
                <a:ea typeface="Arial"/>
                <a:cs typeface="Arial"/>
              </a:defRPr>
            </a:pPr>
            <a:r>
              <a:rPr sz="1650" b="1" i="0">
                <a:solidFill>
                  <a:srgbClr val="000000"/>
                </a:solidFill>
                <a:latin typeface="Arial"/>
                <a:ea typeface="Arial"/>
                <a:cs typeface="Arial"/>
              </a:rPr>
              <a:t>Important: the same 20-patient validation set selects checkpoints and supplies the reported table—it is not an independent test set.</a:t>
            </a:r>
          </a:p>
        </p:txBody>
      </p:sp>
      <p:sp>
        <p:nvSpPr>
          <p:cNvPr id="20" name="">
            <a:extLst xmlns:a="http://schemas.openxmlformats.org/drawingml/2006/main">
              <a:ext uri="{FF2B5EF4-FFF2-40B4-BE49-F238E27FC236}">
                <a16:creationId xmlns:a16="http://schemas.microsoft.com/office/drawing/2014/main" id="{D6FE1EDD-06C4-4D5A-A541-B26D50CA06D9}"/>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audited split JSON and discovery report</a:t>
            </a:r>
          </a:p>
        </p:txBody>
      </p:sp>
    </p:spTree>
    <p:extLst>
      <p:ext uri="{BB962C8B-B14F-4D97-AF65-F5344CB8AC3E}">
        <p14:creationId xmlns:p14="http://schemas.microsoft.com/office/powerpoint/2010/main" val="11522316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BBEEFA-E2F2-4FE8-899A-A93F6BD635BF}"/>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E5955464-7EB6-4E45-9576-A0CE29468AC8}"/>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Nano-Mamba mixes 2,048 spatial tokens</a:t>
            </a:r>
          </a:p>
        </p:txBody>
      </p:sp>
      <p:sp>
        <p:nvSpPr>
          <p:cNvPr id="3" name="">
            <a:extLst xmlns:a="http://schemas.openxmlformats.org/drawingml/2006/main">
              <a:ext uri="{FF2B5EF4-FFF2-40B4-BE49-F238E27FC236}">
                <a16:creationId xmlns:a16="http://schemas.microsoft.com/office/drawing/2014/main" id="{0B81EF51-D2D9-4120-8C87-DC5892DA4F4A}"/>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FE8C6254-CA97-47CC-B346-F07A04FCCD17}"/>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4DC1B463-6B29-4CE7-8C1F-C3F831BEF45B}"/>
              </a:ext>
            </a:extLst>
          </p:cNvPr>
          <p:cNvSpPr>
            <a:spLocks xmlns:a="http://schemas.openxmlformats.org/drawingml/2006/main" noGrp="1"/>
          </p:cNvSpPr>
          <p:nvPr/>
        </p:nvSpPr>
        <p:spPr>
          <a:xfrm xmlns:a="http://schemas.openxmlformats.org/drawingml/2006/main">
            <a:off x="5810250" y="1600200"/>
            <a:ext cx="5524500" cy="41148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46ddc65938b4514"/>
          <a:stretch xmlns:a="http://schemas.openxmlformats.org/drawingml/2006/main"/>
        </p:blipFill>
        <p:spPr>
          <a:xfrm xmlns:a="http://schemas.openxmlformats.org/drawingml/2006/main">
            <a:off x="5817215" y="1600200"/>
            <a:ext cx="5510569" cy="41148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AFAD5AF-3E9E-493C-8D66-25B7D8C1752C}"/>
              </a:ext>
            </a:extLst>
          </p:cNvPr>
          <p:cNvSpPr>
            <a:spLocks xmlns:a="http://schemas.openxmlformats.org/drawingml/2006/main" noGrp="1"/>
          </p:cNvSpPr>
          <p:nvPr/>
        </p:nvSpPr>
        <p:spPr>
          <a:xfrm xmlns:a="http://schemas.openxmlformats.org/drawingml/2006/main">
            <a:off x="685800" y="180975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What the block does</a:t>
            </a:r>
          </a:p>
        </p:txBody>
      </p:sp>
      <p:sp>
        <p:nvSpPr>
          <p:cNvPr id="8" name="">
            <a:extLst xmlns:a="http://schemas.openxmlformats.org/drawingml/2006/main">
              <a:ext uri="{FF2B5EF4-FFF2-40B4-BE49-F238E27FC236}">
                <a16:creationId xmlns:a16="http://schemas.microsoft.com/office/drawing/2014/main" id="{080DB3CE-BD57-488C-AB59-50AB420B7A05}"/>
              </a:ext>
            </a:extLst>
          </p:cNvPr>
          <p:cNvSpPr>
            <a:spLocks xmlns:a="http://schemas.openxmlformats.org/drawingml/2006/main" noGrp="1"/>
          </p:cNvSpPr>
          <p:nvPr/>
        </p:nvSpPr>
        <p:spPr>
          <a:xfrm xmlns:a="http://schemas.openxmlformats.org/drawingml/2006/main">
            <a:off x="685800" y="2381250"/>
            <a:ext cx="43815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Bottleneck: B × 128 × 32 × 32 × 2</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32 × 32 × 2 = 2,048 spatial tokens</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Depthwise 1D mix + gate + projection + residual</a:t>
            </a:r>
          </a:p>
        </p:txBody>
      </p:sp>
      <p:sp>
        <p:nvSpPr>
          <p:cNvPr id="9" name="">
            <a:extLst xmlns:a="http://schemas.openxmlformats.org/drawingml/2006/main">
              <a:ext uri="{FF2B5EF4-FFF2-40B4-BE49-F238E27FC236}">
                <a16:creationId xmlns:a16="http://schemas.microsoft.com/office/drawing/2014/main" id="{9082D17E-08E4-4897-B6EA-623E03A38571}"/>
              </a:ext>
            </a:extLst>
          </p:cNvPr>
          <p:cNvSpPr>
            <a:spLocks xmlns:a="http://schemas.openxmlformats.org/drawingml/2006/main" noGrp="1"/>
          </p:cNvSpPr>
          <p:nvPr/>
        </p:nvSpPr>
        <p:spPr>
          <a:xfrm xmlns:a="http://schemas.openxmlformats.org/drawingml/2006/main">
            <a:off x="685800" y="527685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519"/>
          </a:bodyPr>
          <a:lstStyle xmlns:a="http://schemas.openxmlformats.org/drawingml/2006/main"/>
          <a:p xmlns:a="http://schemas.openxmlformats.org/drawingml/2006/main">
            <a:pPr algn="l">
              <a:buNone/>
              <a:defRPr sz="2025" b="1" i="0">
                <a:solidFill>
                  <a:srgbClr val="3D8DFF"/>
                </a:solidFill>
                <a:latin typeface="Arial"/>
                <a:ea typeface="Arial"/>
                <a:cs typeface="Arial"/>
              </a:defRPr>
            </a:pPr>
            <a:r>
              <a:rPr sz="2025" b="1" i="0">
                <a:solidFill>
                  <a:srgbClr val="3D8DFF"/>
                </a:solidFill>
                <a:latin typeface="Arial"/>
                <a:ea typeface="Arial"/>
                <a:cs typeface="Arial"/>
              </a:rPr>
              <a:t>Spatial tokens ≠ cardiac time points or full Mamba</a:t>
            </a:r>
          </a:p>
        </p:txBody>
      </p:sp>
      <p:sp>
        <p:nvSpPr>
          <p:cNvPr id="10" name="">
            <a:extLst xmlns:a="http://schemas.openxmlformats.org/drawingml/2006/main">
              <a:ext uri="{FF2B5EF4-FFF2-40B4-BE49-F238E27FC236}">
                <a16:creationId xmlns:a16="http://schemas.microsoft.com/office/drawing/2014/main" id="{DF5E7773-3658-48EA-94D8-C29936BD7778}"/>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implementation-faithful thesis Figure 5.3 and nano_mamba_core.py</a:t>
            </a:r>
          </a:p>
        </p:txBody>
      </p:sp>
    </p:spTree>
    <p:extLst>
      <p:ext uri="{BB962C8B-B14F-4D97-AF65-F5344CB8AC3E}">
        <p14:creationId xmlns:p14="http://schemas.microsoft.com/office/powerpoint/2010/main" val="131547564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AEF2D8-18C2-4C11-854B-3154BC500828}"/>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99C9DBD7-9F60-4976-BBAC-67F0EA7C0143}"/>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Image processing is explicit at both stages</a:t>
            </a:r>
          </a:p>
        </p:txBody>
      </p:sp>
      <p:sp>
        <p:nvSpPr>
          <p:cNvPr id="3" name="">
            <a:extLst xmlns:a="http://schemas.openxmlformats.org/drawingml/2006/main">
              <a:ext uri="{FF2B5EF4-FFF2-40B4-BE49-F238E27FC236}">
                <a16:creationId xmlns:a16="http://schemas.microsoft.com/office/drawing/2014/main" id="{DB1AF9ED-57AA-4E30-B3AF-A74500666533}"/>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DD814761-359C-47B7-991E-02A557178CBE}"/>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56C5F50B-3D09-4167-A56F-EAAD520DA26F}"/>
              </a:ext>
            </a:extLst>
          </p:cNvPr>
          <p:cNvSpPr>
            <a:spLocks xmlns:a="http://schemas.openxmlformats.org/drawingml/2006/main" noGrp="1"/>
          </p:cNvSpPr>
          <p:nvPr/>
        </p:nvSpPr>
        <p:spPr>
          <a:xfrm xmlns:a="http://schemas.openxmlformats.org/drawingml/2006/main">
            <a:off x="685800" y="167640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917"/>
          </a:bodyPr>
          <a:lstStyle xmlns:a="http://schemas.openxmlformats.org/drawingml/2006/main"/>
          <a:p xmlns:a="http://schemas.openxmlformats.org/drawingml/2006/main">
            <a:pPr algn="l">
              <a:buNone/>
              <a:defRPr sz="2400" b="1" i="0">
                <a:solidFill>
                  <a:srgbClr val="5F6670"/>
                </a:solidFill>
                <a:latin typeface="Arial"/>
                <a:ea typeface="Arial"/>
                <a:cs typeface="Arial"/>
              </a:defRPr>
            </a:pPr>
            <a:r>
              <a:rPr sz="2400" b="1" i="0">
                <a:solidFill>
                  <a:srgbClr val="5F6670"/>
                </a:solidFill>
                <a:latin typeface="Arial"/>
                <a:ea typeface="Arial"/>
                <a:cs typeface="Arial"/>
              </a:rPr>
              <a:t>LOAD + SHAPE</a:t>
            </a:r>
          </a:p>
        </p:txBody>
      </p:sp>
      <p:sp>
        <p:nvSpPr>
          <p:cNvPr id="6" name="">
            <a:extLst xmlns:a="http://schemas.openxmlformats.org/drawingml/2006/main">
              <a:ext uri="{FF2B5EF4-FFF2-40B4-BE49-F238E27FC236}">
                <a16:creationId xmlns:a16="http://schemas.microsoft.com/office/drawing/2014/main" id="{7D2D46A7-AD02-4EAC-A818-2C653EB424EE}"/>
              </a:ext>
            </a:extLst>
          </p:cNvPr>
          <p:cNvSpPr>
            <a:spLocks xmlns:a="http://schemas.openxmlformats.org/drawingml/2006/main" noGrp="1"/>
          </p:cNvSpPr>
          <p:nvPr/>
        </p:nvSpPr>
        <p:spPr>
          <a:xfrm xmlns:a="http://schemas.openxmlformats.org/drawingml/2006/main">
            <a:off x="685800" y="2114550"/>
            <a:ext cx="4286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1  Load NIfTI / extract phase</a:t>
            </a:r>
          </a:p>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2  Add channel axis</a:t>
            </a:r>
          </a:p>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3  Resize: 256 × 256 × 16</a:t>
            </a:r>
          </a:p>
        </p:txBody>
      </p:sp>
      <p:sp>
        <p:nvSpPr>
          <p:cNvPr id="7" name="">
            <a:extLst xmlns:a="http://schemas.openxmlformats.org/drawingml/2006/main">
              <a:ext uri="{FF2B5EF4-FFF2-40B4-BE49-F238E27FC236}">
                <a16:creationId xmlns:a16="http://schemas.microsoft.com/office/drawing/2014/main" id="{1D16121E-8EF9-4F5E-A815-934562FC08FC}"/>
              </a:ext>
            </a:extLst>
          </p:cNvPr>
          <p:cNvSpPr>
            <a:spLocks xmlns:a="http://schemas.openxmlformats.org/drawingml/2006/main" noGrp="1"/>
          </p:cNvSpPr>
          <p:nvPr/>
        </p:nvSpPr>
        <p:spPr>
          <a:xfrm xmlns:a="http://schemas.openxmlformats.org/drawingml/2006/main">
            <a:off x="5810250" y="1676400"/>
            <a:ext cx="504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7917"/>
          </a:bodyPr>
          <a:lstStyle xmlns:a="http://schemas.openxmlformats.org/drawingml/2006/main"/>
          <a:p xmlns:a="http://schemas.openxmlformats.org/drawingml/2006/main">
            <a:pPr algn="l">
              <a:buNone/>
              <a:defRPr sz="2400" b="1" i="0">
                <a:solidFill>
                  <a:srgbClr val="5F6670"/>
                </a:solidFill>
                <a:latin typeface="Arial"/>
                <a:ea typeface="Arial"/>
                <a:cs typeface="Arial"/>
              </a:defRPr>
            </a:pPr>
            <a:r>
              <a:rPr sz="2400" b="1" i="0">
                <a:solidFill>
                  <a:srgbClr val="5F6670"/>
                </a:solidFill>
                <a:latin typeface="Arial"/>
                <a:ea typeface="Arial"/>
                <a:cs typeface="Arial"/>
              </a:rPr>
              <a:t>INTERPOLATE + PREDICT</a:t>
            </a:r>
          </a:p>
        </p:txBody>
      </p:sp>
      <p:sp>
        <p:nvSpPr>
          <p:cNvPr id="8" name="">
            <a:extLst xmlns:a="http://schemas.openxmlformats.org/drawingml/2006/main">
              <a:ext uri="{FF2B5EF4-FFF2-40B4-BE49-F238E27FC236}">
                <a16:creationId xmlns:a16="http://schemas.microsoft.com/office/drawing/2014/main" id="{ED429FF3-AB87-4762-8E2E-8AA508C57CBB}"/>
              </a:ext>
            </a:extLst>
          </p:cNvPr>
          <p:cNvSpPr>
            <a:spLocks xmlns:a="http://schemas.openxmlformats.org/drawingml/2006/main" noGrp="1"/>
          </p:cNvSpPr>
          <p:nvPr/>
        </p:nvSpPr>
        <p:spPr>
          <a:xfrm xmlns:a="http://schemas.openxmlformats.org/drawingml/2006/main">
            <a:off x="5810250" y="2114550"/>
            <a:ext cx="5048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MRI: trilinear + per-frame 0–1</a:t>
            </a:r>
          </a:p>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Output: softmax probabilities</a:t>
            </a:r>
          </a:p>
          <a:p xmlns:a="http://schemas.openxmlformats.org/drawingml/2006/main">
            <a:pPr algn="l">
              <a:buNone/>
              <a:defRPr sz="2550" b="1" i="0">
                <a:solidFill>
                  <a:srgbClr val="000000"/>
                </a:solidFill>
                <a:latin typeface="Arial"/>
                <a:ea typeface="Arial"/>
                <a:cs typeface="Arial"/>
              </a:defRPr>
            </a:pPr>
            <a:r>
              <a:rPr sz="2550" b="1" i="0">
                <a:solidFill>
                  <a:srgbClr val="000000"/>
                </a:solidFill>
                <a:latin typeface="Arial"/>
                <a:ea typeface="Arial"/>
                <a:cs typeface="Arial"/>
              </a:rPr>
              <a:t>Mask: argmax + native nearest restore</a:t>
            </a:r>
          </a:p>
        </p:txBody>
      </p:sp>
      <p:sp>
        <p:nvSpPr>
          <p:cNvPr id="9" name="">
            <a:extLst xmlns:a="http://schemas.openxmlformats.org/drawingml/2006/main">
              <a:ext uri="{FF2B5EF4-FFF2-40B4-BE49-F238E27FC236}">
                <a16:creationId xmlns:a16="http://schemas.microsoft.com/office/drawing/2014/main" id="{13E3DEDB-FB95-4E29-9453-3AD55085D2A3}"/>
              </a:ext>
            </a:extLst>
          </p:cNvPr>
          <p:cNvSpPr>
            <a:spLocks xmlns:a="http://schemas.openxmlformats.org/drawingml/2006/main" noGrp="1"/>
          </p:cNvSpPr>
          <p:nvPr/>
        </p:nvSpPr>
        <p:spPr>
          <a:xfrm xmlns:a="http://schemas.openxmlformats.org/drawingml/2006/main">
            <a:off x="5219700" y="1619250"/>
            <a:ext cx="0" cy="251460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0" name="">
            <a:extLst xmlns:a="http://schemas.openxmlformats.org/drawingml/2006/main">
              <a:ext uri="{FF2B5EF4-FFF2-40B4-BE49-F238E27FC236}">
                <a16:creationId xmlns:a16="http://schemas.microsoft.com/office/drawing/2014/main" id="{6C51B2B4-3136-477C-AFB9-CEBDF8E3CF2B}"/>
              </a:ext>
            </a:extLst>
          </p:cNvPr>
          <p:cNvSpPr>
            <a:spLocks xmlns:a="http://schemas.openxmlformats.org/drawingml/2006/main" noGrp="1"/>
          </p:cNvSpPr>
          <p:nvPr/>
        </p:nvSpPr>
        <p:spPr>
          <a:xfrm xmlns:a="http://schemas.openxmlformats.org/drawingml/2006/main">
            <a:off x="685800" y="4362450"/>
            <a:ext cx="10439400" cy="14668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66DD14E-5FDA-4D2E-B232-957369ABE5E4}"/>
              </a:ext>
            </a:extLst>
          </p:cNvPr>
          <p:cNvSpPr>
            <a:spLocks xmlns:a="http://schemas.openxmlformats.org/drawingml/2006/main" noGrp="1"/>
          </p:cNvSpPr>
          <p:nvPr/>
        </p:nvSpPr>
        <p:spPr>
          <a:xfrm xmlns:a="http://schemas.openxmlformats.org/drawingml/2006/main">
            <a:off x="914400" y="45720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213"/>
          </a:bodyPr>
          <a:lstStyle xmlns:a="http://schemas.openxmlformats.org/drawingml/2006/main"/>
          <a:p xmlns:a="http://schemas.openxmlformats.org/drawingml/2006/main">
            <a:pPr algn="l">
              <a:buNone/>
              <a:defRPr sz="1950" b="1" i="0">
                <a:solidFill>
                  <a:srgbClr val="3D8DFF"/>
                </a:solidFill>
                <a:latin typeface="Arial"/>
                <a:ea typeface="Arial"/>
                <a:cs typeface="Arial"/>
              </a:defRPr>
            </a:pPr>
            <a:r>
              <a:rPr sz="1950" b="1" i="0">
                <a:solidFill>
                  <a:srgbClr val="3D8DFF"/>
                </a:solidFill>
                <a:latin typeface="Arial"/>
                <a:ea typeface="Arial"/>
                <a:cs typeface="Arial"/>
              </a:rPr>
              <a:t>GEOMETRY + POSTPROCESSING</a:t>
            </a:r>
          </a:p>
        </p:txBody>
      </p:sp>
      <p:sp>
        <p:nvSpPr>
          <p:cNvPr id="12" name="">
            <a:extLst xmlns:a="http://schemas.openxmlformats.org/drawingml/2006/main">
              <a:ext uri="{FF2B5EF4-FFF2-40B4-BE49-F238E27FC236}">
                <a16:creationId xmlns:a16="http://schemas.microsoft.com/office/drawing/2014/main" id="{746DBF82-4B03-4757-B09F-B160ECE61D53}"/>
              </a:ext>
            </a:extLst>
          </p:cNvPr>
          <p:cNvSpPr>
            <a:spLocks xmlns:a="http://schemas.openxmlformats.org/drawingml/2006/main" noGrp="1"/>
          </p:cNvSpPr>
          <p:nvPr/>
        </p:nvSpPr>
        <p:spPr>
          <a:xfrm xmlns:a="http://schemas.openxmlformats.org/drawingml/2006/main">
            <a:off x="914400" y="5010150"/>
            <a:ext cx="9886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000000"/>
                </a:solidFill>
                <a:latin typeface="Arial"/>
                <a:ea typeface="Arial"/>
                <a:cs typeface="Arial"/>
              </a:defRPr>
            </a:pPr>
            <a:r>
              <a:rPr sz="1650" b="0" i="0">
                <a:solidFill>
                  <a:srgbClr val="000000"/>
                </a:solidFill>
                <a:latin typeface="Arial"/>
                <a:ea typeface="Arial"/>
                <a:cs typeface="Arial"/>
              </a:rPr>
              <a:t>Historical Dice uses the resized grid. Cine masks return to native array shape for physical volumes; no crop, connected components, registration, or deformation.</a:t>
            </a:r>
          </a:p>
        </p:txBody>
      </p:sp>
    </p:spTree>
    <p:extLst>
      <p:ext uri="{BB962C8B-B14F-4D97-AF65-F5344CB8AC3E}">
        <p14:creationId xmlns:p14="http://schemas.microsoft.com/office/powerpoint/2010/main" val="140887825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DFB55E-E1D8-404F-B778-794E975B28FD}"/>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BBFB8D0C-8324-463A-93EB-EF45D89EF1B6}"/>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SegResNet16 leads Dice; Nano-Mamba is smallest</a:t>
            </a:r>
          </a:p>
        </p:txBody>
      </p:sp>
      <p:sp>
        <p:nvSpPr>
          <p:cNvPr id="3" name="">
            <a:extLst xmlns:a="http://schemas.openxmlformats.org/drawingml/2006/main">
              <a:ext uri="{FF2B5EF4-FFF2-40B4-BE49-F238E27FC236}">
                <a16:creationId xmlns:a16="http://schemas.microsoft.com/office/drawing/2014/main" id="{25EAD3DE-52CF-458C-8689-04E12B86A26F}"/>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C129E757-32C0-4186-B6AE-376900D836E8}"/>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6</a:t>
            </a:r>
          </a:p>
        </p:txBody>
      </p:sp>
      <p:graphicFrame>
        <p:nvGraphicFramePr>
          <p:cNvPr id="15" name=""/>
          <p:cNvGraphicFramePr/>
          <p:nvPr/>
        </p:nvGraphicFramePr>
        <p:xfrm>
          <a:off xmlns:a="http://schemas.openxmlformats.org/drawingml/2006/main" x="514350" y="1619250"/>
          <a:ext xmlns:a="http://schemas.openxmlformats.org/drawingml/2006/main" cx="11163300" cy="4000500"/>
        </p:xfrm>
        <a:graphic xmlns:a="http://schemas.openxmlformats.org/drawingml/2006/main">
          <a:graphicData uri="http://schemas.openxmlformats.org/drawingml/2006/table">
            <a:tbl>
              <a:tblPr/>
              <a:tblGrid>
                <a:gridCol w="2857500"/>
                <a:gridCol w="1619250"/>
                <a:gridCol w="1619250"/>
                <a:gridCol w="1619250"/>
                <a:gridCol w="1619250"/>
                <a:gridCol w="1828800"/>
              </a:tblGrid>
              <a:tr h="571500">
                <a:tc>
                  <a:txBody>
                    <a:bodyPr/>
                    <a:lstStyle/>
                    <a:p>
                      <a:pPr algn="l">
                        <a:buNone/>
                      </a:pPr>
                      <a:r>
                        <a:rPr sz="1650" b="1">
                          <a:solidFill>
                            <a:srgbClr val="FFFFFF"/>
                          </a:solidFill>
                          <a:latin typeface="Arial"/>
                          <a:ea typeface="Arial"/>
                          <a:cs typeface="Arial"/>
                        </a:rPr>
                        <a:t>Model</a:t>
                      </a:r>
                    </a:p>
                  </a:txBody>
                  <a:tcPr marL="91440" marR="91440" marT="45720" marB="45720">
                    <a:solidFill>
                      <a:srgbClr val="000000"/>
                    </a:solidFill>
                  </a:tcPr>
                </a:tc>
                <a:tc>
                  <a:txBody>
                    <a:bodyPr/>
                    <a:lstStyle/>
                    <a:p>
                      <a:pPr algn="ctr">
                        <a:buNone/>
                      </a:pPr>
                      <a:r>
                        <a:rPr sz="1650" b="1">
                          <a:solidFill>
                            <a:srgbClr val="FFFFFF"/>
                          </a:solidFill>
                          <a:latin typeface="Arial"/>
                          <a:ea typeface="Arial"/>
                          <a:cs typeface="Arial"/>
                        </a:rPr>
                        <a:t>Mean</a:t>
                      </a:r>
                    </a:p>
                  </a:txBody>
                  <a:tcPr marL="91440" marR="91440" marT="45720" marB="45720">
                    <a:solidFill>
                      <a:srgbClr val="000000"/>
                    </a:solidFill>
                  </a:tcPr>
                </a:tc>
                <a:tc>
                  <a:txBody>
                    <a:bodyPr/>
                    <a:lstStyle/>
                    <a:p>
                      <a:pPr algn="ctr">
                        <a:buNone/>
                      </a:pPr>
                      <a:r>
                        <a:rPr sz="1650" b="1">
                          <a:solidFill>
                            <a:srgbClr val="FFFFFF"/>
                          </a:solidFill>
                          <a:latin typeface="Arial"/>
                          <a:ea typeface="Arial"/>
                          <a:cs typeface="Arial"/>
                        </a:rPr>
                        <a:t>RV</a:t>
                      </a:r>
                    </a:p>
                  </a:txBody>
                  <a:tcPr marL="91440" marR="91440" marT="45720" marB="45720">
                    <a:solidFill>
                      <a:srgbClr val="000000"/>
                    </a:solidFill>
                  </a:tcPr>
                </a:tc>
                <a:tc>
                  <a:txBody>
                    <a:bodyPr/>
                    <a:lstStyle/>
                    <a:p>
                      <a:pPr algn="ctr">
                        <a:buNone/>
                      </a:pPr>
                      <a:r>
                        <a:rPr sz="1650" b="1">
                          <a:solidFill>
                            <a:srgbClr val="FFFFFF"/>
                          </a:solidFill>
                          <a:latin typeface="Arial"/>
                          <a:ea typeface="Arial"/>
                          <a:cs typeface="Arial"/>
                        </a:rPr>
                        <a:t>MYO</a:t>
                      </a:r>
                    </a:p>
                  </a:txBody>
                  <a:tcPr marL="91440" marR="91440" marT="45720" marB="45720">
                    <a:solidFill>
                      <a:srgbClr val="000000"/>
                    </a:solidFill>
                  </a:tcPr>
                </a:tc>
                <a:tc>
                  <a:txBody>
                    <a:bodyPr/>
                    <a:lstStyle/>
                    <a:p>
                      <a:pPr algn="ctr">
                        <a:buNone/>
                      </a:pPr>
                      <a:r>
                        <a:rPr sz="1650" b="1">
                          <a:solidFill>
                            <a:srgbClr val="FFFFFF"/>
                          </a:solidFill>
                          <a:latin typeface="Arial"/>
                          <a:ea typeface="Arial"/>
                          <a:cs typeface="Arial"/>
                        </a:rPr>
                        <a:t>LV</a:t>
                      </a:r>
                    </a:p>
                  </a:txBody>
                  <a:tcPr marL="91440" marR="91440" marT="45720" marB="45720">
                    <a:solidFill>
                      <a:srgbClr val="000000"/>
                    </a:solidFill>
                  </a:tcPr>
                </a:tc>
                <a:tc>
                  <a:txBody>
                    <a:bodyPr/>
                    <a:lstStyle/>
                    <a:p>
                      <a:pPr algn="ctr">
                        <a:buNone/>
                      </a:pPr>
                      <a:r>
                        <a:rPr sz="1650" b="1">
                          <a:solidFill>
                            <a:srgbClr val="FFFFFF"/>
                          </a:solidFill>
                          <a:latin typeface="Arial"/>
                          <a:ea typeface="Arial"/>
                          <a:cs typeface="Arial"/>
                        </a:rPr>
                        <a:t>Params</a:t>
                      </a:r>
                    </a:p>
                  </a:txBody>
                  <a:tcPr marL="91440" marR="91440" marT="45720" marB="45720">
                    <a:solidFill>
                      <a:srgbClr val="000000"/>
                    </a:solidFill>
                  </a:tcPr>
                </a:tc>
              </a:tr>
              <a:tr h="571500">
                <a:tc>
                  <a:txBody>
                    <a:bodyPr/>
                    <a:lstStyle/>
                    <a:p>
                      <a:pPr algn="l">
                        <a:buNone/>
                      </a:pPr>
                      <a:r>
                        <a:rPr sz="1650" b="0">
                          <a:solidFill>
                            <a:srgbClr val="000000"/>
                          </a:solidFill>
                          <a:latin typeface="Arial"/>
                          <a:ea typeface="Arial"/>
                          <a:cs typeface="Arial"/>
                        </a:rPr>
                        <a:t>UNet3D</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80.83%</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78.35%</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74.57%</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89.59%</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4.809M</a:t>
                      </a:r>
                    </a:p>
                  </a:txBody>
                  <a:tcPr marL="91440" marR="91440" marT="45720" marB="45720">
                    <a:solidFill>
                      <a:srgbClr val="FFFFFF"/>
                    </a:solidFill>
                  </a:tcPr>
                </a:tc>
              </a:tr>
              <a:tr h="571500">
                <a:tc>
                  <a:txBody>
                    <a:bodyPr/>
                    <a:lstStyle/>
                    <a:p>
                      <a:pPr algn="l">
                        <a:buNone/>
                      </a:pPr>
                      <a:r>
                        <a:rPr sz="1650" b="1">
                          <a:solidFill>
                            <a:srgbClr val="000000"/>
                          </a:solidFill>
                          <a:latin typeface="Arial"/>
                          <a:ea typeface="Arial"/>
                          <a:cs typeface="Arial"/>
                        </a:rPr>
                        <a:t>Nano-Mamba</a:t>
                      </a:r>
                    </a:p>
                  </a:txBody>
                  <a:tcPr marL="91440" marR="91440" marT="45720" marB="45720">
                    <a:solidFill>
                      <a:srgbClr val="EAF5FB"/>
                    </a:solidFill>
                  </a:tcPr>
                </a:tc>
                <a:tc>
                  <a:txBody>
                    <a:bodyPr/>
                    <a:lstStyle/>
                    <a:p>
                      <a:pPr algn="ctr">
                        <a:buNone/>
                      </a:pPr>
                      <a:r>
                        <a:rPr sz="1650" b="1">
                          <a:solidFill>
                            <a:srgbClr val="000000"/>
                          </a:solidFill>
                          <a:latin typeface="Arial"/>
                          <a:ea typeface="Arial"/>
                          <a:cs typeface="Arial"/>
                        </a:rPr>
                        <a:t>84.78%</a:t>
                      </a:r>
                    </a:p>
                  </a:txBody>
                  <a:tcPr marL="91440" marR="91440" marT="45720" marB="45720">
                    <a:solidFill>
                      <a:srgbClr val="EAF5FB"/>
                    </a:solidFill>
                  </a:tcPr>
                </a:tc>
                <a:tc>
                  <a:txBody>
                    <a:bodyPr/>
                    <a:lstStyle/>
                    <a:p>
                      <a:pPr algn="ctr">
                        <a:buNone/>
                      </a:pPr>
                      <a:r>
                        <a:rPr sz="1650" b="1">
                          <a:solidFill>
                            <a:srgbClr val="000000"/>
                          </a:solidFill>
                          <a:latin typeface="Arial"/>
                          <a:ea typeface="Arial"/>
                          <a:cs typeface="Arial"/>
                        </a:rPr>
                        <a:t>82.11%</a:t>
                      </a:r>
                    </a:p>
                  </a:txBody>
                  <a:tcPr marL="91440" marR="91440" marT="45720" marB="45720">
                    <a:solidFill>
                      <a:srgbClr val="EAF5FB"/>
                    </a:solidFill>
                  </a:tcPr>
                </a:tc>
                <a:tc>
                  <a:txBody>
                    <a:bodyPr/>
                    <a:lstStyle/>
                    <a:p>
                      <a:pPr algn="ctr">
                        <a:buNone/>
                      </a:pPr>
                      <a:r>
                        <a:rPr sz="1650" b="1">
                          <a:solidFill>
                            <a:srgbClr val="000000"/>
                          </a:solidFill>
                          <a:latin typeface="Arial"/>
                          <a:ea typeface="Arial"/>
                          <a:cs typeface="Arial"/>
                        </a:rPr>
                        <a:t>80.35%</a:t>
                      </a:r>
                    </a:p>
                  </a:txBody>
                  <a:tcPr marL="91440" marR="91440" marT="45720" marB="45720">
                    <a:solidFill>
                      <a:srgbClr val="EAF5FB"/>
                    </a:solidFill>
                  </a:tcPr>
                </a:tc>
                <a:tc>
                  <a:txBody>
                    <a:bodyPr/>
                    <a:lstStyle/>
                    <a:p>
                      <a:pPr algn="ctr">
                        <a:buNone/>
                      </a:pPr>
                      <a:r>
                        <a:rPr sz="1650" b="1">
                          <a:solidFill>
                            <a:srgbClr val="000000"/>
                          </a:solidFill>
                          <a:latin typeface="Arial"/>
                          <a:ea typeface="Arial"/>
                          <a:cs typeface="Arial"/>
                        </a:rPr>
                        <a:t>91.88%</a:t>
                      </a:r>
                    </a:p>
                  </a:txBody>
                  <a:tcPr marL="91440" marR="91440" marT="45720" marB="45720">
                    <a:solidFill>
                      <a:srgbClr val="EAF5FB"/>
                    </a:solidFill>
                  </a:tcPr>
                </a:tc>
                <a:tc>
                  <a:txBody>
                    <a:bodyPr/>
                    <a:lstStyle/>
                    <a:p>
                      <a:pPr algn="ctr">
                        <a:buNone/>
                      </a:pPr>
                      <a:r>
                        <a:rPr sz="1650" b="1">
                          <a:solidFill>
                            <a:srgbClr val="000000"/>
                          </a:solidFill>
                          <a:latin typeface="Arial"/>
                          <a:ea typeface="Arial"/>
                          <a:cs typeface="Arial"/>
                        </a:rPr>
                        <a:t>1.456M</a:t>
                      </a:r>
                    </a:p>
                  </a:txBody>
                  <a:tcPr marL="91440" marR="91440" marT="45720" marB="45720">
                    <a:solidFill>
                      <a:srgbClr val="EAF5FB"/>
                    </a:solidFill>
                  </a:tcPr>
                </a:tc>
              </a:tr>
              <a:tr h="571500">
                <a:tc>
                  <a:txBody>
                    <a:bodyPr/>
                    <a:lstStyle/>
                    <a:p>
                      <a:pPr algn="l">
                        <a:buNone/>
                      </a:pPr>
                      <a:r>
                        <a:rPr sz="1650" b="0">
                          <a:solidFill>
                            <a:srgbClr val="000000"/>
                          </a:solidFill>
                          <a:latin typeface="Arial"/>
                          <a:ea typeface="Arial"/>
                          <a:cs typeface="Arial"/>
                        </a:rPr>
                        <a:t>No-Mamba</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85.64%</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83.26%</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81.30%</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92.37%</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2.288M</a:t>
                      </a:r>
                    </a:p>
                  </a:txBody>
                  <a:tcPr marL="91440" marR="91440" marT="45720" marB="45720">
                    <a:solidFill>
                      <a:srgbClr val="FFFFFF"/>
                    </a:solidFill>
                  </a:tcPr>
                </a:tc>
              </a:tr>
              <a:tr h="571500">
                <a:tc>
                  <a:txBody>
                    <a:bodyPr/>
                    <a:lstStyle/>
                    <a:p>
                      <a:pPr algn="l">
                        <a:buNone/>
                      </a:pPr>
                      <a:r>
                        <a:rPr sz="1650" b="0">
                          <a:solidFill>
                            <a:srgbClr val="000000"/>
                          </a:solidFill>
                          <a:latin typeface="Arial"/>
                          <a:ea typeface="Arial"/>
                          <a:cs typeface="Arial"/>
                        </a:rPr>
                        <a:t>Half-Mamba</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84.95%</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82.41%</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80.46%</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91.99%</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1.638M</a:t>
                      </a:r>
                    </a:p>
                  </a:txBody>
                  <a:tcPr marL="91440" marR="91440" marT="45720" marB="45720">
                    <a:solidFill>
                      <a:srgbClr val="FFFFFF"/>
                    </a:solidFill>
                  </a:tcPr>
                </a:tc>
              </a:tr>
              <a:tr h="571500">
                <a:tc>
                  <a:txBody>
                    <a:bodyPr/>
                    <a:lstStyle/>
                    <a:p>
                      <a:pPr algn="l">
                        <a:buNone/>
                      </a:pPr>
                      <a:r>
                        <a:rPr sz="1650" b="0">
                          <a:solidFill>
                            <a:srgbClr val="000000"/>
                          </a:solidFill>
                          <a:latin typeface="Arial"/>
                          <a:ea typeface="Arial"/>
                          <a:cs typeface="Arial"/>
                        </a:rPr>
                        <a:t>Attention U-Net</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74.78%</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69.43%</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72.38%</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82.53%</a:t>
                      </a:r>
                    </a:p>
                  </a:txBody>
                  <a:tcPr marL="91440" marR="91440" marT="45720" marB="45720">
                    <a:solidFill>
                      <a:srgbClr val="FFFFFF"/>
                    </a:solidFill>
                  </a:tcPr>
                </a:tc>
                <a:tc>
                  <a:txBody>
                    <a:bodyPr/>
                    <a:lstStyle/>
                    <a:p>
                      <a:pPr algn="ctr">
                        <a:buNone/>
                      </a:pPr>
                      <a:r>
                        <a:rPr sz="1650" b="0">
                          <a:solidFill>
                            <a:srgbClr val="000000"/>
                          </a:solidFill>
                          <a:latin typeface="Arial"/>
                          <a:ea typeface="Arial"/>
                          <a:cs typeface="Arial"/>
                        </a:rPr>
                        <a:t>5.909M</a:t>
                      </a:r>
                    </a:p>
                  </a:txBody>
                  <a:tcPr marL="91440" marR="91440" marT="45720" marB="45720">
                    <a:solidFill>
                      <a:srgbClr val="FFFFFF"/>
                    </a:solidFill>
                  </a:tcPr>
                </a:tc>
              </a:tr>
              <a:tr h="571500">
                <a:tc>
                  <a:txBody>
                    <a:bodyPr/>
                    <a:lstStyle/>
                    <a:p>
                      <a:pPr algn="l">
                        <a:buNone/>
                      </a:pPr>
                      <a:r>
                        <a:rPr sz="1650" b="1">
                          <a:solidFill>
                            <a:srgbClr val="000000"/>
                          </a:solidFill>
                          <a:latin typeface="Arial"/>
                          <a:ea typeface="Arial"/>
                          <a:cs typeface="Arial"/>
                        </a:rPr>
                        <a:t>SegResNet16</a:t>
                      </a:r>
                    </a:p>
                  </a:txBody>
                  <a:tcPr marL="91440" marR="91440" marT="45720" marB="45720">
                    <a:solidFill>
                      <a:srgbClr val="EDEDED"/>
                    </a:solidFill>
                  </a:tcPr>
                </a:tc>
                <a:tc>
                  <a:txBody>
                    <a:bodyPr/>
                    <a:lstStyle/>
                    <a:p>
                      <a:pPr algn="ctr">
                        <a:buNone/>
                      </a:pPr>
                      <a:r>
                        <a:rPr sz="1650" b="1">
                          <a:solidFill>
                            <a:srgbClr val="000000"/>
                          </a:solidFill>
                          <a:latin typeface="Arial"/>
                          <a:ea typeface="Arial"/>
                          <a:cs typeface="Arial"/>
                        </a:rPr>
                        <a:t>86.70%</a:t>
                      </a:r>
                    </a:p>
                  </a:txBody>
                  <a:tcPr marL="91440" marR="91440" marT="45720" marB="45720">
                    <a:solidFill>
                      <a:srgbClr val="EDEDED"/>
                    </a:solidFill>
                  </a:tcPr>
                </a:tc>
                <a:tc>
                  <a:txBody>
                    <a:bodyPr/>
                    <a:lstStyle/>
                    <a:p>
                      <a:pPr algn="ctr">
                        <a:buNone/>
                      </a:pPr>
                      <a:r>
                        <a:rPr sz="1650" b="1">
                          <a:solidFill>
                            <a:srgbClr val="000000"/>
                          </a:solidFill>
                          <a:latin typeface="Arial"/>
                          <a:ea typeface="Arial"/>
                          <a:cs typeface="Arial"/>
                        </a:rPr>
                        <a:t>84.30%</a:t>
                      </a:r>
                    </a:p>
                  </a:txBody>
                  <a:tcPr marL="91440" marR="91440" marT="45720" marB="45720">
                    <a:solidFill>
                      <a:srgbClr val="EDEDED"/>
                    </a:solidFill>
                  </a:tcPr>
                </a:tc>
                <a:tc>
                  <a:txBody>
                    <a:bodyPr/>
                    <a:lstStyle/>
                    <a:p>
                      <a:pPr algn="ctr">
                        <a:buNone/>
                      </a:pPr>
                      <a:r>
                        <a:rPr sz="1650" b="1">
                          <a:solidFill>
                            <a:srgbClr val="000000"/>
                          </a:solidFill>
                          <a:latin typeface="Arial"/>
                          <a:ea typeface="Arial"/>
                          <a:cs typeface="Arial"/>
                        </a:rPr>
                        <a:t>82.76%</a:t>
                      </a:r>
                    </a:p>
                  </a:txBody>
                  <a:tcPr marL="91440" marR="91440" marT="45720" marB="45720">
                    <a:solidFill>
                      <a:srgbClr val="EDEDED"/>
                    </a:solidFill>
                  </a:tcPr>
                </a:tc>
                <a:tc>
                  <a:txBody>
                    <a:bodyPr/>
                    <a:lstStyle/>
                    <a:p>
                      <a:pPr algn="ctr">
                        <a:buNone/>
                      </a:pPr>
                      <a:r>
                        <a:rPr sz="1650" b="1">
                          <a:solidFill>
                            <a:srgbClr val="000000"/>
                          </a:solidFill>
                          <a:latin typeface="Arial"/>
                          <a:ea typeface="Arial"/>
                          <a:cs typeface="Arial"/>
                        </a:rPr>
                        <a:t>93.03%</a:t>
                      </a:r>
                    </a:p>
                  </a:txBody>
                  <a:tcPr marL="91440" marR="91440" marT="45720" marB="45720">
                    <a:solidFill>
                      <a:srgbClr val="EDEDED"/>
                    </a:solidFill>
                  </a:tcPr>
                </a:tc>
                <a:tc>
                  <a:txBody>
                    <a:bodyPr/>
                    <a:lstStyle/>
                    <a:p>
                      <a:pPr algn="ctr">
                        <a:buNone/>
                      </a:pPr>
                      <a:r>
                        <a:rPr sz="1650" b="1">
                          <a:solidFill>
                            <a:srgbClr val="000000"/>
                          </a:solidFill>
                          <a:latin typeface="Arial"/>
                          <a:ea typeface="Arial"/>
                          <a:cs typeface="Arial"/>
                        </a:rPr>
                        <a:t>4.701M</a:t>
                      </a:r>
                    </a:p>
                  </a:txBody>
                  <a:tcPr marL="91440" marR="91440" marT="45720" marB="45720">
                    <a:solidFill>
                      <a:srgbClr val="EDEDED"/>
                    </a:solidFill>
                  </a:tcPr>
                </a:tc>
              </a:tr>
            </a:tbl>
          </a:graphicData>
        </a:graphic>
      </p:graphicFrame>
      <p:sp>
        <p:nvSpPr>
          <p:cNvPr id="6" name="">
            <a:extLst xmlns:a="http://schemas.openxmlformats.org/drawingml/2006/main">
              <a:ext uri="{FF2B5EF4-FFF2-40B4-BE49-F238E27FC236}">
                <a16:creationId xmlns:a16="http://schemas.microsoft.com/office/drawing/2014/main" id="{CD6DAE79-A310-463A-A9D4-683E5893EC7C}"/>
              </a:ext>
            </a:extLst>
          </p:cNvPr>
          <p:cNvSpPr>
            <a:spLocks xmlns:a="http://schemas.openxmlformats.org/drawingml/2006/main" noGrp="1"/>
          </p:cNvSpPr>
          <p:nvPr/>
        </p:nvSpPr>
        <p:spPr>
          <a:xfrm xmlns:a="http://schemas.openxmlformats.org/drawingml/2006/main">
            <a:off x="8572500" y="5781675"/>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926"/>
          </a:bodyPr>
          <a:lstStyle xmlns:a="http://schemas.openxmlformats.org/drawingml/2006/main"/>
          <a:p xmlns:a="http://schemas.openxmlformats.org/drawingml/2006/main">
            <a:pPr algn="l">
              <a:buNone/>
              <a:defRPr sz="1350" b="1" i="0">
                <a:solidFill>
                  <a:srgbClr val="000000"/>
                </a:solidFill>
                <a:latin typeface="Arial"/>
                <a:ea typeface="Arial"/>
                <a:cs typeface="Arial"/>
              </a:defRPr>
            </a:pPr>
            <a:r>
              <a:rPr sz="1350" b="1" i="0">
                <a:solidFill>
                  <a:srgbClr val="000000"/>
                </a:solidFill>
                <a:latin typeface="Arial"/>
                <a:ea typeface="Arial"/>
                <a:cs typeface="Arial"/>
              </a:rPr>
              <a:t>Highest Dice</a:t>
            </a:r>
          </a:p>
        </p:txBody>
      </p:sp>
      <p:sp>
        <p:nvSpPr>
          <p:cNvPr id="7" name="">
            <a:extLst xmlns:a="http://schemas.openxmlformats.org/drawingml/2006/main">
              <a:ext uri="{FF2B5EF4-FFF2-40B4-BE49-F238E27FC236}">
                <a16:creationId xmlns:a16="http://schemas.microsoft.com/office/drawing/2014/main" id="{D65FEDB2-EA74-4D04-8C3F-C4376EFA36F0}"/>
              </a:ext>
            </a:extLst>
          </p:cNvPr>
          <p:cNvSpPr>
            <a:spLocks xmlns:a="http://schemas.openxmlformats.org/drawingml/2006/main" noGrp="1"/>
          </p:cNvSpPr>
          <p:nvPr/>
        </p:nvSpPr>
        <p:spPr>
          <a:xfrm xmlns:a="http://schemas.openxmlformats.org/drawingml/2006/main">
            <a:off x="10077450" y="5781675"/>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926"/>
          </a:bodyPr>
          <a:lstStyle xmlns:a="http://schemas.openxmlformats.org/drawingml/2006/main"/>
          <a:p xmlns:a="http://schemas.openxmlformats.org/drawingml/2006/main">
            <a:pPr algn="r">
              <a:buNone/>
              <a:defRPr sz="1350" b="1" i="0">
                <a:solidFill>
                  <a:srgbClr val="3D8DFF"/>
                </a:solidFill>
                <a:latin typeface="Arial"/>
                <a:ea typeface="Arial"/>
                <a:cs typeface="Arial"/>
              </a:defRPr>
            </a:pPr>
            <a:r>
              <a:rPr sz="1350" b="1" i="0">
                <a:solidFill>
                  <a:srgbClr val="3D8DFF"/>
                </a:solidFill>
                <a:latin typeface="Arial"/>
                <a:ea typeface="Arial"/>
                <a:cs typeface="Arial"/>
              </a:rPr>
              <a:t>Smallest reported size</a:t>
            </a:r>
          </a:p>
        </p:txBody>
      </p:sp>
      <p:sp>
        <p:nvSpPr>
          <p:cNvPr id="8" name="">
            <a:extLst xmlns:a="http://schemas.openxmlformats.org/drawingml/2006/main">
              <a:ext uri="{FF2B5EF4-FFF2-40B4-BE49-F238E27FC236}">
                <a16:creationId xmlns:a16="http://schemas.microsoft.com/office/drawing/2014/main" id="{5C4AD900-1CB4-4E84-BE76-5CEE3748EB34}"/>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audited summary_metrics.csv; percentages rounded to two decimals for display</a:t>
            </a:r>
          </a:p>
        </p:txBody>
      </p:sp>
    </p:spTree>
    <p:extLst>
      <p:ext uri="{BB962C8B-B14F-4D97-AF65-F5344CB8AC3E}">
        <p14:creationId xmlns:p14="http://schemas.microsoft.com/office/powerpoint/2010/main" val="200228066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573780C-B9B3-4B3B-9C22-ACEEA894EE0E}"/>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C8452967-003E-4A79-AA8F-8C8B94CD1F1A}"/>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Nano-Mamba occupies a useful accuracy–parameter corner</a:t>
            </a:r>
          </a:p>
        </p:txBody>
      </p:sp>
      <p:sp>
        <p:nvSpPr>
          <p:cNvPr id="3" name="">
            <a:extLst xmlns:a="http://schemas.openxmlformats.org/drawingml/2006/main">
              <a:ext uri="{FF2B5EF4-FFF2-40B4-BE49-F238E27FC236}">
                <a16:creationId xmlns:a16="http://schemas.microsoft.com/office/drawing/2014/main" id="{2A85CFD6-379F-4DD9-83C9-497AE991C79B}"/>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4C99F365-45FC-4134-AF49-2C450338C9DC}"/>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7</a:t>
            </a:r>
          </a:p>
        </p:txBody>
      </p:sp>
      <p:sp>
        <p:nvSpPr>
          <p:cNvPr id="5" name="">
            <a:extLst xmlns:a="http://schemas.openxmlformats.org/drawingml/2006/main">
              <a:ext uri="{FF2B5EF4-FFF2-40B4-BE49-F238E27FC236}">
                <a16:creationId xmlns:a16="http://schemas.microsoft.com/office/drawing/2014/main" id="{A544098B-600B-4911-BC97-51BE936E558A}"/>
              </a:ext>
            </a:extLst>
          </p:cNvPr>
          <p:cNvSpPr>
            <a:spLocks xmlns:a="http://schemas.openxmlformats.org/drawingml/2006/main" noGrp="1"/>
          </p:cNvSpPr>
          <p:nvPr/>
        </p:nvSpPr>
        <p:spPr>
          <a:xfrm xmlns:a="http://schemas.openxmlformats.org/drawingml/2006/main">
            <a:off x="495300" y="1504950"/>
            <a:ext cx="7810500" cy="46863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b87a48cec8c4b0a"/>
          <a:stretch xmlns:a="http://schemas.openxmlformats.org/drawingml/2006/main"/>
        </p:blipFill>
        <p:spPr>
          <a:xfrm xmlns:a="http://schemas.openxmlformats.org/drawingml/2006/main">
            <a:off x="688537" y="1504950"/>
            <a:ext cx="7424027" cy="4686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842967C-3E1D-437F-89ED-1CF4A859B7B7}"/>
              </a:ext>
            </a:extLst>
          </p:cNvPr>
          <p:cNvSpPr>
            <a:spLocks xmlns:a="http://schemas.openxmlformats.org/drawingml/2006/main" noGrp="1"/>
          </p:cNvSpPr>
          <p:nvPr/>
        </p:nvSpPr>
        <p:spPr>
          <a:xfrm xmlns:a="http://schemas.openxmlformats.org/drawingml/2006/main">
            <a:off x="8763000" y="194310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167"/>
          </a:bodyPr>
          <a:lstStyle xmlns:a="http://schemas.openxmlformats.org/drawingml/2006/main"/>
          <a:p xmlns:a="http://schemas.openxmlformats.org/drawingml/2006/main">
            <a:pPr algn="l">
              <a:buNone/>
              <a:defRPr sz="3000" b="1" i="0">
                <a:solidFill>
                  <a:srgbClr val="3D8DFF"/>
                </a:solidFill>
                <a:latin typeface="Arial"/>
                <a:ea typeface="Arial"/>
                <a:cs typeface="Arial"/>
              </a:defRPr>
            </a:pPr>
            <a:r>
              <a:rPr sz="3000" b="1" i="0">
                <a:solidFill>
                  <a:srgbClr val="3D8DFF"/>
                </a:solidFill>
                <a:latin typeface="Arial"/>
                <a:ea typeface="Arial"/>
                <a:cs typeface="Arial"/>
              </a:rPr>
              <a:t>+3.945 pp</a:t>
            </a:r>
          </a:p>
        </p:txBody>
      </p:sp>
      <p:sp>
        <p:nvSpPr>
          <p:cNvPr id="8" name="">
            <a:extLst xmlns:a="http://schemas.openxmlformats.org/drawingml/2006/main">
              <a:ext uri="{FF2B5EF4-FFF2-40B4-BE49-F238E27FC236}">
                <a16:creationId xmlns:a16="http://schemas.microsoft.com/office/drawing/2014/main" id="{085E7E21-ACA7-433E-A8FD-076F65C75B8D}"/>
              </a:ext>
            </a:extLst>
          </p:cNvPr>
          <p:cNvSpPr>
            <a:spLocks xmlns:a="http://schemas.openxmlformats.org/drawingml/2006/main" noGrp="1"/>
          </p:cNvSpPr>
          <p:nvPr/>
        </p:nvSpPr>
        <p:spPr>
          <a:xfrm xmlns:a="http://schemas.openxmlformats.org/drawingml/2006/main">
            <a:off x="8763000" y="24574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97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vs UNet · CI [+2.83, +5.01]</a:t>
            </a:r>
          </a:p>
        </p:txBody>
      </p:sp>
      <p:sp>
        <p:nvSpPr>
          <p:cNvPr id="9" name="">
            <a:extLst xmlns:a="http://schemas.openxmlformats.org/drawingml/2006/main">
              <a:ext uri="{FF2B5EF4-FFF2-40B4-BE49-F238E27FC236}">
                <a16:creationId xmlns:a16="http://schemas.microsoft.com/office/drawing/2014/main" id="{0BFC18D0-85E5-4631-99BE-3C48AD54E7EA}"/>
              </a:ext>
            </a:extLst>
          </p:cNvPr>
          <p:cNvSpPr>
            <a:spLocks xmlns:a="http://schemas.openxmlformats.org/drawingml/2006/main" noGrp="1"/>
          </p:cNvSpPr>
          <p:nvPr/>
        </p:nvSpPr>
        <p:spPr>
          <a:xfrm xmlns:a="http://schemas.openxmlformats.org/drawingml/2006/main">
            <a:off x="8763000" y="331470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167"/>
          </a:bodyPr>
          <a:lstStyle xmlns:a="http://schemas.openxmlformats.org/drawingml/2006/main"/>
          <a:p xmlns:a="http://schemas.openxmlformats.org/drawingml/2006/main">
            <a:pPr algn="l">
              <a:buNone/>
              <a:defRPr sz="3000" b="1" i="0">
                <a:solidFill>
                  <a:srgbClr val="3D8DFF"/>
                </a:solidFill>
                <a:latin typeface="Arial"/>
                <a:ea typeface="Arial"/>
                <a:cs typeface="Arial"/>
              </a:defRPr>
            </a:pPr>
            <a:r>
              <a:rPr sz="3000" b="1" i="0">
                <a:solidFill>
                  <a:srgbClr val="3D8DFF"/>
                </a:solidFill>
                <a:latin typeface="Arial"/>
                <a:ea typeface="Arial"/>
                <a:cs typeface="Arial"/>
              </a:rPr>
              <a:t>−69.714%</a:t>
            </a:r>
          </a:p>
        </p:txBody>
      </p:sp>
      <p:sp>
        <p:nvSpPr>
          <p:cNvPr id="10" name="">
            <a:extLst xmlns:a="http://schemas.openxmlformats.org/drawingml/2006/main">
              <a:ext uri="{FF2B5EF4-FFF2-40B4-BE49-F238E27FC236}">
                <a16:creationId xmlns:a16="http://schemas.microsoft.com/office/drawing/2014/main" id="{51891918-3728-427C-8F76-1EB03F132CB7}"/>
              </a:ext>
            </a:extLst>
          </p:cNvPr>
          <p:cNvSpPr>
            <a:spLocks xmlns:a="http://schemas.openxmlformats.org/drawingml/2006/main" noGrp="1"/>
          </p:cNvSpPr>
          <p:nvPr/>
        </p:nvSpPr>
        <p:spPr>
          <a:xfrm xmlns:a="http://schemas.openxmlformats.org/drawingml/2006/main">
            <a:off x="8763000" y="38290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03"/>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reported parameters vs UNet3D</a:t>
            </a:r>
          </a:p>
        </p:txBody>
      </p:sp>
      <p:sp>
        <p:nvSpPr>
          <p:cNvPr id="11" name="">
            <a:extLst xmlns:a="http://schemas.openxmlformats.org/drawingml/2006/main">
              <a:ext uri="{FF2B5EF4-FFF2-40B4-BE49-F238E27FC236}">
                <a16:creationId xmlns:a16="http://schemas.microsoft.com/office/drawing/2014/main" id="{48510238-2093-4BA5-9FB6-CDBE5137B246}"/>
              </a:ext>
            </a:extLst>
          </p:cNvPr>
          <p:cNvSpPr>
            <a:spLocks xmlns:a="http://schemas.openxmlformats.org/drawingml/2006/main" noGrp="1"/>
          </p:cNvSpPr>
          <p:nvPr/>
        </p:nvSpPr>
        <p:spPr>
          <a:xfrm xmlns:a="http://schemas.openxmlformats.org/drawingml/2006/main">
            <a:off x="8763000" y="48196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518"/>
          </a:bodyPr>
          <a:lstStyle xmlns:a="http://schemas.openxmlformats.org/drawingml/2006/main"/>
          <a:p xmlns:a="http://schemas.openxmlformats.org/drawingml/2006/main">
            <a:pPr algn="l">
              <a:buNone/>
              <a:defRPr sz="2700" b="1" i="0">
                <a:solidFill>
                  <a:srgbClr val="000000"/>
                </a:solidFill>
                <a:latin typeface="Arial"/>
                <a:ea typeface="Arial"/>
                <a:cs typeface="Arial"/>
              </a:defRPr>
            </a:pPr>
            <a:r>
              <a:rPr sz="2700" b="1" i="0">
                <a:solidFill>
                  <a:srgbClr val="000000"/>
                </a:solidFill>
                <a:latin typeface="Arial"/>
                <a:ea typeface="Arial"/>
                <a:cs typeface="Arial"/>
              </a:rPr>
              <a:t>−1.918 pp</a:t>
            </a:r>
          </a:p>
        </p:txBody>
      </p:sp>
      <p:sp>
        <p:nvSpPr>
          <p:cNvPr id="12" name="">
            <a:extLst xmlns:a="http://schemas.openxmlformats.org/drawingml/2006/main">
              <a:ext uri="{FF2B5EF4-FFF2-40B4-BE49-F238E27FC236}">
                <a16:creationId xmlns:a16="http://schemas.microsoft.com/office/drawing/2014/main" id="{BB0B2075-2F40-4604-93DC-3B4967810CE0}"/>
              </a:ext>
            </a:extLst>
          </p:cNvPr>
          <p:cNvSpPr>
            <a:spLocks xmlns:a="http://schemas.openxmlformats.org/drawingml/2006/main" noGrp="1"/>
          </p:cNvSpPr>
          <p:nvPr/>
        </p:nvSpPr>
        <p:spPr>
          <a:xfrm xmlns:a="http://schemas.openxmlformats.org/drawingml/2006/main">
            <a:off x="8763000" y="5314950"/>
            <a:ext cx="247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CI [−3.01, −0.88] vs Seg</a:t>
            </a:r>
          </a:p>
        </p:txBody>
      </p:sp>
      <p:sp>
        <p:nvSpPr>
          <p:cNvPr id="13" name="">
            <a:extLst xmlns:a="http://schemas.openxmlformats.org/drawingml/2006/main">
              <a:ext uri="{FF2B5EF4-FFF2-40B4-BE49-F238E27FC236}">
                <a16:creationId xmlns:a16="http://schemas.microsoft.com/office/drawing/2014/main" id="{9BD81AE6-7B94-4151-BE7D-2694715C03A4}"/>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Figure from summary CSV; paired CIs from six recovered per-case CSVs</a:t>
            </a:r>
          </a:p>
        </p:txBody>
      </p:sp>
    </p:spTree>
    <p:extLst>
      <p:ext uri="{BB962C8B-B14F-4D97-AF65-F5344CB8AC3E}">
        <p14:creationId xmlns:p14="http://schemas.microsoft.com/office/powerpoint/2010/main" val="15597119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6AEAA3B-DCA7-4827-A584-3305FB9EF668}"/>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AB876834-57B7-4713-9835-6AB7B9364CF2}"/>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The No-Mamba result prevents a causal accuracy claim</a:t>
            </a:r>
          </a:p>
        </p:txBody>
      </p:sp>
      <p:sp>
        <p:nvSpPr>
          <p:cNvPr id="3" name="">
            <a:extLst xmlns:a="http://schemas.openxmlformats.org/drawingml/2006/main">
              <a:ext uri="{FF2B5EF4-FFF2-40B4-BE49-F238E27FC236}">
                <a16:creationId xmlns:a16="http://schemas.microsoft.com/office/drawing/2014/main" id="{1B2B9A95-3012-4C0C-9AC8-6CF988E57C58}"/>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8E273C9-4E9C-45F4-B393-0B26AC0416DC}"/>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28D98D45-5401-4BE0-A0AF-82011091C0B6}"/>
              </a:ext>
            </a:extLst>
          </p:cNvPr>
          <p:cNvSpPr>
            <a:spLocks xmlns:a="http://schemas.openxmlformats.org/drawingml/2006/main" noGrp="1"/>
          </p:cNvSpPr>
          <p:nvPr/>
        </p:nvSpPr>
        <p:spPr>
          <a:xfrm xmlns:a="http://schemas.openxmlformats.org/drawingml/2006/main">
            <a:off x="914400" y="1962150"/>
            <a:ext cx="3714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81"/>
          </a:bodyPr>
          <a:lstStyle xmlns:a="http://schemas.openxmlformats.org/drawingml/2006/main"/>
          <a:p xmlns:a="http://schemas.openxmlformats.org/drawingml/2006/main">
            <a:pPr algn="l">
              <a:buNone/>
              <a:defRPr sz="5850" b="1" i="0">
                <a:solidFill>
                  <a:srgbClr val="000000"/>
                </a:solidFill>
                <a:latin typeface="Arial"/>
                <a:ea typeface="Arial"/>
                <a:cs typeface="Arial"/>
              </a:defRPr>
            </a:pPr>
            <a:r>
              <a:rPr sz="5850" b="1" i="0">
                <a:solidFill>
                  <a:srgbClr val="000000"/>
                </a:solidFill>
                <a:latin typeface="Arial"/>
                <a:ea typeface="Arial"/>
                <a:cs typeface="Arial"/>
              </a:rPr>
              <a:t>85.64%</a:t>
            </a:r>
          </a:p>
        </p:txBody>
      </p:sp>
      <p:sp>
        <p:nvSpPr>
          <p:cNvPr id="6" name="">
            <a:extLst xmlns:a="http://schemas.openxmlformats.org/drawingml/2006/main">
              <a:ext uri="{FF2B5EF4-FFF2-40B4-BE49-F238E27FC236}">
                <a16:creationId xmlns:a16="http://schemas.microsoft.com/office/drawing/2014/main" id="{E642B023-626B-4280-8A48-EDCE6EAF3121}"/>
              </a:ext>
            </a:extLst>
          </p:cNvPr>
          <p:cNvSpPr>
            <a:spLocks xmlns:a="http://schemas.openxmlformats.org/drawingml/2006/main" noGrp="1"/>
          </p:cNvSpPr>
          <p:nvPr/>
        </p:nvSpPr>
        <p:spPr>
          <a:xfrm xmlns:a="http://schemas.openxmlformats.org/drawingml/2006/main">
            <a:off x="914400" y="29718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950" b="0" i="0">
                <a:solidFill>
                  <a:srgbClr val="5F6670"/>
                </a:solidFill>
                <a:latin typeface="Arial"/>
                <a:ea typeface="Arial"/>
                <a:cs typeface="Arial"/>
              </a:defRPr>
            </a:pPr>
            <a:r>
              <a:rPr sz="1950" b="0" i="0">
                <a:solidFill>
                  <a:srgbClr val="5F6670"/>
                </a:solidFill>
                <a:latin typeface="Arial"/>
                <a:ea typeface="Arial"/>
                <a:cs typeface="Arial"/>
              </a:rPr>
              <a:t>No-Mamba mean Dice</a:t>
            </a:r>
          </a:p>
        </p:txBody>
      </p:sp>
      <p:sp>
        <p:nvSpPr>
          <p:cNvPr id="7" name="">
            <a:extLst xmlns:a="http://schemas.openxmlformats.org/drawingml/2006/main">
              <a:ext uri="{FF2B5EF4-FFF2-40B4-BE49-F238E27FC236}">
                <a16:creationId xmlns:a16="http://schemas.microsoft.com/office/drawing/2014/main" id="{51E39B67-732A-454B-A53E-F05B938DCCBC}"/>
              </a:ext>
            </a:extLst>
          </p:cNvPr>
          <p:cNvSpPr>
            <a:spLocks xmlns:a="http://schemas.openxmlformats.org/drawingml/2006/main" noGrp="1"/>
          </p:cNvSpPr>
          <p:nvPr/>
        </p:nvSpPr>
        <p:spPr>
          <a:xfrm xmlns:a="http://schemas.openxmlformats.org/drawingml/2006/main">
            <a:off x="7048500" y="1962150"/>
            <a:ext cx="3714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81"/>
          </a:bodyPr>
          <a:lstStyle xmlns:a="http://schemas.openxmlformats.org/drawingml/2006/main"/>
          <a:p xmlns:a="http://schemas.openxmlformats.org/drawingml/2006/main">
            <a:pPr algn="l">
              <a:buNone/>
              <a:defRPr sz="5850" b="1" i="0">
                <a:solidFill>
                  <a:srgbClr val="3D8DFF"/>
                </a:solidFill>
                <a:latin typeface="Arial"/>
                <a:ea typeface="Arial"/>
                <a:cs typeface="Arial"/>
              </a:defRPr>
            </a:pPr>
            <a:r>
              <a:rPr sz="5850" b="1" i="0">
                <a:solidFill>
                  <a:srgbClr val="3D8DFF"/>
                </a:solidFill>
                <a:latin typeface="Arial"/>
                <a:ea typeface="Arial"/>
                <a:cs typeface="Arial"/>
              </a:rPr>
              <a:t>84.78%</a:t>
            </a:r>
          </a:p>
        </p:txBody>
      </p:sp>
      <p:sp>
        <p:nvSpPr>
          <p:cNvPr id="8" name="">
            <a:extLst xmlns:a="http://schemas.openxmlformats.org/drawingml/2006/main">
              <a:ext uri="{FF2B5EF4-FFF2-40B4-BE49-F238E27FC236}">
                <a16:creationId xmlns:a16="http://schemas.microsoft.com/office/drawing/2014/main" id="{F265CF07-7FEF-4E0D-8975-22C9284C9C85}"/>
              </a:ext>
            </a:extLst>
          </p:cNvPr>
          <p:cNvSpPr>
            <a:spLocks xmlns:a="http://schemas.openxmlformats.org/drawingml/2006/main" noGrp="1"/>
          </p:cNvSpPr>
          <p:nvPr/>
        </p:nvSpPr>
        <p:spPr>
          <a:xfrm xmlns:a="http://schemas.openxmlformats.org/drawingml/2006/main">
            <a:off x="7048500" y="29718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950" b="0" i="0">
                <a:solidFill>
                  <a:srgbClr val="5F6670"/>
                </a:solidFill>
                <a:latin typeface="Arial"/>
                <a:ea typeface="Arial"/>
                <a:cs typeface="Arial"/>
              </a:defRPr>
            </a:pPr>
            <a:r>
              <a:rPr sz="1950" b="0" i="0">
                <a:solidFill>
                  <a:srgbClr val="5F6670"/>
                </a:solidFill>
                <a:latin typeface="Arial"/>
                <a:ea typeface="Arial"/>
                <a:cs typeface="Arial"/>
              </a:rPr>
              <a:t>Nano-Mamba mean Dice</a:t>
            </a:r>
          </a:p>
        </p:txBody>
      </p:sp>
      <p:sp>
        <p:nvSpPr>
          <p:cNvPr id="9" name="">
            <a:extLst xmlns:a="http://schemas.openxmlformats.org/drawingml/2006/main">
              <a:ext uri="{FF2B5EF4-FFF2-40B4-BE49-F238E27FC236}">
                <a16:creationId xmlns:a16="http://schemas.microsoft.com/office/drawing/2014/main" id="{F744C72D-9FD3-4009-96B8-D8B203D3BDF1}"/>
              </a:ext>
            </a:extLst>
          </p:cNvPr>
          <p:cNvSpPr>
            <a:spLocks xmlns:a="http://schemas.openxmlformats.org/drawingml/2006/main" noGrp="1"/>
          </p:cNvSpPr>
          <p:nvPr/>
        </p:nvSpPr>
        <p:spPr>
          <a:xfrm xmlns:a="http://schemas.openxmlformats.org/drawingml/2006/main">
            <a:off x="5200650" y="1828800"/>
            <a:ext cx="0" cy="175260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0" name="">
            <a:extLst xmlns:a="http://schemas.openxmlformats.org/drawingml/2006/main">
              <a:ext uri="{FF2B5EF4-FFF2-40B4-BE49-F238E27FC236}">
                <a16:creationId xmlns:a16="http://schemas.microsoft.com/office/drawing/2014/main" id="{9F97F654-94DE-478D-A6B8-6517885C334E}"/>
              </a:ext>
            </a:extLst>
          </p:cNvPr>
          <p:cNvSpPr>
            <a:spLocks xmlns:a="http://schemas.openxmlformats.org/drawingml/2006/main" noGrp="1"/>
          </p:cNvSpPr>
          <p:nvPr/>
        </p:nvSpPr>
        <p:spPr>
          <a:xfrm xmlns:a="http://schemas.openxmlformats.org/drawingml/2006/main">
            <a:off x="4914900" y="242887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2250" b="1" i="0">
                <a:solidFill>
                  <a:srgbClr val="000000"/>
                </a:solidFill>
                <a:latin typeface="Arial"/>
                <a:ea typeface="Arial"/>
                <a:cs typeface="Arial"/>
              </a:defRPr>
            </a:pPr>
            <a:r>
              <a:rPr sz="2250" b="1" i="0">
                <a:solidFill>
                  <a:srgbClr val="000000"/>
                </a:solidFill>
                <a:latin typeface="Arial"/>
                <a:ea typeface="Arial"/>
                <a:cs typeface="Arial"/>
              </a:rPr>
              <a:t>+0.862 pp</a:t>
            </a:r>
          </a:p>
        </p:txBody>
      </p:sp>
      <p:sp>
        <p:nvSpPr>
          <p:cNvPr id="11" name="">
            <a:extLst xmlns:a="http://schemas.openxmlformats.org/drawingml/2006/main">
              <a:ext uri="{FF2B5EF4-FFF2-40B4-BE49-F238E27FC236}">
                <a16:creationId xmlns:a16="http://schemas.microsoft.com/office/drawing/2014/main" id="{12B4654A-331B-4809-A3CE-386265C552C6}"/>
              </a:ext>
            </a:extLst>
          </p:cNvPr>
          <p:cNvSpPr>
            <a:spLocks xmlns:a="http://schemas.openxmlformats.org/drawingml/2006/main" noGrp="1"/>
          </p:cNvSpPr>
          <p:nvPr/>
        </p:nvSpPr>
        <p:spPr>
          <a:xfrm xmlns:a="http://schemas.openxmlformats.org/drawingml/2006/main">
            <a:off x="914400" y="4095750"/>
            <a:ext cx="9886950" cy="14668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6362408-322D-4F7E-B2A2-4D569642C6C1}"/>
              </a:ext>
            </a:extLst>
          </p:cNvPr>
          <p:cNvSpPr>
            <a:spLocks xmlns:a="http://schemas.openxmlformats.org/drawingml/2006/main" noGrp="1"/>
          </p:cNvSpPr>
          <p:nvPr/>
        </p:nvSpPr>
        <p:spPr>
          <a:xfrm xmlns:a="http://schemas.openxmlformats.org/drawingml/2006/main">
            <a:off x="1162050" y="4305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542"/>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Interpretation</a:t>
            </a:r>
          </a:p>
        </p:txBody>
      </p:sp>
      <p:sp>
        <p:nvSpPr>
          <p:cNvPr id="13" name="">
            <a:extLst xmlns:a="http://schemas.openxmlformats.org/drawingml/2006/main">
              <a:ext uri="{FF2B5EF4-FFF2-40B4-BE49-F238E27FC236}">
                <a16:creationId xmlns:a16="http://schemas.microsoft.com/office/drawing/2014/main" id="{CCC55DFF-BBC0-4911-8040-91C47EC11323}"/>
              </a:ext>
            </a:extLst>
          </p:cNvPr>
          <p:cNvSpPr>
            <a:spLocks xmlns:a="http://schemas.openxmlformats.org/drawingml/2006/main" noGrp="1"/>
          </p:cNvSpPr>
          <p:nvPr/>
        </p:nvSpPr>
        <p:spPr>
          <a:xfrm xmlns:a="http://schemas.openxmlformats.org/drawingml/2006/main">
            <a:off x="1162050" y="4762500"/>
            <a:ext cx="9391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000000"/>
                </a:solidFill>
                <a:latin typeface="Arial"/>
                <a:ea typeface="Arial"/>
                <a:cs typeface="Arial"/>
              </a:defRPr>
            </a:pPr>
            <a:r>
              <a:rPr sz="1650" b="0" i="0">
                <a:solidFill>
                  <a:srgbClr val="000000"/>
                </a:solidFill>
                <a:latin typeface="Arial"/>
                <a:ea typeface="Arial"/>
                <a:cs typeface="Arial"/>
              </a:rPr>
              <a:t>Paired Nano − No-Mamba interval: [−1.48, −0.23] pp. No-Mamba is higher on this split, but 57.076% more parameters and structural confounds prevent a causal gate conclusion.</a:t>
            </a:r>
          </a:p>
        </p:txBody>
      </p:sp>
      <p:sp>
        <p:nvSpPr>
          <p:cNvPr id="14" name="">
            <a:extLst xmlns:a="http://schemas.openxmlformats.org/drawingml/2006/main">
              <a:ext uri="{FF2B5EF4-FFF2-40B4-BE49-F238E27FC236}">
                <a16:creationId xmlns:a16="http://schemas.microsoft.com/office/drawing/2014/main" id="{81BCA3AC-B557-4DF8-B8E0-8ADDA778B771}"/>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summary CSV, six recovered per-case CSVs, and model definitions</a:t>
            </a:r>
          </a:p>
        </p:txBody>
      </p:sp>
    </p:spTree>
    <p:extLst>
      <p:ext uri="{BB962C8B-B14F-4D97-AF65-F5344CB8AC3E}">
        <p14:creationId xmlns:p14="http://schemas.microsoft.com/office/powerpoint/2010/main" val="1374561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B95D73E-4660-4CC0-8D52-37F65B3ABB75}"/>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A655503B-7EEA-45E2-90CD-D9718A30EEA3}"/>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From segmentation to full-cine function</a:t>
            </a:r>
          </a:p>
        </p:txBody>
      </p:sp>
      <p:sp>
        <p:nvSpPr>
          <p:cNvPr id="3" name="">
            <a:extLst xmlns:a="http://schemas.openxmlformats.org/drawingml/2006/main">
              <a:ext uri="{FF2B5EF4-FFF2-40B4-BE49-F238E27FC236}">
                <a16:creationId xmlns:a16="http://schemas.microsoft.com/office/drawing/2014/main" id="{902EDD27-44FD-4598-8C81-62851F150F32}"/>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C84384EC-7C06-49C2-A361-315BBDBE9AF7}"/>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E0BAB84F-5AAF-442C-B40B-82785382D637}"/>
              </a:ext>
            </a:extLst>
          </p:cNvPr>
          <p:cNvSpPr>
            <a:spLocks xmlns:a="http://schemas.openxmlformats.org/drawingml/2006/main" noGrp="1"/>
          </p:cNvSpPr>
          <p:nvPr/>
        </p:nvSpPr>
        <p:spPr>
          <a:xfrm xmlns:a="http://schemas.openxmlformats.org/drawingml/2006/main">
            <a:off x="685800" y="3124200"/>
            <a:ext cx="10820400" cy="0"/>
          </a:xfrm>
          <a:prstGeom xmlns:a="http://schemas.openxmlformats.org/drawingml/2006/main" prst="line">
            <a:avLst/>
          </a:prstGeom>
          <a:noFill xmlns:a="http://schemas.openxmlformats.org/drawingml/2006/main"/>
          <a:ln xmlns:a="http://schemas.openxmlformats.org/drawingml/2006/main" w="19050">
            <a:solidFill>
              <a:srgbClr val="000000"/>
            </a:solidFill>
            <a:prstDash val="solid"/>
          </a:ln>
        </p:spPr>
      </p:sp>
      <p:sp>
        <p:nvSpPr>
          <p:cNvPr id="6" name="">
            <a:extLst xmlns:a="http://schemas.openxmlformats.org/drawingml/2006/main">
              <a:ext uri="{FF2B5EF4-FFF2-40B4-BE49-F238E27FC236}">
                <a16:creationId xmlns:a16="http://schemas.microsoft.com/office/drawing/2014/main" id="{8DA6E1D8-EA99-4922-A6B4-965D15BDEE03}"/>
              </a:ext>
            </a:extLst>
          </p:cNvPr>
          <p:cNvSpPr>
            <a:spLocks xmlns:a="http://schemas.openxmlformats.org/drawingml/2006/main" noGrp="1"/>
          </p:cNvSpPr>
          <p:nvPr/>
        </p:nvSpPr>
        <p:spPr>
          <a:xfrm xmlns:a="http://schemas.openxmlformats.org/drawingml/2006/main">
            <a:off x="104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B747D8C-1AAC-413F-8280-C446C2CA7AAE}"/>
              </a:ext>
            </a:extLst>
          </p:cNvPr>
          <p:cNvSpPr>
            <a:spLocks xmlns:a="http://schemas.openxmlformats.org/drawingml/2006/main" noGrp="1"/>
          </p:cNvSpPr>
          <p:nvPr/>
        </p:nvSpPr>
        <p:spPr>
          <a:xfrm xmlns:a="http://schemas.openxmlformats.org/drawingml/2006/main">
            <a:off x="4857750" y="3057525"/>
            <a:ext cx="133350" cy="1333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497050-BA3F-4E47-9FCF-B78711FA24D4}"/>
              </a:ext>
            </a:extLst>
          </p:cNvPr>
          <p:cNvSpPr>
            <a:spLocks xmlns:a="http://schemas.openxmlformats.org/drawingml/2006/main" noGrp="1"/>
          </p:cNvSpPr>
          <p:nvPr/>
        </p:nvSpPr>
        <p:spPr>
          <a:xfrm xmlns:a="http://schemas.openxmlformats.org/drawingml/2006/main">
            <a:off x="866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AF2E0B0-5FAA-4BB8-828F-78F2FEF2A256}"/>
              </a:ext>
            </a:extLst>
          </p:cNvPr>
          <p:cNvSpPr>
            <a:spLocks xmlns:a="http://schemas.openxmlformats.org/drawingml/2006/main" noGrp="1"/>
          </p:cNvSpPr>
          <p:nvPr/>
        </p:nvSpPr>
        <p:spPr>
          <a:xfrm xmlns:a="http://schemas.openxmlformats.org/drawingml/2006/main">
            <a:off x="104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902"/>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SPATIAL INFERENCE</a:t>
            </a:r>
          </a:p>
        </p:txBody>
      </p:sp>
      <p:sp>
        <p:nvSpPr>
          <p:cNvPr id="10" name="">
            <a:extLst xmlns:a="http://schemas.openxmlformats.org/drawingml/2006/main">
              <a:ext uri="{FF2B5EF4-FFF2-40B4-BE49-F238E27FC236}">
                <a16:creationId xmlns:a16="http://schemas.microsoft.com/office/drawing/2014/main" id="{A0C49811-26AC-4E80-91D4-10AC240155C8}"/>
              </a:ext>
            </a:extLst>
          </p:cNvPr>
          <p:cNvSpPr>
            <a:spLocks xmlns:a="http://schemas.openxmlformats.org/drawingml/2006/main" noGrp="1"/>
          </p:cNvSpPr>
          <p:nvPr/>
        </p:nvSpPr>
        <p:spPr>
          <a:xfrm xmlns:a="http://schemas.openxmlformats.org/drawingml/2006/main">
            <a:off x="104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550 cine frames</a:t>
            </a:r>
          </a:p>
        </p:txBody>
      </p:sp>
      <p:sp>
        <p:nvSpPr>
          <p:cNvPr id="11" name="">
            <a:extLst xmlns:a="http://schemas.openxmlformats.org/drawingml/2006/main">
              <a:ext uri="{FF2B5EF4-FFF2-40B4-BE49-F238E27FC236}">
                <a16:creationId xmlns:a16="http://schemas.microsoft.com/office/drawing/2014/main" id="{98FE5CE7-5110-40A0-84D2-1F8CD0E15070}"/>
              </a:ext>
            </a:extLst>
          </p:cNvPr>
          <p:cNvSpPr>
            <a:spLocks xmlns:a="http://schemas.openxmlformats.org/drawingml/2006/main" noGrp="1"/>
          </p:cNvSpPr>
          <p:nvPr/>
        </p:nvSpPr>
        <p:spPr>
          <a:xfrm xmlns:a="http://schemas.openxmlformats.org/drawingml/2006/main">
            <a:off x="104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Each 3D phase → Nano-Mamba softmax probabilities</a:t>
            </a:r>
          </a:p>
        </p:txBody>
      </p:sp>
      <p:sp>
        <p:nvSpPr>
          <p:cNvPr id="12" name="">
            <a:extLst xmlns:a="http://schemas.openxmlformats.org/drawingml/2006/main">
              <a:ext uri="{FF2B5EF4-FFF2-40B4-BE49-F238E27FC236}">
                <a16:creationId xmlns:a16="http://schemas.microsoft.com/office/drawing/2014/main" id="{EB21C11B-BFD8-4BAF-8CC5-11123758CD0C}"/>
              </a:ext>
            </a:extLst>
          </p:cNvPr>
          <p:cNvSpPr>
            <a:spLocks xmlns:a="http://schemas.openxmlformats.org/drawingml/2006/main" noGrp="1"/>
          </p:cNvSpPr>
          <p:nvPr/>
        </p:nvSpPr>
        <p:spPr>
          <a:xfrm xmlns:a="http://schemas.openxmlformats.org/drawingml/2006/main">
            <a:off x="485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TEMPORAL STEP</a:t>
            </a:r>
          </a:p>
        </p:txBody>
      </p:sp>
      <p:sp>
        <p:nvSpPr>
          <p:cNvPr id="13" name="">
            <a:extLst xmlns:a="http://schemas.openxmlformats.org/drawingml/2006/main">
              <a:ext uri="{FF2B5EF4-FFF2-40B4-BE49-F238E27FC236}">
                <a16:creationId xmlns:a16="http://schemas.microsoft.com/office/drawing/2014/main" id="{2DCF486D-276D-4819-A54A-383AEDD83AF8}"/>
              </a:ext>
            </a:extLst>
          </p:cNvPr>
          <p:cNvSpPr>
            <a:spLocks xmlns:a="http://schemas.openxmlformats.org/drawingml/2006/main" noGrp="1"/>
          </p:cNvSpPr>
          <p:nvPr/>
        </p:nvSpPr>
        <p:spPr>
          <a:xfrm xmlns:a="http://schemas.openxmlformats.org/drawingml/2006/main">
            <a:off x="485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Fixed fusion</a:t>
            </a:r>
          </a:p>
        </p:txBody>
      </p:sp>
      <p:sp>
        <p:nvSpPr>
          <p:cNvPr id="14" name="">
            <a:extLst xmlns:a="http://schemas.openxmlformats.org/drawingml/2006/main">
              <a:ext uri="{FF2B5EF4-FFF2-40B4-BE49-F238E27FC236}">
                <a16:creationId xmlns:a16="http://schemas.microsoft.com/office/drawing/2014/main" id="{B54A9A30-A1C2-4C33-9308-E0D38180AE7F}"/>
              </a:ext>
            </a:extLst>
          </p:cNvPr>
          <p:cNvSpPr>
            <a:spLocks xmlns:a="http://schemas.openxmlformats.org/drawingml/2006/main" noGrp="1"/>
          </p:cNvSpPr>
          <p:nvPr/>
        </p:nvSpPr>
        <p:spPr>
          <a:xfrm xmlns:a="http://schemas.openxmlformats.org/drawingml/2006/main">
            <a:off x="485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0.25 P(t−1) + 0.50 P(t) + 0.25 P(t+1), with circular phase boundaries</a:t>
            </a:r>
          </a:p>
        </p:txBody>
      </p:sp>
      <p:sp>
        <p:nvSpPr>
          <p:cNvPr id="15" name="">
            <a:extLst xmlns:a="http://schemas.openxmlformats.org/drawingml/2006/main">
              <a:ext uri="{FF2B5EF4-FFF2-40B4-BE49-F238E27FC236}">
                <a16:creationId xmlns:a16="http://schemas.microsoft.com/office/drawing/2014/main" id="{7B83C346-5693-44A1-A2D6-38CCDD7FF9B2}"/>
              </a:ext>
            </a:extLst>
          </p:cNvPr>
          <p:cNvSpPr>
            <a:spLocks xmlns:a="http://schemas.openxmlformats.org/drawingml/2006/main" noGrp="1"/>
          </p:cNvSpPr>
          <p:nvPr/>
        </p:nvSpPr>
        <p:spPr>
          <a:xfrm xmlns:a="http://schemas.openxmlformats.org/drawingml/2006/main">
            <a:off x="866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PHYSICAL OUTPUTS</a:t>
            </a:r>
          </a:p>
        </p:txBody>
      </p:sp>
      <p:sp>
        <p:nvSpPr>
          <p:cNvPr id="16" name="">
            <a:extLst xmlns:a="http://schemas.openxmlformats.org/drawingml/2006/main">
              <a:ext uri="{FF2B5EF4-FFF2-40B4-BE49-F238E27FC236}">
                <a16:creationId xmlns:a16="http://schemas.microsoft.com/office/drawing/2014/main" id="{95345CA3-3E48-44FF-AFDE-ED6ACC45FF1B}"/>
              </a:ext>
            </a:extLst>
          </p:cNvPr>
          <p:cNvSpPr>
            <a:spLocks xmlns:a="http://schemas.openxmlformats.org/drawingml/2006/main" noGrp="1"/>
          </p:cNvSpPr>
          <p:nvPr/>
        </p:nvSpPr>
        <p:spPr>
          <a:xfrm xmlns:a="http://schemas.openxmlformats.org/drawingml/2006/main">
            <a:off x="866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473"/>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Native-grid measures</a:t>
            </a:r>
          </a:p>
        </p:txBody>
      </p:sp>
      <p:sp>
        <p:nvSpPr>
          <p:cNvPr id="17" name="">
            <a:extLst xmlns:a="http://schemas.openxmlformats.org/drawingml/2006/main">
              <a:ext uri="{FF2B5EF4-FFF2-40B4-BE49-F238E27FC236}">
                <a16:creationId xmlns:a16="http://schemas.microsoft.com/office/drawing/2014/main" id="{B39AD8F1-5ADD-4E0A-8906-F3EED65BB38F}"/>
              </a:ext>
            </a:extLst>
          </p:cNvPr>
          <p:cNvSpPr>
            <a:spLocks xmlns:a="http://schemas.openxmlformats.org/drawingml/2006/main" noGrp="1"/>
          </p:cNvSpPr>
          <p:nvPr/>
        </p:nvSpPr>
        <p:spPr>
          <a:xfrm xmlns:a="http://schemas.openxmlformats.org/drawingml/2006/main">
            <a:off x="866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LV/RV/MYO curves; ED/ES; EDV, ESV, SV, EF; centroid and MYO radius</a:t>
            </a:r>
          </a:p>
        </p:txBody>
      </p:sp>
      <p:sp>
        <p:nvSpPr>
          <p:cNvPr id="18" name="">
            <a:extLst xmlns:a="http://schemas.openxmlformats.org/drawingml/2006/main">
              <a:ext uri="{FF2B5EF4-FFF2-40B4-BE49-F238E27FC236}">
                <a16:creationId xmlns:a16="http://schemas.microsoft.com/office/drawing/2014/main" id="{6260106E-8734-429E-A220-48B08DE40239}"/>
              </a:ext>
            </a:extLst>
          </p:cNvPr>
          <p:cNvSpPr>
            <a:spLocks xmlns:a="http://schemas.openxmlformats.org/drawingml/2006/main" noGrp="1"/>
          </p:cNvSpPr>
          <p:nvPr/>
        </p:nvSpPr>
        <p:spPr>
          <a:xfrm xmlns:a="http://schemas.openxmlformats.org/drawingml/2006/main">
            <a:off x="685800" y="5638800"/>
            <a:ext cx="10820400" cy="495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8B814DF-0D9D-452C-9F6D-26A6080A892D}"/>
              </a:ext>
            </a:extLst>
          </p:cNvPr>
          <p:cNvSpPr>
            <a:spLocks xmlns:a="http://schemas.openxmlformats.org/drawingml/2006/main" noGrp="1"/>
          </p:cNvSpPr>
          <p:nvPr/>
        </p:nvSpPr>
        <p:spPr>
          <a:xfrm xmlns:a="http://schemas.openxmlformats.org/drawingml/2006/main">
            <a:off x="876300" y="5762625"/>
            <a:ext cx="10439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i="0">
                <a:solidFill>
                  <a:srgbClr val="000000"/>
                </a:solidFill>
                <a:latin typeface="Arial"/>
                <a:ea typeface="Arial"/>
                <a:cs typeface="Arial"/>
              </a:defRPr>
            </a:pPr>
            <a:r>
              <a:rPr sz="1650" b="1" i="0">
                <a:solidFill>
                  <a:srgbClr val="000000"/>
                </a:solidFill>
                <a:latin typeface="Arial"/>
                <a:ea typeface="Arial"/>
                <a:cs typeface="Arial"/>
              </a:rPr>
              <a:t>Post-hoc temporal regularization over a spatial checkpoint—not learned temporal Mamba, optical flow, deformation, or strain.</a:t>
            </a:r>
          </a:p>
        </p:txBody>
      </p:sp>
    </p:spTree>
    <p:extLst>
      <p:ext uri="{BB962C8B-B14F-4D97-AF65-F5344CB8AC3E}">
        <p14:creationId xmlns:p14="http://schemas.microsoft.com/office/powerpoint/2010/main" val="16617721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573780C-B9B3-4B3B-9C22-ACEEA894EE0E}"/>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C8452967-003E-4A79-AA8F-8C8B94CD1F1A}"/>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Temporal fusion smooths curves—not endpoint accuracy</a:t>
            </a:r>
          </a:p>
        </p:txBody>
      </p:sp>
      <p:sp>
        <p:nvSpPr>
          <p:cNvPr id="3" name="">
            <a:extLst xmlns:a="http://schemas.openxmlformats.org/drawingml/2006/main">
              <a:ext uri="{FF2B5EF4-FFF2-40B4-BE49-F238E27FC236}">
                <a16:creationId xmlns:a16="http://schemas.microsoft.com/office/drawing/2014/main" id="{2A85CFD6-379F-4DD9-83C9-497AE991C79B}"/>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4C99F365-45FC-4134-AF49-2C450338C9DC}"/>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A544098B-600B-4911-BC97-51BE936E558A}"/>
              </a:ext>
            </a:extLst>
          </p:cNvPr>
          <p:cNvSpPr>
            <a:spLocks xmlns:a="http://schemas.openxmlformats.org/drawingml/2006/main" noGrp="1"/>
          </p:cNvSpPr>
          <p:nvPr/>
        </p:nvSpPr>
        <p:spPr>
          <a:xfrm xmlns:a="http://schemas.openxmlformats.org/drawingml/2006/main">
            <a:off x="495300" y="1504950"/>
            <a:ext cx="7810500" cy="46863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B842967C-3E1D-437F-89ED-1CF4A859B7B7}"/>
              </a:ext>
            </a:extLst>
          </p:cNvPr>
          <p:cNvSpPr>
            <a:spLocks xmlns:a="http://schemas.openxmlformats.org/drawingml/2006/main" noGrp="1"/>
          </p:cNvSpPr>
          <p:nvPr/>
        </p:nvSpPr>
        <p:spPr>
          <a:xfrm xmlns:a="http://schemas.openxmlformats.org/drawingml/2006/main">
            <a:off x="8763000" y="194310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167"/>
          </a:bodyPr>
          <a:lstStyle xmlns:a="http://schemas.openxmlformats.org/drawingml/2006/main"/>
          <a:p xmlns:a="http://schemas.openxmlformats.org/drawingml/2006/main">
            <a:pPr algn="l">
              <a:buNone/>
              <a:defRPr sz="3000" b="1" i="0">
                <a:solidFill>
                  <a:srgbClr val="3D8DFF"/>
                </a:solidFill>
                <a:latin typeface="Arial"/>
                <a:ea typeface="Arial"/>
                <a:cs typeface="Arial"/>
              </a:defRPr>
            </a:pPr>
            <a:r>
              <a:rPr sz="3000" b="1" i="0">
                <a:solidFill>
                  <a:srgbClr val="3D8DFF"/>
                </a:solidFill>
                <a:latin typeface="Arial"/>
                <a:ea typeface="Arial"/>
                <a:cs typeface="Arial"/>
              </a:rPr>
              <a:t>19 / 20</a:t>
            </a:r>
          </a:p>
        </p:txBody>
      </p:sp>
      <p:sp>
        <p:nvSpPr>
          <p:cNvPr id="8" name="">
            <a:extLst xmlns:a="http://schemas.openxmlformats.org/drawingml/2006/main">
              <a:ext uri="{FF2B5EF4-FFF2-40B4-BE49-F238E27FC236}">
                <a16:creationId xmlns:a16="http://schemas.microsoft.com/office/drawing/2014/main" id="{085E7E21-ACA7-433E-A8FD-076F65C75B8D}"/>
              </a:ext>
            </a:extLst>
          </p:cNvPr>
          <p:cNvSpPr>
            <a:spLocks xmlns:a="http://schemas.openxmlformats.org/drawingml/2006/main" noGrp="1"/>
          </p:cNvSpPr>
          <p:nvPr/>
        </p:nvSpPr>
        <p:spPr>
          <a:xfrm xmlns:a="http://schemas.openxmlformats.org/drawingml/2006/main">
            <a:off x="8763000" y="24574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998"/>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patient LV curves were smoother</a:t>
            </a:r>
          </a:p>
        </p:txBody>
      </p:sp>
      <p:sp>
        <p:nvSpPr>
          <p:cNvPr id="9" name="">
            <a:extLst xmlns:a="http://schemas.openxmlformats.org/drawingml/2006/main">
              <a:ext uri="{FF2B5EF4-FFF2-40B4-BE49-F238E27FC236}">
                <a16:creationId xmlns:a16="http://schemas.microsoft.com/office/drawing/2014/main" id="{0BFC18D0-85E5-4631-99BE-3C48AD54E7EA}"/>
              </a:ext>
            </a:extLst>
          </p:cNvPr>
          <p:cNvSpPr>
            <a:spLocks xmlns:a="http://schemas.openxmlformats.org/drawingml/2006/main" noGrp="1"/>
          </p:cNvSpPr>
          <p:nvPr/>
        </p:nvSpPr>
        <p:spPr>
          <a:xfrm xmlns:a="http://schemas.openxmlformats.org/drawingml/2006/main">
            <a:off x="8763000" y="331470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167"/>
          </a:bodyPr>
          <a:lstStyle xmlns:a="http://schemas.openxmlformats.org/drawingml/2006/main"/>
          <a:p xmlns:a="http://schemas.openxmlformats.org/drawingml/2006/main">
            <a:pPr algn="l">
              <a:buNone/>
              <a:defRPr sz="3000" b="1" i="0">
                <a:solidFill>
                  <a:srgbClr val="3D8DFF"/>
                </a:solidFill>
                <a:latin typeface="Arial"/>
                <a:ea typeface="Arial"/>
                <a:cs typeface="Arial"/>
              </a:defRPr>
            </a:pPr>
            <a:r>
              <a:rPr sz="3000" b="1" i="0">
                <a:solidFill>
                  <a:srgbClr val="3D8DFF"/>
                </a:solidFill>
                <a:latin typeface="Arial"/>
                <a:ea typeface="Arial"/>
                <a:cs typeface="Arial"/>
              </a:rPr>
              <a:t>−0.001129</a:t>
            </a:r>
          </a:p>
        </p:txBody>
      </p:sp>
      <p:sp>
        <p:nvSpPr>
          <p:cNvPr id="10" name="">
            <a:extLst xmlns:a="http://schemas.openxmlformats.org/drawingml/2006/main">
              <a:ext uri="{FF2B5EF4-FFF2-40B4-BE49-F238E27FC236}">
                <a16:creationId xmlns:a16="http://schemas.microsoft.com/office/drawing/2014/main" id="{51891918-3728-427C-8F76-1EB03F132CB7}"/>
              </a:ext>
            </a:extLst>
          </p:cNvPr>
          <p:cNvSpPr>
            <a:spLocks xmlns:a="http://schemas.openxmlformats.org/drawingml/2006/main" noGrp="1"/>
          </p:cNvSpPr>
          <p:nvPr/>
        </p:nvSpPr>
        <p:spPr>
          <a:xfrm xmlns:a="http://schemas.openxmlformats.org/drawingml/2006/main">
            <a:off x="8763000" y="38290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03"/>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smoothness Δ · CI [−0.001950, −0.000511]</a:t>
            </a:r>
          </a:p>
        </p:txBody>
      </p:sp>
      <p:sp>
        <p:nvSpPr>
          <p:cNvPr id="11" name="">
            <a:extLst xmlns:a="http://schemas.openxmlformats.org/drawingml/2006/main">
              <a:ext uri="{FF2B5EF4-FFF2-40B4-BE49-F238E27FC236}">
                <a16:creationId xmlns:a16="http://schemas.microsoft.com/office/drawing/2014/main" id="{48510238-2093-4BA5-9FB6-CDBE5137B246}"/>
              </a:ext>
            </a:extLst>
          </p:cNvPr>
          <p:cNvSpPr>
            <a:spLocks xmlns:a="http://schemas.openxmlformats.org/drawingml/2006/main" noGrp="1"/>
          </p:cNvSpPr>
          <p:nvPr/>
        </p:nvSpPr>
        <p:spPr>
          <a:xfrm xmlns:a="http://schemas.openxmlformats.org/drawingml/2006/main">
            <a:off x="8763000" y="48196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518"/>
          </a:bodyPr>
          <a:lstStyle xmlns:a="http://schemas.openxmlformats.org/drawingml/2006/main"/>
          <a:p xmlns:a="http://schemas.openxmlformats.org/drawingml/2006/main">
            <a:pPr algn="l">
              <a:buNone/>
              <a:defRPr sz="2700" b="1" i="0">
                <a:solidFill>
                  <a:srgbClr val="000000"/>
                </a:solidFill>
                <a:latin typeface="Arial"/>
                <a:ea typeface="Arial"/>
                <a:cs typeface="Arial"/>
              </a:defRPr>
            </a:pPr>
            <a:r>
              <a:rPr sz="2700" b="1" i="0">
                <a:solidFill>
                  <a:srgbClr val="000000"/>
                </a:solidFill>
                <a:latin typeface="Arial"/>
                <a:ea typeface="Arial"/>
                <a:cs typeface="Arial"/>
              </a:rPr>
              <a:t>+0.014 pp</a:t>
            </a:r>
          </a:p>
        </p:txBody>
      </p:sp>
      <p:sp>
        <p:nvSpPr>
          <p:cNvPr id="12" name="">
            <a:extLst xmlns:a="http://schemas.openxmlformats.org/drawingml/2006/main">
              <a:ext uri="{FF2B5EF4-FFF2-40B4-BE49-F238E27FC236}">
                <a16:creationId xmlns:a16="http://schemas.microsoft.com/office/drawing/2014/main" id="{BB0B2075-2F40-4604-93DC-3B4967810CE0}"/>
              </a:ext>
            </a:extLst>
          </p:cNvPr>
          <p:cNvSpPr>
            <a:spLocks xmlns:a="http://schemas.openxmlformats.org/drawingml/2006/main" noGrp="1"/>
          </p:cNvSpPr>
          <p:nvPr/>
        </p:nvSpPr>
        <p:spPr>
          <a:xfrm xmlns:a="http://schemas.openxmlformats.org/drawingml/2006/main">
            <a:off x="8763000" y="5314950"/>
            <a:ext cx="247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endpoint Dice Δ · CI [−0.063, +0.082] pp</a:t>
            </a:r>
          </a:p>
        </p:txBody>
      </p:sp>
      <p:sp>
        <p:nvSpPr>
          <p:cNvPr id="13" name="">
            <a:extLst xmlns:a="http://schemas.openxmlformats.org/drawingml/2006/main">
              <a:ext uri="{FF2B5EF4-FFF2-40B4-BE49-F238E27FC236}">
                <a16:creationId xmlns:a16="http://schemas.microsoft.com/office/drawing/2014/main" id="{9BD81AE6-7B94-4151-BE7D-2694715C03A4}"/>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audited 20-patient, 550-frame cine result; paired bootstrap, 10,000 replicates</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bc44b8b8f68c4402"/>
          <a:stretch xmlns:a="http://schemas.openxmlformats.org/drawingml/2006/main"/>
        </p:blipFill>
        <p:spPr>
          <a:xfrm xmlns:a="http://schemas.openxmlformats.org/drawingml/2006/main" flipH="0" flipV="0">
            <a:off x="688537" y="1504950"/>
            <a:ext cx="7424027" cy="4686300"/>
          </a:xfrm>
          <a:prstGeom xmlns:a="http://schemas.openxmlformats.org/drawingml/2006/main" prst="rect">
            <a:avLst/>
          </a:prstGeom>
        </p:spPr>
      </p:pic>
    </p:spTree>
    <p:extLst>
      <p:ext uri="{BB962C8B-B14F-4D97-AF65-F5344CB8AC3E}">
        <p14:creationId xmlns:p14="http://schemas.microsoft.com/office/powerpoint/2010/main" val="15597119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BBEEFA-E2F2-4FE8-899A-A93F6BD635BF}"/>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E5955464-7EB6-4E45-9576-A0CE29468AC8}"/>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EF, phase timing, and global motion are quantified</a:t>
            </a:r>
          </a:p>
        </p:txBody>
      </p:sp>
      <p:sp>
        <p:nvSpPr>
          <p:cNvPr id="3" name="">
            <a:extLst xmlns:a="http://schemas.openxmlformats.org/drawingml/2006/main">
              <a:ext uri="{FF2B5EF4-FFF2-40B4-BE49-F238E27FC236}">
                <a16:creationId xmlns:a16="http://schemas.microsoft.com/office/drawing/2014/main" id="{0B81EF51-D2D9-4120-8C87-DC5892DA4F4A}"/>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FE8C6254-CA97-47CC-B346-F07A04FCCD17}"/>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4DC1B463-6B29-4CE7-8C1F-C3F831BEF45B}"/>
              </a:ext>
            </a:extLst>
          </p:cNvPr>
          <p:cNvSpPr>
            <a:spLocks xmlns:a="http://schemas.openxmlformats.org/drawingml/2006/main" noGrp="1"/>
          </p:cNvSpPr>
          <p:nvPr/>
        </p:nvSpPr>
        <p:spPr>
          <a:xfrm xmlns:a="http://schemas.openxmlformats.org/drawingml/2006/main">
            <a:off x="5810250" y="1600200"/>
            <a:ext cx="5524500" cy="41148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AAFAD5AF-3E9E-493C-8D66-25B7D8C1752C}"/>
              </a:ext>
            </a:extLst>
          </p:cNvPr>
          <p:cNvSpPr>
            <a:spLocks xmlns:a="http://schemas.openxmlformats.org/drawingml/2006/main" noGrp="1"/>
          </p:cNvSpPr>
          <p:nvPr/>
        </p:nvSpPr>
        <p:spPr>
          <a:xfrm xmlns:a="http://schemas.openxmlformats.org/drawingml/2006/main">
            <a:off x="685800" y="180975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Endpoint-validated function</a:t>
            </a:r>
          </a:p>
        </p:txBody>
      </p:sp>
      <p:sp>
        <p:nvSpPr>
          <p:cNvPr id="8" name="">
            <a:extLst xmlns:a="http://schemas.openxmlformats.org/drawingml/2006/main">
              <a:ext uri="{FF2B5EF4-FFF2-40B4-BE49-F238E27FC236}">
                <a16:creationId xmlns:a16="http://schemas.microsoft.com/office/drawing/2014/main" id="{080DB3CE-BD57-488C-AB59-50AB420B7A05}"/>
              </a:ext>
            </a:extLst>
          </p:cNvPr>
          <p:cNvSpPr>
            <a:spLocks xmlns:a="http://schemas.openxmlformats.org/drawingml/2006/main" noGrp="1"/>
          </p:cNvSpPr>
          <p:nvPr/>
        </p:nvSpPr>
        <p:spPr>
          <a:xfrm xmlns:a="http://schemas.openxmlformats.org/drawingml/2006/main">
            <a:off x="685800" y="2381250"/>
            <a:ext cx="43815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EF MAE: 3.329 pp; r = 0.9803</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ED exact / ±1: 55% / 80%</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ES exact / ±1: 55% / 85%</a:t>
            </a:r>
          </a:p>
        </p:txBody>
      </p:sp>
      <p:sp>
        <p:nvSpPr>
          <p:cNvPr id="9" name="">
            <a:extLst xmlns:a="http://schemas.openxmlformats.org/drawingml/2006/main">
              <a:ext uri="{FF2B5EF4-FFF2-40B4-BE49-F238E27FC236}">
                <a16:creationId xmlns:a16="http://schemas.microsoft.com/office/drawing/2014/main" id="{9082D17E-08E4-4897-B6EA-623E03A38571}"/>
              </a:ext>
            </a:extLst>
          </p:cNvPr>
          <p:cNvSpPr>
            <a:spLocks xmlns:a="http://schemas.openxmlformats.org/drawingml/2006/main" noGrp="1"/>
          </p:cNvSpPr>
          <p:nvPr/>
        </p:nvSpPr>
        <p:spPr>
          <a:xfrm xmlns:a="http://schemas.openxmlformats.org/drawingml/2006/main">
            <a:off x="685800" y="527685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987"/>
          </a:bodyPr>
          <a:lstStyle xmlns:a="http://schemas.openxmlformats.org/drawingml/2006/main"/>
          <a:p xmlns:a="http://schemas.openxmlformats.org/drawingml/2006/main">
            <a:pPr algn="l">
              <a:buNone/>
              <a:defRPr sz="2025" b="1" i="0">
                <a:solidFill>
                  <a:srgbClr val="3D8DFF"/>
                </a:solidFill>
                <a:latin typeface="Arial"/>
                <a:ea typeface="Arial"/>
                <a:cs typeface="Arial"/>
              </a:defRPr>
            </a:pPr>
            <a:r>
              <a:rPr sz="2025" b="1" i="0">
                <a:solidFill>
                  <a:srgbClr val="3D8DFF"/>
                </a:solidFill>
                <a:latin typeface="Arial"/>
                <a:ea typeface="Arial"/>
                <a:cs typeface="Arial"/>
              </a:rPr>
              <a:t>Global surrogates: median LV-centroid displacement 6.252 mm; mean MYO radius ED−ES 4.153 mm</a:t>
            </a:r>
          </a:p>
        </p:txBody>
      </p:sp>
      <p:sp>
        <p:nvSpPr>
          <p:cNvPr id="10" name="">
            <a:extLst xmlns:a="http://schemas.openxmlformats.org/drawingml/2006/main">
              <a:ext uri="{FF2B5EF4-FFF2-40B4-BE49-F238E27FC236}">
                <a16:creationId xmlns:a16="http://schemas.microsoft.com/office/drawing/2014/main" id="{DF5E7773-3658-48EA-94D8-C29936BD7778}"/>
              </a:ext>
            </a:extLst>
          </p:cNvPr>
          <p:cNvSpPr>
            <a:spLocks xmlns:a="http://schemas.openxmlformats.org/drawingml/2006/main" noGrp="1"/>
          </p:cNvSpPr>
          <p:nvPr/>
        </p:nvSpPr>
        <p:spPr>
          <a:xfrm xmlns:a="http://schemas.openxmlformats.org/drawingml/2006/main">
            <a:off x="495300" y="6438900"/>
            <a:ext cx="95250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256"/>
          </a:bodyPr>
          <a:lstStyle xmlns:a="http://schemas.openxmlformats.org/drawingml/2006/main"/>
          <a:p xmlns:a="http://schemas.openxmlformats.org/drawingml/2006/main">
            <a:pPr algn="l">
              <a:buNone/>
              <a:defRPr sz="975" b="0" i="0">
                <a:solidFill>
                  <a:srgbClr val="5F6670"/>
                </a:solidFill>
                <a:latin typeface="Arial"/>
                <a:ea typeface="Arial"/>
                <a:cs typeface="Arial"/>
              </a:defRPr>
            </a:pPr>
            <a:r>
              <a:rPr sz="975" b="0" i="0">
                <a:solidFill>
                  <a:srgbClr val="5F6670"/>
                </a:solidFill>
                <a:latin typeface="Arial"/>
                <a:ea typeface="Arial"/>
                <a:cs typeface="Arial"/>
              </a:rPr>
              <a:t>Source: manual ED/ES masks, Info.cfg, patient_metrics.csv, and independent audit</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c32042c05224310"/>
          <a:stretch xmlns:a="http://schemas.openxmlformats.org/drawingml/2006/main"/>
        </p:blipFill>
        <p:spPr>
          <a:xfrm xmlns:a="http://schemas.openxmlformats.org/drawingml/2006/main" flipH="0" flipV="0">
            <a:off x="5817215" y="1600200"/>
            <a:ext cx="5510569" cy="4114800"/>
          </a:xfrm>
          <a:prstGeom xmlns:a="http://schemas.openxmlformats.org/drawingml/2006/main" prst="rect">
            <a:avLst/>
          </a:prstGeom>
        </p:spPr>
      </p:pic>
    </p:spTree>
    <p:extLst>
      <p:ext uri="{BB962C8B-B14F-4D97-AF65-F5344CB8AC3E}">
        <p14:creationId xmlns:p14="http://schemas.microsoft.com/office/powerpoint/2010/main" val="131547564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CAC5368-0219-4767-9304-4C74E1CC1BC2}"/>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834FFF9C-3C75-49B9-8371-88A135C05B78}"/>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What the study supports—and still cannot claim</a:t>
            </a:r>
          </a:p>
        </p:txBody>
      </p:sp>
      <p:sp>
        <p:nvSpPr>
          <p:cNvPr id="3" name="">
            <a:extLst xmlns:a="http://schemas.openxmlformats.org/drawingml/2006/main">
              <a:ext uri="{FF2B5EF4-FFF2-40B4-BE49-F238E27FC236}">
                <a16:creationId xmlns:a16="http://schemas.microsoft.com/office/drawing/2014/main" id="{78BA4526-2D38-4425-9135-05AB64B64340}"/>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4B7713B-6652-4555-8DC2-AD48C6E2AC01}"/>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A2969F74-612F-4B20-94B1-644A233B0DD1}"/>
              </a:ext>
            </a:extLst>
          </p:cNvPr>
          <p:cNvSpPr>
            <a:spLocks xmlns:a="http://schemas.openxmlformats.org/drawingml/2006/main" noGrp="1"/>
          </p:cNvSpPr>
          <p:nvPr/>
        </p:nvSpPr>
        <p:spPr>
          <a:xfrm xmlns:a="http://schemas.openxmlformats.org/drawingml/2006/main">
            <a:off x="685800" y="169545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542"/>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SUPPORTED</a:t>
            </a:r>
          </a:p>
        </p:txBody>
      </p:sp>
      <p:sp>
        <p:nvSpPr>
          <p:cNvPr id="6" name="">
            <a:extLst xmlns:a="http://schemas.openxmlformats.org/drawingml/2006/main">
              <a:ext uri="{FF2B5EF4-FFF2-40B4-BE49-F238E27FC236}">
                <a16:creationId xmlns:a16="http://schemas.microsoft.com/office/drawing/2014/main" id="{3D4FE614-8ED2-4A4B-B1BC-718EA2A54114}"/>
              </a:ext>
            </a:extLst>
          </p:cNvPr>
          <p:cNvSpPr>
            <a:spLocks xmlns:a="http://schemas.openxmlformats.org/drawingml/2006/main" noGrp="1"/>
          </p:cNvSpPr>
          <p:nvPr/>
        </p:nvSpPr>
        <p:spPr>
          <a:xfrm xmlns:a="http://schemas.openxmlformats.org/drawingml/2006/main">
            <a:off x="685800" y="2209800"/>
            <a:ext cx="4476750" cy="304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20/20 patients; 550/550 frames</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Endpoint identity + Dice reproduction</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EF, phase, volume, centroid + MYO-radius curves</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Fixed fusion: 19/20 smoother</a:t>
            </a:r>
          </a:p>
        </p:txBody>
      </p:sp>
      <p:sp>
        <p:nvSpPr>
          <p:cNvPr id="7" name="">
            <a:extLst xmlns:a="http://schemas.openxmlformats.org/drawingml/2006/main">
              <a:ext uri="{FF2B5EF4-FFF2-40B4-BE49-F238E27FC236}">
                <a16:creationId xmlns:a16="http://schemas.microsoft.com/office/drawing/2014/main" id="{F5A46E39-184B-4E6B-B9D6-0FC12A7F584E}"/>
              </a:ext>
            </a:extLst>
          </p:cNvPr>
          <p:cNvSpPr>
            <a:spLocks xmlns:a="http://schemas.openxmlformats.org/drawingml/2006/main" noGrp="1"/>
          </p:cNvSpPr>
          <p:nvPr/>
        </p:nvSpPr>
        <p:spPr>
          <a:xfrm xmlns:a="http://schemas.openxmlformats.org/drawingml/2006/main">
            <a:off x="5581650" y="1619250"/>
            <a:ext cx="0" cy="384810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8" name="">
            <a:extLst xmlns:a="http://schemas.openxmlformats.org/drawingml/2006/main">
              <a:ext uri="{FF2B5EF4-FFF2-40B4-BE49-F238E27FC236}">
                <a16:creationId xmlns:a16="http://schemas.microsoft.com/office/drawing/2014/main" id="{1ECCF1DC-49CD-4CF9-8D0F-6A665B19E086}"/>
              </a:ext>
            </a:extLst>
          </p:cNvPr>
          <p:cNvSpPr>
            <a:spLocks xmlns:a="http://schemas.openxmlformats.org/drawingml/2006/main" noGrp="1"/>
          </p:cNvSpPr>
          <p:nvPr/>
        </p:nvSpPr>
        <p:spPr>
          <a:xfrm xmlns:a="http://schemas.openxmlformats.org/drawingml/2006/main">
            <a:off x="6115050" y="1695450"/>
            <a:ext cx="485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542"/>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LIMITS</a:t>
            </a:r>
          </a:p>
        </p:txBody>
      </p:sp>
      <p:sp>
        <p:nvSpPr>
          <p:cNvPr id="9" name="">
            <a:extLst xmlns:a="http://schemas.openxmlformats.org/drawingml/2006/main">
              <a:ext uri="{FF2B5EF4-FFF2-40B4-BE49-F238E27FC236}">
                <a16:creationId xmlns:a16="http://schemas.microsoft.com/office/drawing/2014/main" id="{F0652978-8AB1-4827-AAC1-C30D6F76D5E1}"/>
              </a:ext>
            </a:extLst>
          </p:cNvPr>
          <p:cNvSpPr>
            <a:spLocks xmlns:a="http://schemas.openxmlformats.org/drawingml/2006/main" noGrp="1"/>
          </p:cNvSpPr>
          <p:nvPr/>
        </p:nvSpPr>
        <p:spPr>
          <a:xfrm xmlns:a="http://schemas.openxmlformats.org/drawingml/2006/main">
            <a:off x="6115050" y="2209800"/>
            <a:ext cx="4857750" cy="304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Same validation set selected checkpoint</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Intermediate frames lack manual masks</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No learned temporal model or dense motion/strain</a:t>
            </a:r>
          </a:p>
          <a:p xmlns:a="http://schemas.openxmlformats.org/drawingml/2006/main">
            <a:r>
              <a:t/>
            </a:r>
          </a:p>
          <a:p xmlns:a="http://schemas.openxmlformats.org/drawingml/2006/main">
            <a:pPr algn="l">
              <a:buNone/>
              <a:defRPr sz="1725" b="0" i="0">
                <a:solidFill>
                  <a:srgbClr val="000000"/>
                </a:solidFill>
                <a:latin typeface="Arial"/>
                <a:ea typeface="Arial"/>
                <a:cs typeface="Arial"/>
              </a:defRPr>
            </a:pPr>
            <a:r>
              <a:rPr sz="1725" b="0" i="0">
                <a:solidFill>
                  <a:srgbClr val="000000"/>
                </a:solidFill>
                <a:latin typeface="Arial"/>
                <a:ea typeface="Arial"/>
                <a:cs typeface="Arial"/>
              </a:rPr>
              <a:t>•  Single split/seed; no external test</a:t>
            </a:r>
          </a:p>
        </p:txBody>
      </p:sp>
      <p:sp>
        <p:nvSpPr>
          <p:cNvPr id="10" name="">
            <a:extLst xmlns:a="http://schemas.openxmlformats.org/drawingml/2006/main">
              <a:ext uri="{FF2B5EF4-FFF2-40B4-BE49-F238E27FC236}">
                <a16:creationId xmlns:a16="http://schemas.microsoft.com/office/drawing/2014/main" id="{9083E721-7399-4D0F-9F36-A3E94032D6D2}"/>
              </a:ext>
            </a:extLst>
          </p:cNvPr>
          <p:cNvSpPr>
            <a:spLocks xmlns:a="http://schemas.openxmlformats.org/drawingml/2006/main" noGrp="1"/>
          </p:cNvSpPr>
          <p:nvPr/>
        </p:nvSpPr>
        <p:spPr>
          <a:xfrm xmlns:a="http://schemas.openxmlformats.org/drawingml/2006/main">
            <a:off x="685800" y="5581650"/>
            <a:ext cx="10287000" cy="49530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4F056E1-0D29-4410-8B3E-D00DFCB4D946}"/>
              </a:ext>
            </a:extLst>
          </p:cNvPr>
          <p:cNvSpPr>
            <a:spLocks xmlns:a="http://schemas.openxmlformats.org/drawingml/2006/main" noGrp="1"/>
          </p:cNvSpPr>
          <p:nvPr/>
        </p:nvSpPr>
        <p:spPr>
          <a:xfrm xmlns:a="http://schemas.openxmlformats.org/drawingml/2006/main">
            <a:off x="876300" y="5705475"/>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i="0">
                <a:solidFill>
                  <a:srgbClr val="000000"/>
                </a:solidFill>
                <a:latin typeface="Arial"/>
                <a:ea typeface="Arial"/>
                <a:cs typeface="Arial"/>
              </a:defRPr>
            </a:pPr>
            <a:r>
              <a:rPr sz="1650" b="1" i="0">
                <a:solidFill>
                  <a:srgbClr val="000000"/>
                </a:solidFill>
                <a:latin typeface="Arial"/>
                <a:ea typeface="Arial"/>
                <a:cs typeface="Arial"/>
              </a:rPr>
              <a:t>Smoother global curves do not prove anatomically correct intermediate masks.</a:t>
            </a:r>
          </a:p>
        </p:txBody>
      </p:sp>
    </p:spTree>
    <p:extLst>
      <p:ext uri="{BB962C8B-B14F-4D97-AF65-F5344CB8AC3E}">
        <p14:creationId xmlns:p14="http://schemas.microsoft.com/office/powerpoint/2010/main" val="168935149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B95D73E-4660-4CC0-8D52-37F65B3ABB75}"/>
              </a:ext>
            </a:extLst>
          </p:cNvPr>
          <p:cNvSpPr>
            <a:spLocks xmlns:a="http://schemas.openxmlformats.org/drawingml/2006/main" noGrp="1"/>
          </p:cNvSpPr>
          <p:nvPr/>
        </p:nvSpPr>
        <p:spPr>
          <a:xfrm xmlns:a="http://schemas.openxmlformats.org/drawingml/2006/main">
            <a:off x="495300" y="2476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7778"/>
          </a:bodyPr>
          <a:lstStyle xmlns:a="http://schemas.openxmlformats.org/drawingml/2006/main"/>
          <a:p xmlns:a="http://schemas.openxmlformats.org/drawingml/2006/main">
            <a:pPr algn="l">
              <a:buNone/>
              <a:defRPr sz="1125" b="1" i="0">
                <a:solidFill>
                  <a:srgbClr val="5F6670"/>
                </a:solidFill>
                <a:latin typeface="Arial"/>
                <a:ea typeface="Arial"/>
                <a:cs typeface="Arial"/>
              </a:defRPr>
            </a:pPr>
            <a:r>
              <a:rPr sz="1125" b="1" i="0">
                <a:solidFill>
                  <a:srgbClr val="5F6670"/>
                </a:solidFill>
                <a:latin typeface="Arial"/>
                <a:ea typeface="Arial"/>
                <a:cs typeface="Arial"/>
              </a:rPr>
              <a:t>P2 FINAL DEFENSE</a:t>
            </a:r>
          </a:p>
        </p:txBody>
      </p:sp>
      <p:sp>
        <p:nvSpPr>
          <p:cNvPr id="2" name="">
            <a:extLst xmlns:a="http://schemas.openxmlformats.org/drawingml/2006/main">
              <a:ext uri="{FF2B5EF4-FFF2-40B4-BE49-F238E27FC236}">
                <a16:creationId xmlns:a16="http://schemas.microsoft.com/office/drawing/2014/main" id="{A655503B-7EEA-45E2-90CD-D9718A30EEA3}"/>
              </a:ext>
            </a:extLst>
          </p:cNvPr>
          <p:cNvSpPr>
            <a:spLocks xmlns:a="http://schemas.openxmlformats.org/drawingml/2006/main" noGrp="1"/>
          </p:cNvSpPr>
          <p:nvPr/>
        </p:nvSpPr>
        <p:spPr>
          <a:xfrm xmlns:a="http://schemas.openxmlformats.org/drawingml/2006/main">
            <a:off x="495300" y="495300"/>
            <a:ext cx="11201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i="0">
                <a:solidFill>
                  <a:srgbClr val="000000"/>
                </a:solidFill>
                <a:latin typeface="Arial"/>
                <a:ea typeface="Arial"/>
                <a:cs typeface="Arial"/>
              </a:defRPr>
            </a:pPr>
            <a:r>
              <a:rPr sz="3600" b="1" i="0">
                <a:solidFill>
                  <a:srgbClr val="000000"/>
                </a:solidFill>
                <a:latin typeface="Arial"/>
                <a:ea typeface="Arial"/>
                <a:cs typeface="Arial"/>
              </a:rPr>
              <a:t>Contribution delivered; stronger temporal models next</a:t>
            </a:r>
          </a:p>
        </p:txBody>
      </p:sp>
      <p:sp>
        <p:nvSpPr>
          <p:cNvPr id="3" name="">
            <a:extLst xmlns:a="http://schemas.openxmlformats.org/drawingml/2006/main">
              <a:ext uri="{FF2B5EF4-FFF2-40B4-BE49-F238E27FC236}">
                <a16:creationId xmlns:a16="http://schemas.microsoft.com/office/drawing/2014/main" id="{902EDD27-44FD-4598-8C81-62851F150F32}"/>
              </a:ext>
            </a:extLst>
          </p:cNvPr>
          <p:cNvSpPr>
            <a:spLocks xmlns:a="http://schemas.openxmlformats.org/drawingml/2006/main" noGrp="1"/>
          </p:cNvSpPr>
          <p:nvPr/>
        </p:nvSpPr>
        <p:spPr>
          <a:xfrm xmlns:a="http://schemas.openxmlformats.org/drawingml/2006/main">
            <a:off x="495300" y="116205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C84384EC-7C06-49C2-A361-315BBDBE9AF7}"/>
              </a:ext>
            </a:extLst>
          </p:cNvPr>
          <p:cNvSpPr>
            <a:spLocks xmlns:a="http://schemas.openxmlformats.org/drawingml/2006/main" noGrp="1"/>
          </p:cNvSpPr>
          <p:nvPr/>
        </p:nvSpPr>
        <p:spPr>
          <a:xfrm xmlns:a="http://schemas.openxmlformats.org/drawingml/2006/main">
            <a:off x="11144250" y="6477000"/>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r">
              <a:buNone/>
              <a:defRPr sz="1050" b="0" i="0">
                <a:solidFill>
                  <a:srgbClr val="5F6670"/>
                </a:solidFill>
                <a:latin typeface="Arial"/>
                <a:ea typeface="Arial"/>
                <a:cs typeface="Arial"/>
              </a:defRPr>
            </a:pPr>
            <a:r>
              <a:rPr sz="1050" b="0" i="0">
                <a:solidFill>
                  <a:srgbClr val="5F6670"/>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E0BAB84F-5AAF-442C-B40B-82785382D637}"/>
              </a:ext>
            </a:extLst>
          </p:cNvPr>
          <p:cNvSpPr>
            <a:spLocks xmlns:a="http://schemas.openxmlformats.org/drawingml/2006/main" noGrp="1"/>
          </p:cNvSpPr>
          <p:nvPr/>
        </p:nvSpPr>
        <p:spPr>
          <a:xfrm xmlns:a="http://schemas.openxmlformats.org/drawingml/2006/main">
            <a:off x="685800" y="3124200"/>
            <a:ext cx="10820400" cy="0"/>
          </a:xfrm>
          <a:prstGeom xmlns:a="http://schemas.openxmlformats.org/drawingml/2006/main" prst="line">
            <a:avLst/>
          </a:prstGeom>
          <a:noFill xmlns:a="http://schemas.openxmlformats.org/drawingml/2006/main"/>
          <a:ln xmlns:a="http://schemas.openxmlformats.org/drawingml/2006/main" w="19050">
            <a:solidFill>
              <a:srgbClr val="000000"/>
            </a:solidFill>
            <a:prstDash val="solid"/>
          </a:ln>
        </p:spPr>
      </p:sp>
      <p:sp>
        <p:nvSpPr>
          <p:cNvPr id="6" name="">
            <a:extLst xmlns:a="http://schemas.openxmlformats.org/drawingml/2006/main">
              <a:ext uri="{FF2B5EF4-FFF2-40B4-BE49-F238E27FC236}">
                <a16:creationId xmlns:a16="http://schemas.microsoft.com/office/drawing/2014/main" id="{8DA6E1D8-EA99-4922-A6B4-965D15BDEE03}"/>
              </a:ext>
            </a:extLst>
          </p:cNvPr>
          <p:cNvSpPr>
            <a:spLocks xmlns:a="http://schemas.openxmlformats.org/drawingml/2006/main" noGrp="1"/>
          </p:cNvSpPr>
          <p:nvPr/>
        </p:nvSpPr>
        <p:spPr>
          <a:xfrm xmlns:a="http://schemas.openxmlformats.org/drawingml/2006/main">
            <a:off x="104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B747D8C-1AAC-413F-8280-C446C2CA7AAE}"/>
              </a:ext>
            </a:extLst>
          </p:cNvPr>
          <p:cNvSpPr>
            <a:spLocks xmlns:a="http://schemas.openxmlformats.org/drawingml/2006/main" noGrp="1"/>
          </p:cNvSpPr>
          <p:nvPr/>
        </p:nvSpPr>
        <p:spPr>
          <a:xfrm xmlns:a="http://schemas.openxmlformats.org/drawingml/2006/main">
            <a:off x="4857750" y="3057525"/>
            <a:ext cx="133350" cy="1333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497050-BA3F-4E47-9FCF-B78711FA24D4}"/>
              </a:ext>
            </a:extLst>
          </p:cNvPr>
          <p:cNvSpPr>
            <a:spLocks xmlns:a="http://schemas.openxmlformats.org/drawingml/2006/main" noGrp="1"/>
          </p:cNvSpPr>
          <p:nvPr/>
        </p:nvSpPr>
        <p:spPr>
          <a:xfrm xmlns:a="http://schemas.openxmlformats.org/drawingml/2006/main">
            <a:off x="8667750" y="3057525"/>
            <a:ext cx="133350" cy="133350"/>
          </a:xfrm>
          <a:prstGeom xmlns:a="http://schemas.openxmlformats.org/drawingml/2006/main" prst="ellipse">
            <a:avLst/>
          </a:prstGeom>
          <a:solidFill xmlns:a="http://schemas.openxmlformats.org/drawingml/2006/main">
            <a:srgbClr val="00000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AF2E0B0-5FAA-4BB8-828F-78F2FEF2A256}"/>
              </a:ext>
            </a:extLst>
          </p:cNvPr>
          <p:cNvSpPr>
            <a:spLocks xmlns:a="http://schemas.openxmlformats.org/drawingml/2006/main" noGrp="1"/>
          </p:cNvSpPr>
          <p:nvPr/>
        </p:nvSpPr>
        <p:spPr>
          <a:xfrm xmlns:a="http://schemas.openxmlformats.org/drawingml/2006/main">
            <a:off x="104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DELIVERED</a:t>
            </a:r>
          </a:p>
        </p:txBody>
      </p:sp>
      <p:sp>
        <p:nvSpPr>
          <p:cNvPr id="10" name="">
            <a:extLst xmlns:a="http://schemas.openxmlformats.org/drawingml/2006/main">
              <a:ext uri="{FF2B5EF4-FFF2-40B4-BE49-F238E27FC236}">
                <a16:creationId xmlns:a16="http://schemas.microsoft.com/office/drawing/2014/main" id="{A0C49811-26AC-4E80-91D4-10AC240155C8}"/>
              </a:ext>
            </a:extLst>
          </p:cNvPr>
          <p:cNvSpPr>
            <a:spLocks xmlns:a="http://schemas.openxmlformats.org/drawingml/2006/main" noGrp="1"/>
          </p:cNvSpPr>
          <p:nvPr/>
        </p:nvSpPr>
        <p:spPr>
          <a:xfrm xmlns:a="http://schemas.openxmlformats.org/drawingml/2006/main">
            <a:off x="104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067"/>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Compact backbone</a:t>
            </a:r>
          </a:p>
        </p:txBody>
      </p:sp>
      <p:sp>
        <p:nvSpPr>
          <p:cNvPr id="11" name="">
            <a:extLst xmlns:a="http://schemas.openxmlformats.org/drawingml/2006/main">
              <a:ext uri="{FF2B5EF4-FFF2-40B4-BE49-F238E27FC236}">
                <a16:creationId xmlns:a16="http://schemas.microsoft.com/office/drawing/2014/main" id="{98FE5CE7-5110-40A0-84D2-1F8CD0E15070}"/>
              </a:ext>
            </a:extLst>
          </p:cNvPr>
          <p:cNvSpPr>
            <a:spLocks xmlns:a="http://schemas.openxmlformats.org/drawingml/2006/main" noGrp="1"/>
          </p:cNvSpPr>
          <p:nvPr/>
        </p:nvSpPr>
        <p:spPr>
          <a:xfrm xmlns:a="http://schemas.openxmlformats.org/drawingml/2006/main">
            <a:off x="104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84.78% Dice with 1.456M reported parameters; spatial Mamba-inspired gate</a:t>
            </a:r>
          </a:p>
        </p:txBody>
      </p:sp>
      <p:sp>
        <p:nvSpPr>
          <p:cNvPr id="12" name="">
            <a:extLst xmlns:a="http://schemas.openxmlformats.org/drawingml/2006/main">
              <a:ext uri="{FF2B5EF4-FFF2-40B4-BE49-F238E27FC236}">
                <a16:creationId xmlns:a16="http://schemas.microsoft.com/office/drawing/2014/main" id="{EB21C11B-BFD8-4BAF-8CC5-11123758CD0C}"/>
              </a:ext>
            </a:extLst>
          </p:cNvPr>
          <p:cNvSpPr>
            <a:spLocks xmlns:a="http://schemas.openxmlformats.org/drawingml/2006/main" noGrp="1"/>
          </p:cNvSpPr>
          <p:nvPr/>
        </p:nvSpPr>
        <p:spPr>
          <a:xfrm xmlns:a="http://schemas.openxmlformats.org/drawingml/2006/main">
            <a:off x="485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58"/>
          </a:bodyPr>
          <a:lstStyle xmlns:a="http://schemas.openxmlformats.org/drawingml/2006/main"/>
          <a:p xmlns:a="http://schemas.openxmlformats.org/drawingml/2006/main">
            <a:pPr algn="l">
              <a:buNone/>
              <a:defRPr sz="2400" b="1" i="0">
                <a:solidFill>
                  <a:srgbClr val="3D8DFF"/>
                </a:solidFill>
                <a:latin typeface="Arial"/>
                <a:ea typeface="Arial"/>
                <a:cs typeface="Arial"/>
              </a:defRPr>
            </a:pPr>
            <a:r>
              <a:rPr sz="2400" b="1" i="0">
                <a:solidFill>
                  <a:srgbClr val="3D8DFF"/>
                </a:solidFill>
                <a:latin typeface="Arial"/>
                <a:ea typeface="Arial"/>
                <a:cs typeface="Arial"/>
              </a:rPr>
              <a:t>COMPLETED CINE</a:t>
            </a:r>
          </a:p>
        </p:txBody>
      </p:sp>
      <p:sp>
        <p:nvSpPr>
          <p:cNvPr id="13" name="">
            <a:extLst xmlns:a="http://schemas.openxmlformats.org/drawingml/2006/main">
              <a:ext uri="{FF2B5EF4-FFF2-40B4-BE49-F238E27FC236}">
                <a16:creationId xmlns:a16="http://schemas.microsoft.com/office/drawing/2014/main" id="{2DCF486D-276D-4819-A54A-383AEDD83AF8}"/>
              </a:ext>
            </a:extLst>
          </p:cNvPr>
          <p:cNvSpPr>
            <a:spLocks xmlns:a="http://schemas.openxmlformats.org/drawingml/2006/main" noGrp="1"/>
          </p:cNvSpPr>
          <p:nvPr/>
        </p:nvSpPr>
        <p:spPr>
          <a:xfrm xmlns:a="http://schemas.openxmlformats.org/drawingml/2006/main">
            <a:off x="485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9317"/>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Full-cycle analysis</a:t>
            </a:r>
          </a:p>
        </p:txBody>
      </p:sp>
      <p:sp>
        <p:nvSpPr>
          <p:cNvPr id="14" name="">
            <a:extLst xmlns:a="http://schemas.openxmlformats.org/drawingml/2006/main">
              <a:ext uri="{FF2B5EF4-FFF2-40B4-BE49-F238E27FC236}">
                <a16:creationId xmlns:a16="http://schemas.microsoft.com/office/drawing/2014/main" id="{B54A9A30-A1C2-4C33-9308-E0D38180AE7F}"/>
              </a:ext>
            </a:extLst>
          </p:cNvPr>
          <p:cNvSpPr>
            <a:spLocks xmlns:a="http://schemas.openxmlformats.org/drawingml/2006/main" noGrp="1"/>
          </p:cNvSpPr>
          <p:nvPr/>
        </p:nvSpPr>
        <p:spPr>
          <a:xfrm xmlns:a="http://schemas.openxmlformats.org/drawingml/2006/main">
            <a:off x="485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550 frames; native masks; function, phase, global motion trajectories</a:t>
            </a:r>
          </a:p>
        </p:txBody>
      </p:sp>
      <p:sp>
        <p:nvSpPr>
          <p:cNvPr id="15" name="">
            <a:extLst xmlns:a="http://schemas.openxmlformats.org/drawingml/2006/main">
              <a:ext uri="{FF2B5EF4-FFF2-40B4-BE49-F238E27FC236}">
                <a16:creationId xmlns:a16="http://schemas.microsoft.com/office/drawing/2014/main" id="{7B83C346-5693-44A1-A2D6-38CCDD7FF9B2}"/>
              </a:ext>
            </a:extLst>
          </p:cNvPr>
          <p:cNvSpPr>
            <a:spLocks xmlns:a="http://schemas.openxmlformats.org/drawingml/2006/main" noGrp="1"/>
          </p:cNvSpPr>
          <p:nvPr/>
        </p:nvSpPr>
        <p:spPr>
          <a:xfrm xmlns:a="http://schemas.openxmlformats.org/drawingml/2006/main">
            <a:off x="8667750" y="22860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07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FUTURE VALIDATION</a:t>
            </a:r>
          </a:p>
        </p:txBody>
      </p:sp>
      <p:sp>
        <p:nvSpPr>
          <p:cNvPr id="16" name="">
            <a:extLst xmlns:a="http://schemas.openxmlformats.org/drawingml/2006/main">
              <a:ext uri="{FF2B5EF4-FFF2-40B4-BE49-F238E27FC236}">
                <a16:creationId xmlns:a16="http://schemas.microsoft.com/office/drawing/2014/main" id="{95345CA3-3E48-44FF-AFDE-ED6ACC45FF1B}"/>
              </a:ext>
            </a:extLst>
          </p:cNvPr>
          <p:cNvSpPr>
            <a:spLocks xmlns:a="http://schemas.openxmlformats.org/drawingml/2006/main" noGrp="1"/>
          </p:cNvSpPr>
          <p:nvPr/>
        </p:nvSpPr>
        <p:spPr>
          <a:xfrm xmlns:a="http://schemas.openxmlformats.org/drawingml/2006/main">
            <a:off x="8667750" y="3581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400" b="1" i="0">
                <a:solidFill>
                  <a:srgbClr val="000000"/>
                </a:solidFill>
                <a:latin typeface="Arial"/>
                <a:ea typeface="Arial"/>
                <a:cs typeface="Arial"/>
              </a:defRPr>
            </a:pPr>
            <a:r>
              <a:rPr sz="2400" b="1" i="0">
                <a:solidFill>
                  <a:srgbClr val="000000"/>
                </a:solidFill>
                <a:latin typeface="Arial"/>
                <a:ea typeface="Arial"/>
                <a:cs typeface="Arial"/>
              </a:rPr>
              <a:t>Learned + dense</a:t>
            </a:r>
          </a:p>
        </p:txBody>
      </p:sp>
      <p:sp>
        <p:nvSpPr>
          <p:cNvPr id="17" name="">
            <a:extLst xmlns:a="http://schemas.openxmlformats.org/drawingml/2006/main">
              <a:ext uri="{FF2B5EF4-FFF2-40B4-BE49-F238E27FC236}">
                <a16:creationId xmlns:a16="http://schemas.microsoft.com/office/drawing/2014/main" id="{B39AD8F1-5ADD-4E0A-8906-F3EED65BB38F}"/>
              </a:ext>
            </a:extLst>
          </p:cNvPr>
          <p:cNvSpPr>
            <a:spLocks xmlns:a="http://schemas.openxmlformats.org/drawingml/2006/main" noGrp="1"/>
          </p:cNvSpPr>
          <p:nvPr/>
        </p:nvSpPr>
        <p:spPr>
          <a:xfrm xmlns:a="http://schemas.openxmlformats.org/drawingml/2006/main">
            <a:off x="8667750" y="4171950"/>
            <a:ext cx="2857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Independent tests; learned temporal context; registration, correspondence, and strain</a:t>
            </a:r>
          </a:p>
        </p:txBody>
      </p:sp>
      <p:sp>
        <p:nvSpPr>
          <p:cNvPr id="18" name="">
            <a:extLst xmlns:a="http://schemas.openxmlformats.org/drawingml/2006/main">
              <a:ext uri="{FF2B5EF4-FFF2-40B4-BE49-F238E27FC236}">
                <a16:creationId xmlns:a16="http://schemas.microsoft.com/office/drawing/2014/main" id="{6260106E-8734-429E-A220-48B08DE40239}"/>
              </a:ext>
            </a:extLst>
          </p:cNvPr>
          <p:cNvSpPr>
            <a:spLocks xmlns:a="http://schemas.openxmlformats.org/drawingml/2006/main" noGrp="1"/>
          </p:cNvSpPr>
          <p:nvPr/>
        </p:nvSpPr>
        <p:spPr>
          <a:xfrm xmlns:a="http://schemas.openxmlformats.org/drawingml/2006/main">
            <a:off x="685800" y="5638800"/>
            <a:ext cx="10820400" cy="495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8B814DF-0D9D-452C-9F6D-26A6080A892D}"/>
              </a:ext>
            </a:extLst>
          </p:cNvPr>
          <p:cNvSpPr>
            <a:spLocks xmlns:a="http://schemas.openxmlformats.org/drawingml/2006/main" noGrp="1"/>
          </p:cNvSpPr>
          <p:nvPr/>
        </p:nvSpPr>
        <p:spPr>
          <a:xfrm xmlns:a="http://schemas.openxmlformats.org/drawingml/2006/main">
            <a:off x="876300" y="5762625"/>
            <a:ext cx="10439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i="0">
                <a:solidFill>
                  <a:srgbClr val="000000"/>
                </a:solidFill>
                <a:latin typeface="Arial"/>
                <a:ea typeface="Arial"/>
                <a:cs typeface="Arial"/>
              </a:defRPr>
            </a:pPr>
            <a:r>
              <a:rPr sz="1650" b="1" i="0">
                <a:solidFill>
                  <a:srgbClr val="000000"/>
                </a:solidFill>
                <a:latin typeface="Arial"/>
                <a:ea typeface="Arial"/>
                <a:cs typeface="Arial"/>
              </a:rPr>
              <a:t>The title is supported by complete segmentation-derived cine analysis; dense tissue motion remains outside scope.</a:t>
            </a:r>
          </a:p>
        </p:txBody>
      </p:sp>
    </p:spTree>
    <p:extLst>
      <p:ext uri="{BB962C8B-B14F-4D97-AF65-F5344CB8AC3E}">
        <p14:creationId xmlns:p14="http://schemas.microsoft.com/office/powerpoint/2010/main" val="16617721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9F3445-92B9-4007-955B-911BA4764679}"/>
              </a:ext>
            </a:extLst>
          </p:cNvPr>
          <p:cNvSpPr>
            <a:spLocks xmlns:a="http://schemas.openxmlformats.org/drawingml/2006/main" noGrp="1"/>
          </p:cNvSpPr>
          <p:nvPr/>
        </p:nvSpPr>
        <p:spPr>
          <a:xfrm xmlns:a="http://schemas.openxmlformats.org/drawingml/2006/main">
            <a:off x="590550" y="5143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i="0">
                <a:solidFill>
                  <a:srgbClr val="5F6670"/>
                </a:solidFill>
                <a:latin typeface="Arial"/>
                <a:ea typeface="Arial"/>
                <a:cs typeface="Arial"/>
              </a:defRPr>
            </a:pPr>
            <a:r>
              <a:rPr sz="1275" b="1" i="0">
                <a:solidFill>
                  <a:srgbClr val="5F6670"/>
                </a:solidFill>
                <a:latin typeface="Arial"/>
                <a:ea typeface="Arial"/>
                <a:cs typeface="Arial"/>
              </a:rPr>
              <a:t>DEFENSIBLE CONCLUSION</a:t>
            </a:r>
          </a:p>
        </p:txBody>
      </p:sp>
      <p:sp>
        <p:nvSpPr>
          <p:cNvPr id="2" name="">
            <a:extLst xmlns:a="http://schemas.openxmlformats.org/drawingml/2006/main">
              <a:ext uri="{FF2B5EF4-FFF2-40B4-BE49-F238E27FC236}">
                <a16:creationId xmlns:a16="http://schemas.microsoft.com/office/drawing/2014/main" id="{EDA62FE5-31DB-4C99-95F6-240E480CB3DF}"/>
              </a:ext>
            </a:extLst>
          </p:cNvPr>
          <p:cNvSpPr>
            <a:spLocks xmlns:a="http://schemas.openxmlformats.org/drawingml/2006/main" noGrp="1"/>
          </p:cNvSpPr>
          <p:nvPr/>
        </p:nvSpPr>
        <p:spPr>
          <a:xfrm xmlns:a="http://schemas.openxmlformats.org/drawingml/2006/main">
            <a:off x="590550" y="1143000"/>
            <a:ext cx="75247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49"/>
          </a:bodyPr>
          <a:lstStyle xmlns:a="http://schemas.openxmlformats.org/drawingml/2006/main"/>
          <a:p xmlns:a="http://schemas.openxmlformats.org/drawingml/2006/main">
            <a:pPr algn="l">
              <a:buNone/>
              <a:defRPr sz="4950" b="1" i="0">
                <a:solidFill>
                  <a:srgbClr val="000000"/>
                </a:solidFill>
                <a:latin typeface="Arial"/>
                <a:ea typeface="Arial"/>
                <a:cs typeface="Arial"/>
              </a:defRPr>
            </a:pPr>
            <a:r>
              <a:rPr sz="4950" b="1" i="0">
                <a:solidFill>
                  <a:srgbClr val="000000"/>
                </a:solidFill>
                <a:latin typeface="Arial"/>
                <a:ea typeface="Arial"/>
                <a:cs typeface="Arial"/>
              </a:rPr>
              <a:t>Compact segmentation +</a:t>
            </a:r>
          </a:p>
          <a:p xmlns:a="http://schemas.openxmlformats.org/drawingml/2006/main">
            <a:pPr algn="l">
              <a:buNone/>
              <a:defRPr sz="4950" b="1" i="0">
                <a:solidFill>
                  <a:srgbClr val="000000"/>
                </a:solidFill>
                <a:latin typeface="Arial"/>
                <a:ea typeface="Arial"/>
                <a:cs typeface="Arial"/>
              </a:defRPr>
            </a:pPr>
            <a:r>
              <a:rPr sz="4950" b="1" i="0">
                <a:solidFill>
                  <a:srgbClr val="000000"/>
                </a:solidFill>
                <a:latin typeface="Arial"/>
                <a:ea typeface="Arial"/>
                <a:cs typeface="Arial"/>
              </a:rPr>
              <a:t>audited full-cine function</a:t>
            </a:r>
          </a:p>
        </p:txBody>
      </p:sp>
      <p:sp>
        <p:nvSpPr>
          <p:cNvPr id="3" name="">
            <a:extLst xmlns:a="http://schemas.openxmlformats.org/drawingml/2006/main">
              <a:ext uri="{FF2B5EF4-FFF2-40B4-BE49-F238E27FC236}">
                <a16:creationId xmlns:a16="http://schemas.microsoft.com/office/drawing/2014/main" id="{38F57971-946C-4CA7-9DF6-BACC41D83614}"/>
              </a:ext>
            </a:extLst>
          </p:cNvPr>
          <p:cNvSpPr>
            <a:spLocks xmlns:a="http://schemas.openxmlformats.org/drawingml/2006/main" noGrp="1"/>
          </p:cNvSpPr>
          <p:nvPr/>
        </p:nvSpPr>
        <p:spPr>
          <a:xfrm xmlns:a="http://schemas.openxmlformats.org/drawingml/2006/main">
            <a:off x="590550" y="3009900"/>
            <a:ext cx="106680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9B5754D9-0A5B-4229-AD48-3510C64E0DA8}"/>
              </a:ext>
            </a:extLst>
          </p:cNvPr>
          <p:cNvSpPr>
            <a:spLocks xmlns:a="http://schemas.openxmlformats.org/drawingml/2006/main" noGrp="1"/>
          </p:cNvSpPr>
          <p:nvPr/>
        </p:nvSpPr>
        <p:spPr>
          <a:xfrm xmlns:a="http://schemas.openxmlformats.org/drawingml/2006/main">
            <a:off x="590550" y="34861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655"/>
          </a:bodyPr>
          <a:lstStyle xmlns:a="http://schemas.openxmlformats.org/drawingml/2006/main"/>
          <a:p xmlns:a="http://schemas.openxmlformats.org/drawingml/2006/main">
            <a:pPr algn="l">
              <a:buNone/>
              <a:defRPr sz="4350" b="1" i="0">
                <a:solidFill>
                  <a:srgbClr val="3D8DFF"/>
                </a:solidFill>
                <a:latin typeface="Arial"/>
                <a:ea typeface="Arial"/>
                <a:cs typeface="Arial"/>
              </a:defRPr>
            </a:pPr>
            <a:r>
              <a:rPr sz="4350" b="1" i="0">
                <a:solidFill>
                  <a:srgbClr val="3D8DFF"/>
                </a:solidFill>
                <a:latin typeface="Arial"/>
                <a:ea typeface="Arial"/>
                <a:cs typeface="Arial"/>
              </a:rPr>
              <a:t>84.78%</a:t>
            </a:r>
          </a:p>
        </p:txBody>
      </p:sp>
      <p:sp>
        <p:nvSpPr>
          <p:cNvPr id="5" name="">
            <a:extLst xmlns:a="http://schemas.openxmlformats.org/drawingml/2006/main">
              <a:ext uri="{FF2B5EF4-FFF2-40B4-BE49-F238E27FC236}">
                <a16:creationId xmlns:a16="http://schemas.microsoft.com/office/drawing/2014/main" id="{C4119075-BCFA-4A8A-88FB-110F9548DD60}"/>
              </a:ext>
            </a:extLst>
          </p:cNvPr>
          <p:cNvSpPr>
            <a:spLocks xmlns:a="http://schemas.openxmlformats.org/drawingml/2006/main" noGrp="1"/>
          </p:cNvSpPr>
          <p:nvPr/>
        </p:nvSpPr>
        <p:spPr>
          <a:xfrm xmlns:a="http://schemas.openxmlformats.org/drawingml/2006/main">
            <a:off x="590550" y="42481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validation mean Dice</a:t>
            </a:r>
          </a:p>
        </p:txBody>
      </p:sp>
      <p:sp>
        <p:nvSpPr>
          <p:cNvPr id="6" name="">
            <a:extLst xmlns:a="http://schemas.openxmlformats.org/drawingml/2006/main">
              <a:ext uri="{FF2B5EF4-FFF2-40B4-BE49-F238E27FC236}">
                <a16:creationId xmlns:a16="http://schemas.microsoft.com/office/drawing/2014/main" id="{537E1C92-3D0F-4EE4-BCC7-1917A865EEE4}"/>
              </a:ext>
            </a:extLst>
          </p:cNvPr>
          <p:cNvSpPr>
            <a:spLocks xmlns:a="http://schemas.openxmlformats.org/drawingml/2006/main" noGrp="1"/>
          </p:cNvSpPr>
          <p:nvPr/>
        </p:nvSpPr>
        <p:spPr>
          <a:xfrm xmlns:a="http://schemas.openxmlformats.org/drawingml/2006/main">
            <a:off x="4171950" y="34861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655"/>
          </a:bodyPr>
          <a:lstStyle xmlns:a="http://schemas.openxmlformats.org/drawingml/2006/main"/>
          <a:p xmlns:a="http://schemas.openxmlformats.org/drawingml/2006/main">
            <a:pPr algn="l">
              <a:buNone/>
              <a:defRPr sz="4350" b="1" i="0">
                <a:solidFill>
                  <a:srgbClr val="000000"/>
                </a:solidFill>
                <a:latin typeface="Arial"/>
                <a:ea typeface="Arial"/>
                <a:cs typeface="Arial"/>
              </a:defRPr>
            </a:pPr>
            <a:r>
              <a:rPr sz="4350" b="1" i="0">
                <a:solidFill>
                  <a:srgbClr val="000000"/>
                </a:solidFill>
                <a:latin typeface="Arial"/>
                <a:ea typeface="Arial"/>
                <a:cs typeface="Arial"/>
              </a:rPr>
              <a:t>1.456M</a:t>
            </a:r>
          </a:p>
        </p:txBody>
      </p:sp>
      <p:sp>
        <p:nvSpPr>
          <p:cNvPr id="7" name="">
            <a:extLst xmlns:a="http://schemas.openxmlformats.org/drawingml/2006/main">
              <a:ext uri="{FF2B5EF4-FFF2-40B4-BE49-F238E27FC236}">
                <a16:creationId xmlns:a16="http://schemas.microsoft.com/office/drawing/2014/main" id="{DA45ABD7-CD44-4405-BC0E-572ECE2D14A7}"/>
              </a:ext>
            </a:extLst>
          </p:cNvPr>
          <p:cNvSpPr>
            <a:spLocks xmlns:a="http://schemas.openxmlformats.org/drawingml/2006/main" noGrp="1"/>
          </p:cNvSpPr>
          <p:nvPr/>
        </p:nvSpPr>
        <p:spPr>
          <a:xfrm xmlns:a="http://schemas.openxmlformats.org/drawingml/2006/main">
            <a:off x="4171950" y="42481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reported parameters</a:t>
            </a:r>
          </a:p>
        </p:txBody>
      </p:sp>
      <p:sp>
        <p:nvSpPr>
          <p:cNvPr id="8" name="">
            <a:extLst xmlns:a="http://schemas.openxmlformats.org/drawingml/2006/main">
              <a:ext uri="{FF2B5EF4-FFF2-40B4-BE49-F238E27FC236}">
                <a16:creationId xmlns:a16="http://schemas.microsoft.com/office/drawing/2014/main" id="{EC419123-78CE-4452-902E-A0472A12191F}"/>
              </a:ext>
            </a:extLst>
          </p:cNvPr>
          <p:cNvSpPr>
            <a:spLocks xmlns:a="http://schemas.openxmlformats.org/drawingml/2006/main" noGrp="1"/>
          </p:cNvSpPr>
          <p:nvPr/>
        </p:nvSpPr>
        <p:spPr>
          <a:xfrm xmlns:a="http://schemas.openxmlformats.org/drawingml/2006/main">
            <a:off x="7772400" y="34861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655"/>
          </a:bodyPr>
          <a:lstStyle xmlns:a="http://schemas.openxmlformats.org/drawingml/2006/main"/>
          <a:p xmlns:a="http://schemas.openxmlformats.org/drawingml/2006/main">
            <a:pPr algn="l">
              <a:buNone/>
              <a:defRPr sz="4350" b="1" i="0">
                <a:solidFill>
                  <a:srgbClr val="000000"/>
                </a:solidFill>
                <a:latin typeface="Arial"/>
                <a:ea typeface="Arial"/>
                <a:cs typeface="Arial"/>
              </a:defRPr>
            </a:pPr>
            <a:r>
              <a:rPr sz="4350" b="1" i="0">
                <a:solidFill>
                  <a:srgbClr val="000000"/>
                </a:solidFill>
                <a:latin typeface="Arial"/>
                <a:ea typeface="Arial"/>
                <a:cs typeface="Arial"/>
              </a:rPr>
              <a:t>19/20</a:t>
            </a:r>
          </a:p>
        </p:txBody>
      </p:sp>
      <p:sp>
        <p:nvSpPr>
          <p:cNvPr id="9" name="">
            <a:extLst xmlns:a="http://schemas.openxmlformats.org/drawingml/2006/main">
              <a:ext uri="{FF2B5EF4-FFF2-40B4-BE49-F238E27FC236}">
                <a16:creationId xmlns:a16="http://schemas.microsoft.com/office/drawing/2014/main" id="{5D81D579-84E4-4ADF-83C3-5771BF1FC730}"/>
              </a:ext>
            </a:extLst>
          </p:cNvPr>
          <p:cNvSpPr>
            <a:spLocks xmlns:a="http://schemas.openxmlformats.org/drawingml/2006/main" noGrp="1"/>
          </p:cNvSpPr>
          <p:nvPr/>
        </p:nvSpPr>
        <p:spPr>
          <a:xfrm xmlns:a="http://schemas.openxmlformats.org/drawingml/2006/main">
            <a:off x="7772400" y="4248150"/>
            <a:ext cx="3238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i="0">
                <a:solidFill>
                  <a:srgbClr val="5F6670"/>
                </a:solidFill>
                <a:latin typeface="Arial"/>
                <a:ea typeface="Arial"/>
                <a:cs typeface="Arial"/>
              </a:defRPr>
            </a:pPr>
            <a:r>
              <a:rPr sz="1650" b="0" i="0">
                <a:solidFill>
                  <a:srgbClr val="5F6670"/>
                </a:solidFill>
                <a:latin typeface="Arial"/>
                <a:ea typeface="Arial"/>
                <a:cs typeface="Arial"/>
              </a:rPr>
              <a:t>smoother LV curves</a:t>
            </a:r>
          </a:p>
        </p:txBody>
      </p:sp>
      <p:sp>
        <p:nvSpPr>
          <p:cNvPr id="10" name="">
            <a:extLst xmlns:a="http://schemas.openxmlformats.org/drawingml/2006/main">
              <a:ext uri="{FF2B5EF4-FFF2-40B4-BE49-F238E27FC236}">
                <a16:creationId xmlns:a16="http://schemas.microsoft.com/office/drawing/2014/main" id="{5DFBA280-9438-4E1C-9588-7F676766E855}"/>
              </a:ext>
            </a:extLst>
          </p:cNvPr>
          <p:cNvSpPr>
            <a:spLocks xmlns:a="http://schemas.openxmlformats.org/drawingml/2006/main" noGrp="1"/>
          </p:cNvSpPr>
          <p:nvPr/>
        </p:nvSpPr>
        <p:spPr>
          <a:xfrm xmlns:a="http://schemas.openxmlformats.org/drawingml/2006/main">
            <a:off x="590550" y="5124450"/>
            <a:ext cx="10668000" cy="742950"/>
          </a:xfrm>
          <a:prstGeom xmlns:a="http://schemas.openxmlformats.org/drawingml/2006/main" prst="rect">
            <a:avLst/>
          </a:prstGeom>
          <a:solidFill xmlns:a="http://schemas.openxmlformats.org/drawingml/2006/main">
            <a:srgbClr val="EAF5F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7DC822A-B87E-4B21-9E33-A3BE15B4B380}"/>
              </a:ext>
            </a:extLst>
          </p:cNvPr>
          <p:cNvSpPr>
            <a:spLocks xmlns:a="http://schemas.openxmlformats.org/drawingml/2006/main" noGrp="1"/>
          </p:cNvSpPr>
          <p:nvPr/>
        </p:nvSpPr>
        <p:spPr>
          <a:xfrm xmlns:a="http://schemas.openxmlformats.org/drawingml/2006/main">
            <a:off x="819150" y="5314950"/>
            <a:ext cx="1021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9767"/>
          </a:bodyPr>
          <a:lstStyle xmlns:a="http://schemas.openxmlformats.org/drawingml/2006/main"/>
          <a:p xmlns:a="http://schemas.openxmlformats.org/drawingml/2006/main">
            <a:pPr algn="l">
              <a:buNone/>
              <a:defRPr sz="1725" b="1" i="0">
                <a:solidFill>
                  <a:srgbClr val="000000"/>
                </a:solidFill>
                <a:latin typeface="Arial"/>
                <a:ea typeface="Arial"/>
                <a:cs typeface="Arial"/>
              </a:defRPr>
            </a:pPr>
            <a:r>
              <a:rPr sz="1725" b="1" i="0">
                <a:solidFill>
                  <a:srgbClr val="000000"/>
                </a:solidFill>
                <a:latin typeface="Arial"/>
                <a:ea typeface="Arial"/>
                <a:cs typeface="Arial"/>
              </a:rPr>
              <a:t>SegResNet16 leads Dice; fixed fusion does not resolve Dice/EF gains. Contribution = compact spatial model + bounded full-cine analysis.</a:t>
            </a:r>
          </a:p>
        </p:txBody>
      </p:sp>
      <p:sp>
        <p:nvSpPr>
          <p:cNvPr id="12" name="">
            <a:extLst xmlns:a="http://schemas.openxmlformats.org/drawingml/2006/main">
              <a:ext uri="{FF2B5EF4-FFF2-40B4-BE49-F238E27FC236}">
                <a16:creationId xmlns:a16="http://schemas.microsoft.com/office/drawing/2014/main" id="{2972B4F5-C681-4860-BE6C-9B1BD89EAF0E}"/>
              </a:ext>
            </a:extLst>
          </p:cNvPr>
          <p:cNvSpPr>
            <a:spLocks xmlns:a="http://schemas.openxmlformats.org/drawingml/2006/main" noGrp="1"/>
          </p:cNvSpPr>
          <p:nvPr/>
        </p:nvSpPr>
        <p:spPr>
          <a:xfrm xmlns:a="http://schemas.openxmlformats.org/drawingml/2006/main">
            <a:off x="9620250" y="6191250"/>
            <a:ext cx="1638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1795"/>
          </a:bodyPr>
          <a:lstStyle xmlns:a="http://schemas.openxmlformats.org/drawingml/2006/main"/>
          <a:p xmlns:a="http://schemas.openxmlformats.org/drawingml/2006/main">
            <a:pPr algn="r">
              <a:buNone/>
              <a:defRPr sz="1950" b="1" i="0">
                <a:solidFill>
                  <a:srgbClr val="3D8DFF"/>
                </a:solidFill>
                <a:latin typeface="Arial"/>
                <a:ea typeface="Arial"/>
                <a:cs typeface="Arial"/>
              </a:defRPr>
            </a:pPr>
            <a:r>
              <a:rPr sz="1950" b="1" i="0">
                <a:solidFill>
                  <a:srgbClr val="3D8DFF"/>
                </a:solidFill>
                <a:latin typeface="Arial"/>
                <a:ea typeface="Arial"/>
                <a:cs typeface="Arial"/>
              </a:rPr>
              <a:t>Questions</a:t>
            </a:r>
          </a:p>
        </p:txBody>
      </p:sp>
    </p:spTree>
    <p:extLst>
      <p:ext uri="{BB962C8B-B14F-4D97-AF65-F5344CB8AC3E}">
        <p14:creationId xmlns:p14="http://schemas.microsoft.com/office/powerpoint/2010/main" val="15855394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2026-08-21T18:06:56.9560000Z</dcterms:created>
  <dcterms:modified xsi:type="dcterms:W3CDTF">2026-08-21T18:06:56.9560000Z</dcterms:modified>
</coreProperties>
</file>