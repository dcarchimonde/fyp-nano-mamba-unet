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96" y="2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22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921240" y="0"/>
            <a:ext cx="960120" cy="256032"/>
          </a:xfrm>
          <a:prstGeom prst="rect">
            <a:avLst/>
          </a:prstGeom>
          <a:solidFill>
            <a:srgbClr val="F5B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881360" y="0"/>
            <a:ext cx="411480" cy="256032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8912" y="41148"/>
            <a:ext cx="3657600" cy="1645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819" b="0">
                <a:solidFill>
                  <a:srgbClr val="FFFFFF"/>
                </a:solidFill>
              </a:defRPr>
            </a:pPr>
            <a:r>
              <a:t>P1 Progress 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91695" cy="45720"/>
          </a:xfrm>
          <a:prstGeom prst="rect">
            <a:avLst/>
          </a:prstGeom>
          <a:solidFill>
            <a:srgbClr val="122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95560" y="6611112"/>
            <a:ext cx="1508760" cy="1645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800" b="0">
                <a:solidFill>
                  <a:srgbClr val="5F5F5F"/>
                </a:solidFill>
              </a:defRPr>
            </a:pPr>
            <a:r>
              <a:t>Tong Siyuan | 1/10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143000"/>
            <a:ext cx="1088136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4000" b="1">
                <a:solidFill>
                  <a:srgbClr val="122E58"/>
                </a:solidFill>
              </a:defRPr>
            </a:pPr>
            <a:r>
              <a:t>Nano-Mamba U-Net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755648"/>
            <a:ext cx="9692640" cy="34747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2200" b="0">
                <a:solidFill>
                  <a:srgbClr val="232323"/>
                </a:solidFill>
              </a:defRPr>
            </a:pPr>
            <a:r>
              <a:t>A Spatio-Temporal Framework for Cardiac Motion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45152" y="2514600"/>
            <a:ext cx="2880360" cy="411480"/>
          </a:xfrm>
          <a:prstGeom prst="roundRect">
            <a:avLst/>
          </a:prstGeom>
          <a:solidFill>
            <a:srgbClr val="122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P1 Progress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3246120"/>
            <a:ext cx="8092440" cy="7772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550" b="0">
                <a:solidFill>
                  <a:srgbClr val="5F5F5F"/>
                </a:solidFill>
              </a:defRPr>
            </a:pPr>
            <a:r>
              <a:t>Tong Siyuan</a:t>
            </a:r>
            <a:br/>
            <a:r>
              <a:t>Master of Artificial Intelligence</a:t>
            </a:r>
            <a:br/>
            <a:r>
              <a:t>Faculty of Computer Science and Information Technology, Universiti Malaya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983480"/>
            <a:ext cx="1874519" cy="420624"/>
          </a:xfrm>
          <a:prstGeom prst="roundRect">
            <a:avLst/>
          </a:prstGeom>
          <a:solidFill>
            <a:srgbClr val="2D5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Motivation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999232" y="5193792"/>
            <a:ext cx="768096" cy="0"/>
          </a:xfrm>
          <a:prstGeom prst="line">
            <a:avLst/>
          </a:prstGeom>
          <a:ln w="13970">
            <a:solidFill>
              <a:srgbClr val="122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840480" y="4983480"/>
            <a:ext cx="1874519" cy="420624"/>
          </a:xfrm>
          <a:prstGeom prst="round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Problem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42432" y="5193792"/>
            <a:ext cx="768096" cy="0"/>
          </a:xfrm>
          <a:prstGeom prst="line">
            <a:avLst/>
          </a:prstGeom>
          <a:ln w="13970">
            <a:solidFill>
              <a:srgbClr val="122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583680" y="4983480"/>
            <a:ext cx="1874519" cy="420624"/>
          </a:xfrm>
          <a:prstGeom prst="roundRect">
            <a:avLst/>
          </a:prstGeom>
          <a:solidFill>
            <a:srgbClr val="3E8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Methodology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485632" y="5193792"/>
            <a:ext cx="768096" cy="0"/>
          </a:xfrm>
          <a:prstGeom prst="line">
            <a:avLst/>
          </a:prstGeom>
          <a:ln w="13970">
            <a:solidFill>
              <a:srgbClr val="122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326880" y="4983480"/>
            <a:ext cx="1874519" cy="420624"/>
          </a:xfrm>
          <a:prstGeom prst="roundRect">
            <a:avLst/>
          </a:prstGeom>
          <a:solidFill>
            <a:srgbClr val="6E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Innovation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22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921240" y="0"/>
            <a:ext cx="960120" cy="256032"/>
          </a:xfrm>
          <a:prstGeom prst="rect">
            <a:avLst/>
          </a:prstGeom>
          <a:solidFill>
            <a:srgbClr val="F5B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881360" y="0"/>
            <a:ext cx="411480" cy="256032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8912" y="41148"/>
            <a:ext cx="3657600" cy="1645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819" b="0">
                <a:solidFill>
                  <a:srgbClr val="FFFFFF"/>
                </a:solidFill>
              </a:defRPr>
            </a:pPr>
            <a:r>
              <a:t>P1 Progress 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91695" cy="45720"/>
          </a:xfrm>
          <a:prstGeom prst="rect">
            <a:avLst/>
          </a:prstGeom>
          <a:solidFill>
            <a:srgbClr val="122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95560" y="6611112"/>
            <a:ext cx="1508760" cy="1645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800" b="0">
                <a:solidFill>
                  <a:srgbClr val="5F5F5F"/>
                </a:solidFill>
              </a:defRPr>
            </a:pPr>
            <a:r>
              <a:t>Tong Siyuan | 2/10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475488"/>
            <a:ext cx="1115568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2500" b="1">
                <a:solidFill>
                  <a:srgbClr val="122E58"/>
                </a:solidFill>
              </a:defRPr>
            </a:pPr>
            <a:r>
              <a:t>Project Motivation and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32688"/>
            <a:ext cx="10881360" cy="23774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100" b="0">
                <a:solidFill>
                  <a:srgbClr val="5F5F5F"/>
                </a:solidFill>
              </a:defRPr>
            </a:pPr>
            <a:r>
              <a:t>P1 focuses on the problem, literature, proposed methodology, and references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572768"/>
            <a:ext cx="1965960" cy="475488"/>
          </a:xfrm>
          <a:prstGeom prst="roundRect">
            <a:avLst/>
          </a:prstGeom>
          <a:solidFill>
            <a:srgbClr val="2D5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CMR Volume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61488" y="1810512"/>
            <a:ext cx="722376" cy="0"/>
          </a:xfrm>
          <a:prstGeom prst="line">
            <a:avLst/>
          </a:prstGeom>
          <a:ln w="13970">
            <a:solidFill>
              <a:srgbClr val="122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520440" y="1572768"/>
            <a:ext cx="1965960" cy="475488"/>
          </a:xfrm>
          <a:prstGeom prst="roundRect">
            <a:avLst/>
          </a:prstGeom>
          <a:solidFill>
            <a:srgbClr val="3E8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RV / MYO / LV Masks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04688" y="1810512"/>
            <a:ext cx="722376" cy="0"/>
          </a:xfrm>
          <a:prstGeom prst="line">
            <a:avLst/>
          </a:prstGeom>
          <a:ln w="13970">
            <a:solidFill>
              <a:srgbClr val="122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263640" y="1572768"/>
            <a:ext cx="1965960" cy="475488"/>
          </a:xfrm>
          <a:prstGeom prst="roundRect">
            <a:avLst/>
          </a:prstGeom>
          <a:solidFill>
            <a:srgbClr val="6E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EDV, ESV, EF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47888" y="1810512"/>
            <a:ext cx="722376" cy="0"/>
          </a:xfrm>
          <a:prstGeom prst="line">
            <a:avLst/>
          </a:prstGeom>
          <a:ln w="13970">
            <a:solidFill>
              <a:srgbClr val="122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006840" y="1572768"/>
            <a:ext cx="1965960" cy="475488"/>
          </a:xfrm>
          <a:prstGeom prst="round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Cardiac Review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788920"/>
            <a:ext cx="5257800" cy="1737360"/>
          </a:xfrm>
          <a:prstGeom prst="roundRect">
            <a:avLst/>
          </a:prstGeom>
          <a:solidFill>
            <a:srgbClr val="F8FAFD"/>
          </a:solidFill>
          <a:ln w="13335">
            <a:solidFill>
              <a:srgbClr val="122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" y="2889503"/>
            <a:ext cx="4946904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200" b="1">
                <a:solidFill>
                  <a:srgbClr val="122E58"/>
                </a:solidFill>
              </a:defRPr>
            </a:pPr>
            <a:r>
              <a:t>Why segmentation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246120"/>
            <a:ext cx="4892040" cy="1188719"/>
          </a:xfrm>
          <a:prstGeom prst="rect">
            <a:avLst/>
          </a:prstGeom>
          <a:noFill/>
        </p:spPr>
        <p:txBody>
          <a:bodyPr wrap="square" lIns="54864" rIns="45720">
            <a:spAutoFit/>
          </a:bodyPr>
          <a:lstStyle/>
          <a:p>
            <a:pPr>
              <a:lnSpc>
                <a:spcPct val="105000"/>
              </a:lnSpc>
              <a:spcAft>
                <a:spcPts val="150"/>
              </a:spcAft>
              <a:defRPr sz="1120">
                <a:solidFill>
                  <a:srgbClr val="232323"/>
                </a:solidFill>
              </a:defRPr>
            </a:pPr>
            <a:r>
              <a:t>CMR segmentation is needed before volume-based cardiac measurements.</a:t>
            </a:r>
          </a:p>
          <a:p>
            <a:pPr>
              <a:lnSpc>
                <a:spcPct val="105000"/>
              </a:lnSpc>
              <a:spcAft>
                <a:spcPts val="150"/>
              </a:spcAft>
              <a:defRPr sz="1120">
                <a:solidFill>
                  <a:srgbClr val="232323"/>
                </a:solidFill>
              </a:defRPr>
            </a:pPr>
            <a:r>
              <a:t>Manual delineation is expert-dependent and difficult to scale.</a:t>
            </a:r>
          </a:p>
          <a:p>
            <a:pPr>
              <a:lnSpc>
                <a:spcPct val="105000"/>
              </a:lnSpc>
              <a:spcAft>
                <a:spcPts val="150"/>
              </a:spcAft>
              <a:defRPr sz="1120">
                <a:solidFill>
                  <a:srgbClr val="232323"/>
                </a:solidFill>
              </a:defRPr>
            </a:pPr>
            <a:r>
              <a:t>A practical model should balance accuracy, model size, and inference cost.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2788920"/>
            <a:ext cx="4251960" cy="1143000"/>
          </a:xfrm>
          <a:prstGeom prst="roundRect">
            <a:avLst/>
          </a:prstGeom>
          <a:solidFill>
            <a:srgbClr val="E4EEFA"/>
          </a:solidFill>
          <a:ln w="13335">
            <a:solidFill>
              <a:srgbClr val="2D5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20840" y="2926080"/>
            <a:ext cx="370332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250" b="1">
                <a:solidFill>
                  <a:srgbClr val="2D569B"/>
                </a:solidFill>
              </a:defRPr>
            </a:pPr>
            <a:r>
              <a:t>Ejection Fraction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310128"/>
            <a:ext cx="379476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680" b="1">
                <a:solidFill>
                  <a:srgbClr val="232323"/>
                </a:solidFill>
              </a:defRPr>
            </a:pPr>
            <a:r>
              <a:t>EF = (VED − VES) / VED × 100%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31720" y="5074920"/>
            <a:ext cx="7498079" cy="457200"/>
          </a:xfrm>
          <a:prstGeom prst="roundRect">
            <a:avLst/>
          </a:prstGeom>
          <a:solidFill>
            <a:srgbClr val="122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P1 boundary: no P2 discussion/conclusion is presented here.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22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921240" y="0"/>
            <a:ext cx="960120" cy="256032"/>
          </a:xfrm>
          <a:prstGeom prst="rect">
            <a:avLst/>
          </a:prstGeom>
          <a:solidFill>
            <a:srgbClr val="F5B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881360" y="0"/>
            <a:ext cx="411480" cy="256032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8912" y="41148"/>
            <a:ext cx="3657600" cy="1645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819" b="0">
                <a:solidFill>
                  <a:srgbClr val="FFFFFF"/>
                </a:solidFill>
              </a:defRPr>
            </a:pPr>
            <a:r>
              <a:t>P1 Progress 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91695" cy="45720"/>
          </a:xfrm>
          <a:prstGeom prst="rect">
            <a:avLst/>
          </a:prstGeom>
          <a:solidFill>
            <a:srgbClr val="122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95560" y="6611112"/>
            <a:ext cx="1508760" cy="1645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800" b="0">
                <a:solidFill>
                  <a:srgbClr val="5F5F5F"/>
                </a:solidFill>
              </a:defRPr>
            </a:pPr>
            <a:r>
              <a:t>Tong Siyuan | 3/10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475488"/>
            <a:ext cx="1115568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2500" b="1">
                <a:solidFill>
                  <a:srgbClr val="122E58"/>
                </a:solidFill>
              </a:defRPr>
            </a:pPr>
            <a:r>
              <a:t>Research Problem and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32688"/>
            <a:ext cx="10881360" cy="23774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100" b="0">
                <a:solidFill>
                  <a:srgbClr val="5F5F5F"/>
                </a:solidFill>
              </a:defRPr>
            </a:pPr>
            <a:r>
              <a:t>The project targets the accuracy-efficiency trade-off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325880"/>
            <a:ext cx="3429000" cy="2240280"/>
          </a:xfrm>
          <a:prstGeom prst="roundRect">
            <a:avLst/>
          </a:prstGeom>
          <a:solidFill>
            <a:srgbClr val="F8FAFD"/>
          </a:solidFill>
          <a:ln w="13335">
            <a:solidFill>
              <a:srgbClr val="2D5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1426464"/>
            <a:ext cx="3118104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200" b="1">
                <a:solidFill>
                  <a:srgbClr val="2D569B"/>
                </a:solidFill>
              </a:defRPr>
            </a:pPr>
            <a:r>
              <a:t>Problem 1</a:t>
            </a:r>
            <a:br/>
            <a:r>
              <a:t>Local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783080"/>
            <a:ext cx="3063240" cy="1691640"/>
          </a:xfrm>
          <a:prstGeom prst="rect">
            <a:avLst/>
          </a:prstGeom>
          <a:noFill/>
        </p:spPr>
        <p:txBody>
          <a:bodyPr wrap="square" lIns="54864" rIns="45720">
            <a:spAutoFit/>
          </a:bodyPr>
          <a:lstStyle/>
          <a:p>
            <a:pPr>
              <a:lnSpc>
                <a:spcPct val="105000"/>
              </a:lnSpc>
              <a:spcAft>
                <a:spcPts val="150"/>
              </a:spcAft>
              <a:defRPr sz="1100">
                <a:solidFill>
                  <a:srgbClr val="232323"/>
                </a:solidFill>
              </a:defRPr>
            </a:pPr>
            <a:r>
              <a:t>3D convolutions are locally constructed.</a:t>
            </a:r>
          </a:p>
          <a:p>
            <a:pPr>
              <a:lnSpc>
                <a:spcPct val="105000"/>
              </a:lnSpc>
              <a:spcAft>
                <a:spcPts val="150"/>
              </a:spcAft>
              <a:defRPr sz="1100">
                <a:solidFill>
                  <a:srgbClr val="232323"/>
                </a:solidFill>
              </a:defRPr>
            </a:pPr>
            <a:r>
              <a:t>Small models may lose broader anatomical context.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325880"/>
            <a:ext cx="3429000" cy="2240280"/>
          </a:xfrm>
          <a:prstGeom prst="roundRect">
            <a:avLst/>
          </a:prstGeom>
          <a:solidFill>
            <a:srgbClr val="F8FAFD"/>
          </a:solidFill>
          <a:ln w="13335">
            <a:solidFill>
              <a:srgbClr val="BE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1426464"/>
            <a:ext cx="3118104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200" b="1">
                <a:solidFill>
                  <a:srgbClr val="BE232D"/>
                </a:solidFill>
              </a:defRPr>
            </a:pPr>
            <a:r>
              <a:t>Problem 2</a:t>
            </a:r>
            <a:br/>
            <a:r>
              <a:t>Computational 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783080"/>
            <a:ext cx="3063240" cy="1691640"/>
          </a:xfrm>
          <a:prstGeom prst="rect">
            <a:avLst/>
          </a:prstGeom>
          <a:noFill/>
        </p:spPr>
        <p:txBody>
          <a:bodyPr wrap="square" lIns="54864" rIns="45720">
            <a:spAutoFit/>
          </a:bodyPr>
          <a:lstStyle/>
          <a:p>
            <a:pPr>
              <a:lnSpc>
                <a:spcPct val="105000"/>
              </a:lnSpc>
              <a:spcAft>
                <a:spcPts val="150"/>
              </a:spcAft>
              <a:defRPr sz="1100">
                <a:solidFill>
                  <a:srgbClr val="232323"/>
                </a:solidFill>
              </a:defRPr>
            </a:pPr>
            <a:r>
              <a:t>Larger networks can improve capacity.</a:t>
            </a:r>
          </a:p>
          <a:p>
            <a:pPr>
              <a:lnSpc>
                <a:spcPct val="105000"/>
              </a:lnSpc>
              <a:spcAft>
                <a:spcPts val="150"/>
              </a:spcAft>
              <a:defRPr sz="1100">
                <a:solidFill>
                  <a:srgbClr val="232323"/>
                </a:solidFill>
              </a:defRPr>
            </a:pPr>
            <a:r>
              <a:t>They also increase parameters and memory cost.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325880"/>
            <a:ext cx="3429000" cy="2240280"/>
          </a:xfrm>
          <a:prstGeom prst="roundRect">
            <a:avLst/>
          </a:prstGeom>
          <a:solidFill>
            <a:srgbClr val="F8FAFD"/>
          </a:solidFill>
          <a:ln w="13335">
            <a:solidFill>
              <a:srgbClr val="3E8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39327" y="1426464"/>
            <a:ext cx="3118104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200" b="1">
                <a:solidFill>
                  <a:srgbClr val="3E885C"/>
                </a:solidFill>
              </a:defRPr>
            </a:pPr>
            <a:r>
              <a:t>Problem 3</a:t>
            </a:r>
            <a:br/>
            <a:r>
              <a:t>Anatomical variability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59" y="1783080"/>
            <a:ext cx="3063240" cy="1691640"/>
          </a:xfrm>
          <a:prstGeom prst="rect">
            <a:avLst/>
          </a:prstGeom>
          <a:noFill/>
        </p:spPr>
        <p:txBody>
          <a:bodyPr wrap="square" lIns="54864" rIns="45720">
            <a:spAutoFit/>
          </a:bodyPr>
          <a:lstStyle/>
          <a:p>
            <a:pPr>
              <a:lnSpc>
                <a:spcPct val="105000"/>
              </a:lnSpc>
              <a:spcAft>
                <a:spcPts val="150"/>
              </a:spcAft>
              <a:defRPr sz="1100">
                <a:solidFill>
                  <a:srgbClr val="232323"/>
                </a:solidFill>
              </a:defRPr>
            </a:pPr>
            <a:r>
              <a:t>RV shape is variable.</a:t>
            </a:r>
          </a:p>
          <a:p>
            <a:pPr>
              <a:lnSpc>
                <a:spcPct val="105000"/>
              </a:lnSpc>
              <a:spcAft>
                <a:spcPts val="150"/>
              </a:spcAft>
              <a:defRPr sz="1100">
                <a:solidFill>
                  <a:srgbClr val="232323"/>
                </a:solidFill>
              </a:defRPr>
            </a:pPr>
            <a:r>
              <a:t>MYO is thin and boundary-sensitive.</a:t>
            </a:r>
          </a:p>
          <a:p>
            <a:pPr>
              <a:lnSpc>
                <a:spcPct val="105000"/>
              </a:lnSpc>
              <a:spcAft>
                <a:spcPts val="150"/>
              </a:spcAft>
              <a:defRPr sz="1100">
                <a:solidFill>
                  <a:srgbClr val="232323"/>
                </a:solidFill>
              </a:defRPr>
            </a:pPr>
            <a:r>
              <a:t>Pathology changes cardiac geometry.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89120"/>
            <a:ext cx="1508760" cy="384048"/>
          </a:xfrm>
          <a:prstGeom prst="roundRect">
            <a:avLst/>
          </a:prstGeom>
          <a:solidFill>
            <a:srgbClr val="122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Research 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4352544"/>
            <a:ext cx="8732520" cy="47548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560" b="1">
                <a:solidFill>
                  <a:srgbClr val="122E58"/>
                </a:solidFill>
              </a:defRPr>
            </a:pPr>
            <a:r>
              <a:t>Can a compact Mamba-inspired bottleneck improve contextual feature processing while keeping the model lightweight?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22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921240" y="0"/>
            <a:ext cx="960120" cy="256032"/>
          </a:xfrm>
          <a:prstGeom prst="rect">
            <a:avLst/>
          </a:prstGeom>
          <a:solidFill>
            <a:srgbClr val="F5B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881360" y="0"/>
            <a:ext cx="411480" cy="256032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8912" y="41148"/>
            <a:ext cx="3657600" cy="1645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819" b="0">
                <a:solidFill>
                  <a:srgbClr val="FFFFFF"/>
                </a:solidFill>
              </a:defRPr>
            </a:pPr>
            <a:r>
              <a:t>P1 Progress 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91695" cy="45720"/>
          </a:xfrm>
          <a:prstGeom prst="rect">
            <a:avLst/>
          </a:prstGeom>
          <a:solidFill>
            <a:srgbClr val="122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95560" y="6611112"/>
            <a:ext cx="1508760" cy="1645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800" b="0">
                <a:solidFill>
                  <a:srgbClr val="5F5F5F"/>
                </a:solidFill>
              </a:defRPr>
            </a:pPr>
            <a:r>
              <a:t>Tong Siyuan | 4/10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475488"/>
            <a:ext cx="1115568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2500" b="1">
                <a:solidFill>
                  <a:srgbClr val="122E58"/>
                </a:solidFill>
              </a:defRPr>
            </a:pPr>
            <a:r>
              <a:t>Objectives and Research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32688"/>
            <a:ext cx="10881360" cy="23774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100" b="0">
                <a:solidFill>
                  <a:srgbClr val="5F5F5F"/>
                </a:solidFill>
              </a:defRPr>
            </a:pPr>
            <a:r>
              <a:t>How the project will be evaluated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234440"/>
            <a:ext cx="5394960" cy="4389120"/>
          </a:xfrm>
          <a:prstGeom prst="roundRect">
            <a:avLst/>
          </a:prstGeom>
          <a:solidFill>
            <a:srgbClr val="F8FAFD"/>
          </a:solidFill>
          <a:ln w="13335">
            <a:solidFill>
              <a:srgbClr val="122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96696" y="1325880"/>
            <a:ext cx="5084064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200" b="1">
                <a:solidFill>
                  <a:srgbClr val="122E58"/>
                </a:solidFill>
              </a:defRPr>
            </a:pPr>
            <a:r>
              <a:rPr dirty="0"/>
              <a:t>Research 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691640"/>
            <a:ext cx="5029200" cy="3840480"/>
          </a:xfrm>
          <a:prstGeom prst="rect">
            <a:avLst/>
          </a:prstGeom>
          <a:noFill/>
        </p:spPr>
        <p:txBody>
          <a:bodyPr wrap="square" lIns="54864" rIns="45720">
            <a:spAutoFit/>
          </a:bodyPr>
          <a:lstStyle/>
          <a:p>
            <a:pPr>
              <a:lnSpc>
                <a:spcPct val="105000"/>
              </a:lnSpc>
              <a:spcAft>
                <a:spcPts val="150"/>
              </a:spcAft>
              <a:defRPr sz="1070">
                <a:solidFill>
                  <a:srgbClr val="232323"/>
                </a:solidFill>
              </a:defRPr>
            </a:pPr>
            <a:r>
              <a:t>Implement a lightweight Mamba-inspired bottleneck inside a 3D U-Net-style network.</a:t>
            </a:r>
          </a:p>
          <a:p>
            <a:pPr>
              <a:lnSpc>
                <a:spcPct val="105000"/>
              </a:lnSpc>
              <a:spcAft>
                <a:spcPts val="150"/>
              </a:spcAft>
              <a:defRPr sz="1070">
                <a:solidFill>
                  <a:srgbClr val="232323"/>
                </a:solidFill>
              </a:defRPr>
            </a:pPr>
            <a:r>
              <a:t>Evaluate RV, MYO, and LV segmentation using Dice.</a:t>
            </a:r>
          </a:p>
          <a:p>
            <a:pPr>
              <a:lnSpc>
                <a:spcPct val="105000"/>
              </a:lnSpc>
              <a:spcAft>
                <a:spcPts val="150"/>
              </a:spcAft>
              <a:defRPr sz="1070">
                <a:solidFill>
                  <a:srgbClr val="232323"/>
                </a:solidFill>
              </a:defRPr>
            </a:pPr>
            <a:r>
              <a:t>Compare with baseline and ablation models.</a:t>
            </a:r>
          </a:p>
          <a:p>
            <a:pPr>
              <a:lnSpc>
                <a:spcPct val="105000"/>
              </a:lnSpc>
              <a:spcAft>
                <a:spcPts val="150"/>
              </a:spcAft>
              <a:defRPr sz="1070">
                <a:solidFill>
                  <a:srgbClr val="232323"/>
                </a:solidFill>
              </a:defRPr>
            </a:pPr>
            <a:r>
              <a:t>Quantify efficiency using parameters and inference speed.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234440"/>
            <a:ext cx="5166360" cy="4389120"/>
          </a:xfrm>
          <a:prstGeom prst="roundRect">
            <a:avLst/>
          </a:prstGeom>
          <a:solidFill>
            <a:srgbClr val="F8FAFD"/>
          </a:solidFill>
          <a:ln w="13335">
            <a:solidFill>
              <a:srgbClr val="2D5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50736" y="1319927"/>
            <a:ext cx="4855464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200" b="1">
                <a:solidFill>
                  <a:srgbClr val="2D569B"/>
                </a:solidFill>
              </a:defRPr>
            </a:pPr>
            <a:r>
              <a:rPr dirty="0"/>
              <a:t>Research questions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1691640"/>
            <a:ext cx="4800600" cy="3840480"/>
          </a:xfrm>
          <a:prstGeom prst="rect">
            <a:avLst/>
          </a:prstGeom>
          <a:noFill/>
        </p:spPr>
        <p:txBody>
          <a:bodyPr wrap="square" lIns="54864" rIns="45720">
            <a:spAutoFit/>
          </a:bodyPr>
          <a:lstStyle/>
          <a:p>
            <a:pPr>
              <a:lnSpc>
                <a:spcPct val="105000"/>
              </a:lnSpc>
              <a:spcAft>
                <a:spcPts val="150"/>
              </a:spcAft>
              <a:defRPr sz="1160">
                <a:solidFill>
                  <a:srgbClr val="232323"/>
                </a:solidFill>
              </a:defRPr>
            </a:pPr>
            <a:r>
              <a:t>How can compressed 3D features be serialized and processed inside U-Net?</a:t>
            </a:r>
          </a:p>
          <a:p>
            <a:pPr>
              <a:lnSpc>
                <a:spcPct val="105000"/>
              </a:lnSpc>
              <a:spcAft>
                <a:spcPts val="150"/>
              </a:spcAft>
              <a:defRPr sz="1160">
                <a:solidFill>
                  <a:srgbClr val="232323"/>
                </a:solidFill>
              </a:defRPr>
            </a:pPr>
            <a:r>
              <a:t>Does the proposed model achieve competitive validation Dice?</a:t>
            </a:r>
          </a:p>
          <a:p>
            <a:pPr>
              <a:lnSpc>
                <a:spcPct val="105000"/>
              </a:lnSpc>
              <a:spcAft>
                <a:spcPts val="150"/>
              </a:spcAft>
              <a:defRPr sz="1160">
                <a:solidFill>
                  <a:srgbClr val="232323"/>
                </a:solidFill>
              </a:defRPr>
            </a:pPr>
            <a:r>
              <a:t>What accuracy-efficiency trade-off is observed?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22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921240" y="0"/>
            <a:ext cx="960120" cy="256032"/>
          </a:xfrm>
          <a:prstGeom prst="rect">
            <a:avLst/>
          </a:prstGeom>
          <a:solidFill>
            <a:srgbClr val="F5B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881360" y="0"/>
            <a:ext cx="411480" cy="256032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8912" y="41148"/>
            <a:ext cx="3657600" cy="1645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819" b="0">
                <a:solidFill>
                  <a:srgbClr val="FFFFFF"/>
                </a:solidFill>
              </a:defRPr>
            </a:pPr>
            <a:r>
              <a:t>P1 Progress 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91695" cy="45720"/>
          </a:xfrm>
          <a:prstGeom prst="rect">
            <a:avLst/>
          </a:prstGeom>
          <a:solidFill>
            <a:srgbClr val="122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95560" y="6611112"/>
            <a:ext cx="1508760" cy="1645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800" b="0">
                <a:solidFill>
                  <a:srgbClr val="5F5F5F"/>
                </a:solidFill>
              </a:defRPr>
            </a:pPr>
            <a:r>
              <a:t>Tong Siyuan | 5/10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475488"/>
            <a:ext cx="1115568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2500" b="1">
                <a:solidFill>
                  <a:srgbClr val="122E58"/>
                </a:solidFill>
              </a:defRPr>
            </a:pPr>
            <a:r>
              <a:t>Literature Review and Design Rationale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32688"/>
            <a:ext cx="10881360" cy="23774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100" b="0">
                <a:solidFill>
                  <a:srgbClr val="5F5F5F"/>
                </a:solidFill>
              </a:defRPr>
            </a:pPr>
            <a:r>
              <a:t>The novelty is adaptation and integration, not claiming ownership of prior methods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05840" y="2560320"/>
            <a:ext cx="9966960" cy="0"/>
          </a:xfrm>
          <a:prstGeom prst="line">
            <a:avLst/>
          </a:prstGeom>
          <a:ln w="1143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051560" y="2377440"/>
            <a:ext cx="365760" cy="365760"/>
          </a:xfrm>
          <a:prstGeom prst="ellipse">
            <a:avLst/>
          </a:prstGeom>
          <a:solidFill>
            <a:srgbClr val="122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59" y="2889504"/>
            <a:ext cx="1783080" cy="43891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000" b="1">
                <a:solidFill>
                  <a:srgbClr val="232323"/>
                </a:solidFill>
              </a:defRPr>
            </a:pPr>
            <a:r>
              <a:t>U-Net</a:t>
            </a:r>
            <a:br/>
            <a:r>
              <a:t>2015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59" y="3511296"/>
            <a:ext cx="1783080" cy="3931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880" b="0">
                <a:solidFill>
                  <a:srgbClr val="5F5F5F"/>
                </a:solidFill>
              </a:defRPr>
            </a:pPr>
            <a:r>
              <a:t>Encoder-decoder</a:t>
            </a:r>
            <a:br/>
            <a:r>
              <a:t>+ skips</a:t>
            </a:r>
          </a:p>
        </p:txBody>
      </p:sp>
      <p:sp>
        <p:nvSpPr>
          <p:cNvPr id="14" name="Oval 13"/>
          <p:cNvSpPr/>
          <p:nvPr/>
        </p:nvSpPr>
        <p:spPr>
          <a:xfrm>
            <a:off x="3154680" y="2377440"/>
            <a:ext cx="365760" cy="365760"/>
          </a:xfrm>
          <a:prstGeom prst="ellipse">
            <a:avLst/>
          </a:prstGeom>
          <a:solidFill>
            <a:srgbClr val="2D5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468880" y="2889504"/>
            <a:ext cx="1783080" cy="43891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000" b="1">
                <a:solidFill>
                  <a:srgbClr val="232323"/>
                </a:solidFill>
              </a:defRPr>
            </a:pPr>
            <a:r>
              <a:t>3D U-Net / V-Net</a:t>
            </a:r>
            <a:br/>
            <a:r>
              <a:t>2016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511296"/>
            <a:ext cx="1783080" cy="3931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880" b="0">
                <a:solidFill>
                  <a:srgbClr val="5F5F5F"/>
                </a:solidFill>
              </a:defRPr>
            </a:pPr>
            <a:r>
              <a:t>Volumetric</a:t>
            </a:r>
            <a:br/>
            <a:r>
              <a:t>segmentation</a:t>
            </a:r>
          </a:p>
        </p:txBody>
      </p:sp>
      <p:sp>
        <p:nvSpPr>
          <p:cNvPr id="17" name="Oval 16"/>
          <p:cNvSpPr/>
          <p:nvPr/>
        </p:nvSpPr>
        <p:spPr>
          <a:xfrm>
            <a:off x="5349240" y="2377440"/>
            <a:ext cx="365760" cy="365760"/>
          </a:xfrm>
          <a:prstGeom prst="ellipse">
            <a:avLst/>
          </a:prstGeom>
          <a:solidFill>
            <a:srgbClr val="3E8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63440" y="2889504"/>
            <a:ext cx="1783080" cy="43891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000" b="1">
                <a:solidFill>
                  <a:srgbClr val="232323"/>
                </a:solidFill>
              </a:defRPr>
            </a:pPr>
            <a:r>
              <a:t>Attention / Residual</a:t>
            </a:r>
            <a:br/>
            <a:r>
              <a:t>2016–2018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511296"/>
            <a:ext cx="1783080" cy="3931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880" b="0">
                <a:solidFill>
                  <a:srgbClr val="5F5F5F"/>
                </a:solidFill>
              </a:defRPr>
            </a:pPr>
            <a:r>
              <a:t>Feature selection</a:t>
            </a:r>
            <a:br/>
            <a:r>
              <a:t>+ trainability</a:t>
            </a:r>
          </a:p>
        </p:txBody>
      </p:sp>
      <p:sp>
        <p:nvSpPr>
          <p:cNvPr id="20" name="Oval 19"/>
          <p:cNvSpPr/>
          <p:nvPr/>
        </p:nvSpPr>
        <p:spPr>
          <a:xfrm>
            <a:off x="7543800" y="2377440"/>
            <a:ext cx="365760" cy="365760"/>
          </a:xfrm>
          <a:prstGeom prst="ellipse">
            <a:avLst/>
          </a:prstGeom>
          <a:solidFill>
            <a:srgbClr val="6E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0" y="2889504"/>
            <a:ext cx="1783080" cy="43891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000" b="1">
                <a:solidFill>
                  <a:srgbClr val="232323"/>
                </a:solidFill>
              </a:defRPr>
            </a:pPr>
            <a:r>
              <a:t>UNETR / Swin UNETR</a:t>
            </a:r>
            <a:br/>
            <a:r>
              <a:t>2022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511296"/>
            <a:ext cx="1783080" cy="3931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880" b="0">
                <a:solidFill>
                  <a:srgbClr val="5F5F5F"/>
                </a:solidFill>
              </a:defRPr>
            </a:pPr>
            <a:r>
              <a:t>Long-range</a:t>
            </a:r>
            <a:br/>
            <a:r>
              <a:t>token modeling</a:t>
            </a:r>
          </a:p>
        </p:txBody>
      </p:sp>
      <p:sp>
        <p:nvSpPr>
          <p:cNvPr id="23" name="Oval 22"/>
          <p:cNvSpPr/>
          <p:nvPr/>
        </p:nvSpPr>
        <p:spPr>
          <a:xfrm>
            <a:off x="9921240" y="2377440"/>
            <a:ext cx="365760" cy="365760"/>
          </a:xfrm>
          <a:prstGeom prst="ellipse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35440" y="2889504"/>
            <a:ext cx="1783080" cy="43891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000" b="1">
                <a:solidFill>
                  <a:srgbClr val="232323"/>
                </a:solidFill>
              </a:defRPr>
            </a:pPr>
            <a:r>
              <a:t>Mamba-style medical seg.</a:t>
            </a:r>
            <a:br/>
            <a:r>
              <a:t>2024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3511296"/>
            <a:ext cx="1783080" cy="3931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880" b="0">
                <a:solidFill>
                  <a:srgbClr val="5F5F5F"/>
                </a:solidFill>
              </a:defRPr>
            </a:pPr>
            <a:r>
              <a:t>Efficient sequence</a:t>
            </a:r>
            <a:br/>
            <a:r>
              <a:t>modeling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" y="4681728"/>
            <a:ext cx="10287000" cy="1097280"/>
          </a:xfrm>
          <a:prstGeom prst="roundRect">
            <a:avLst/>
          </a:prstGeom>
          <a:solidFill>
            <a:srgbClr val="F8FAFD"/>
          </a:solidFill>
          <a:ln w="13335">
            <a:solidFill>
              <a:srgbClr val="122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15568" y="4782312"/>
            <a:ext cx="9976104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200" b="1">
                <a:solidFill>
                  <a:srgbClr val="122E58"/>
                </a:solidFill>
              </a:defRPr>
            </a:pPr>
            <a:r>
              <a:t>Design rationale from literature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5138928"/>
            <a:ext cx="9921240" cy="548640"/>
          </a:xfrm>
          <a:prstGeom prst="rect">
            <a:avLst/>
          </a:prstGeom>
          <a:noFill/>
        </p:spPr>
        <p:txBody>
          <a:bodyPr wrap="square" lIns="54864" rIns="45720">
            <a:spAutoFit/>
          </a:bodyPr>
          <a:lstStyle/>
          <a:p>
            <a:pPr>
              <a:lnSpc>
                <a:spcPct val="105000"/>
              </a:lnSpc>
              <a:spcAft>
                <a:spcPts val="150"/>
              </a:spcAft>
              <a:defRPr sz="1100">
                <a:solidFill>
                  <a:srgbClr val="232323"/>
                </a:solidFill>
              </a:defRPr>
            </a:pPr>
            <a:r>
              <a:t>U-Net-style models preserve spatial detail through skip connections.</a:t>
            </a:r>
          </a:p>
          <a:p>
            <a:pPr>
              <a:lnSpc>
                <a:spcPct val="105000"/>
              </a:lnSpc>
              <a:spcAft>
                <a:spcPts val="150"/>
              </a:spcAft>
              <a:defRPr sz="1100">
                <a:solidFill>
                  <a:srgbClr val="232323"/>
                </a:solidFill>
              </a:defRPr>
            </a:pPr>
            <a:r>
              <a:t>Sequence models motivate broader contextual processing.</a:t>
            </a:r>
          </a:p>
          <a:p>
            <a:pPr>
              <a:lnSpc>
                <a:spcPct val="105000"/>
              </a:lnSpc>
              <a:spcAft>
                <a:spcPts val="150"/>
              </a:spcAft>
              <a:defRPr sz="1100">
                <a:solidFill>
                  <a:srgbClr val="232323"/>
                </a:solidFill>
              </a:defRPr>
            </a:pPr>
            <a:r>
              <a:t>This project combines both ideas in a lightweight bottleneck design.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22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921240" y="0"/>
            <a:ext cx="960120" cy="256032"/>
          </a:xfrm>
          <a:prstGeom prst="rect">
            <a:avLst/>
          </a:prstGeom>
          <a:solidFill>
            <a:srgbClr val="F5B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881360" y="0"/>
            <a:ext cx="411480" cy="256032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8912" y="41148"/>
            <a:ext cx="3657600" cy="1645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819" b="0">
                <a:solidFill>
                  <a:srgbClr val="FFFFFF"/>
                </a:solidFill>
              </a:defRPr>
            </a:pPr>
            <a:r>
              <a:t>P1 Progress 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91695" cy="45720"/>
          </a:xfrm>
          <a:prstGeom prst="rect">
            <a:avLst/>
          </a:prstGeom>
          <a:solidFill>
            <a:srgbClr val="122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95560" y="6611112"/>
            <a:ext cx="1508760" cy="1645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800" b="0">
                <a:solidFill>
                  <a:srgbClr val="5F5F5F"/>
                </a:solidFill>
              </a:defRPr>
            </a:pPr>
            <a:r>
              <a:t>Tong Siyuan | 6/10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475488"/>
            <a:ext cx="1115568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2500" b="1">
                <a:solidFill>
                  <a:srgbClr val="122E58"/>
                </a:solidFill>
              </a:defRPr>
            </a:pPr>
            <a:r>
              <a:t>Methodology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32688"/>
            <a:ext cx="10881360" cy="23774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100" b="0">
                <a:solidFill>
                  <a:srgbClr val="5F5F5F"/>
                </a:solidFill>
              </a:defRPr>
            </a:pPr>
            <a:r>
              <a:t>A reproducible pipeline for fair model comparison</a:t>
            </a:r>
          </a:p>
        </p:txBody>
      </p:sp>
      <p:pic>
        <p:nvPicPr>
          <p:cNvPr id="10" name="Picture 9" descr="methodology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11384280" cy="49278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22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921240" y="0"/>
            <a:ext cx="960120" cy="256032"/>
          </a:xfrm>
          <a:prstGeom prst="rect">
            <a:avLst/>
          </a:prstGeom>
          <a:solidFill>
            <a:srgbClr val="F5B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881360" y="0"/>
            <a:ext cx="411480" cy="256032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8912" y="41148"/>
            <a:ext cx="3657600" cy="1645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819" b="0">
                <a:solidFill>
                  <a:srgbClr val="FFFFFF"/>
                </a:solidFill>
              </a:defRPr>
            </a:pPr>
            <a:r>
              <a:t>P1 Progress 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91695" cy="45720"/>
          </a:xfrm>
          <a:prstGeom prst="rect">
            <a:avLst/>
          </a:prstGeom>
          <a:solidFill>
            <a:srgbClr val="122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95560" y="6611112"/>
            <a:ext cx="1508760" cy="1645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800" b="0">
                <a:solidFill>
                  <a:srgbClr val="5F5F5F"/>
                </a:solidFill>
              </a:defRPr>
            </a:pPr>
            <a:r>
              <a:t>Tong Siyuan | 7/10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475488"/>
            <a:ext cx="1115568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2500" b="1">
                <a:solidFill>
                  <a:srgbClr val="122E58"/>
                </a:solidFill>
              </a:defRPr>
            </a:pPr>
            <a:r>
              <a:t>Data Handling and Preprocessing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32688"/>
            <a:ext cx="10881360" cy="23774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100" b="0">
                <a:solidFill>
                  <a:srgbClr val="5F5F5F"/>
                </a:solidFill>
              </a:defRPr>
            </a:pPr>
            <a:r>
              <a:t>The preprocessing design controls variation before model comparison</a:t>
            </a:r>
          </a:p>
        </p:txBody>
      </p:sp>
      <p:pic>
        <p:nvPicPr>
          <p:cNvPr id="10" name="Picture 9" descr="preprocess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11201400" cy="414287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22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921240" y="0"/>
            <a:ext cx="960120" cy="256032"/>
          </a:xfrm>
          <a:prstGeom prst="rect">
            <a:avLst/>
          </a:prstGeom>
          <a:solidFill>
            <a:srgbClr val="F5B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881360" y="0"/>
            <a:ext cx="411480" cy="256032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8912" y="41148"/>
            <a:ext cx="3657600" cy="1645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819" b="0">
                <a:solidFill>
                  <a:srgbClr val="FFFFFF"/>
                </a:solidFill>
              </a:defRPr>
            </a:pPr>
            <a:r>
              <a:t>P1 Progress 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91695" cy="45720"/>
          </a:xfrm>
          <a:prstGeom prst="rect">
            <a:avLst/>
          </a:prstGeom>
          <a:solidFill>
            <a:srgbClr val="122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95560" y="6611112"/>
            <a:ext cx="1508760" cy="1645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800" b="0">
                <a:solidFill>
                  <a:srgbClr val="5F5F5F"/>
                </a:solidFill>
              </a:defRPr>
            </a:pPr>
            <a:r>
              <a:t>Tong Siyuan | 8/10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475488"/>
            <a:ext cx="1115568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2500" b="1">
                <a:solidFill>
                  <a:srgbClr val="122E58"/>
                </a:solidFill>
              </a:defRPr>
            </a:pPr>
            <a:r>
              <a:t>Detailed Nano-Mamba U-Net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32688"/>
            <a:ext cx="10881360" cy="23774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100" b="0">
                <a:solidFill>
                  <a:srgbClr val="5F5F5F"/>
                </a:solidFill>
              </a:defRPr>
            </a:pPr>
            <a:r>
              <a:t>Main architecture-level contribution</a:t>
            </a:r>
          </a:p>
        </p:txBody>
      </p:sp>
      <p:pic>
        <p:nvPicPr>
          <p:cNvPr id="10" name="Picture 9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33856"/>
            <a:ext cx="11384280" cy="510723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22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921240" y="0"/>
            <a:ext cx="960120" cy="256032"/>
          </a:xfrm>
          <a:prstGeom prst="rect">
            <a:avLst/>
          </a:prstGeom>
          <a:solidFill>
            <a:srgbClr val="F5B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881360" y="0"/>
            <a:ext cx="411480" cy="256032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8912" y="41148"/>
            <a:ext cx="3657600" cy="1645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819" b="0">
                <a:solidFill>
                  <a:srgbClr val="FFFFFF"/>
                </a:solidFill>
              </a:defRPr>
            </a:pPr>
            <a:r>
              <a:t>P1 Progress 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91695" cy="45720"/>
          </a:xfrm>
          <a:prstGeom prst="rect">
            <a:avLst/>
          </a:prstGeom>
          <a:solidFill>
            <a:srgbClr val="122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95560" y="6611112"/>
            <a:ext cx="1508760" cy="1645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800" b="0">
                <a:solidFill>
                  <a:srgbClr val="5F5F5F"/>
                </a:solidFill>
              </a:defRPr>
            </a:pPr>
            <a:r>
              <a:t>Tong Siyuan | 9/10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475488"/>
            <a:ext cx="1115568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2500" b="1">
                <a:solidFill>
                  <a:srgbClr val="122E58"/>
                </a:solidFill>
              </a:defRPr>
            </a:pPr>
            <a:r>
              <a:t>Mamba-Inspired Bottleneck and Innovation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32688"/>
            <a:ext cx="10881360" cy="23774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100" b="0">
                <a:solidFill>
                  <a:srgbClr val="5F5F5F"/>
                </a:solidFill>
              </a:defRPr>
            </a:pPr>
            <a:r>
              <a:t>What is creative in this project?</a:t>
            </a:r>
          </a:p>
        </p:txBody>
      </p:sp>
      <p:pic>
        <p:nvPicPr>
          <p:cNvPr id="10" name="Picture 9" descr="bottlen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52144"/>
            <a:ext cx="11384280" cy="43898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22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921240" y="0"/>
            <a:ext cx="960120" cy="256032"/>
          </a:xfrm>
          <a:prstGeom prst="rect">
            <a:avLst/>
          </a:prstGeom>
          <a:solidFill>
            <a:srgbClr val="F5B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881360" y="0"/>
            <a:ext cx="411480" cy="256032"/>
          </a:xfrm>
          <a:prstGeom prst="rect">
            <a:avLst/>
          </a:prstGeom>
          <a:solidFill>
            <a:srgbClr val="B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8912" y="41148"/>
            <a:ext cx="3657600" cy="1645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819" b="0">
                <a:solidFill>
                  <a:srgbClr val="FFFFFF"/>
                </a:solidFill>
              </a:defRPr>
            </a:pPr>
            <a:r>
              <a:t>P1 Progress 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91695" cy="45720"/>
          </a:xfrm>
          <a:prstGeom prst="rect">
            <a:avLst/>
          </a:prstGeom>
          <a:solidFill>
            <a:srgbClr val="122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95560" y="6611112"/>
            <a:ext cx="1508760" cy="1645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800" b="0">
                <a:solidFill>
                  <a:srgbClr val="5F5F5F"/>
                </a:solidFill>
              </a:defRPr>
            </a:pPr>
            <a:r>
              <a:t>Tong Siyuan | 10/10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475488"/>
            <a:ext cx="1115568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2500" b="1">
                <a:solidFill>
                  <a:srgbClr val="122E58"/>
                </a:solidFill>
              </a:defRPr>
            </a:pPr>
            <a:r>
              <a:t>Evaluation Plan and Expected Contribution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32688"/>
            <a:ext cx="10881360" cy="23774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100" b="0">
                <a:solidFill>
                  <a:srgbClr val="5F5F5F"/>
                </a:solidFill>
              </a:defRPr>
            </a:pPr>
            <a:r>
              <a:t>P1 endpoint: method is defined; P2 will report full results and discussion</a:t>
            </a:r>
          </a:p>
        </p:txBody>
      </p:sp>
      <p:pic>
        <p:nvPicPr>
          <p:cNvPr id="10" name="Picture 9" descr="evaluation_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11064240" cy="4225271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14400" y="5303519"/>
            <a:ext cx="10378440" cy="951719"/>
          </a:xfrm>
          <a:prstGeom prst="roundRect">
            <a:avLst/>
          </a:prstGeom>
          <a:solidFill>
            <a:srgbClr val="F8FAFD"/>
          </a:solidFill>
          <a:ln w="13335">
            <a:solidFill>
              <a:srgbClr val="122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84935" y="5343717"/>
            <a:ext cx="10021824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120" b="1">
                <a:solidFill>
                  <a:srgbClr val="122E58"/>
                </a:solidFill>
              </a:defRPr>
            </a:pPr>
            <a:r>
              <a:rPr dirty="0"/>
              <a:t>Contribution 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554827"/>
            <a:ext cx="9966960" cy="228600"/>
          </a:xfrm>
          <a:prstGeom prst="rect">
            <a:avLst/>
          </a:prstGeom>
          <a:noFill/>
        </p:spPr>
        <p:txBody>
          <a:bodyPr wrap="square" lIns="54864" rIns="45720">
            <a:spAutoFit/>
          </a:bodyPr>
          <a:lstStyle/>
          <a:p>
            <a:pPr>
              <a:lnSpc>
                <a:spcPct val="105000"/>
              </a:lnSpc>
              <a:spcAft>
                <a:spcPts val="150"/>
              </a:spcAft>
              <a:defRPr sz="969">
                <a:solidFill>
                  <a:srgbClr val="232323"/>
                </a:solidFill>
              </a:defRPr>
            </a:pPr>
            <a:r>
              <a:rPr dirty="0"/>
              <a:t>The project does not claim to invent U-Net or Mamba.</a:t>
            </a:r>
          </a:p>
          <a:p>
            <a:pPr>
              <a:lnSpc>
                <a:spcPct val="105000"/>
              </a:lnSpc>
              <a:spcAft>
                <a:spcPts val="150"/>
              </a:spcAft>
              <a:defRPr sz="969">
                <a:solidFill>
                  <a:srgbClr val="232323"/>
                </a:solidFill>
              </a:defRPr>
            </a:pPr>
            <a:r>
              <a:rPr dirty="0"/>
              <a:t>The innovation is a lightweight Mamba-inspired bottleneck integrated into a 3D U-Net pipeline.</a:t>
            </a:r>
          </a:p>
          <a:p>
            <a:pPr>
              <a:lnSpc>
                <a:spcPct val="105000"/>
              </a:lnSpc>
              <a:spcAft>
                <a:spcPts val="150"/>
              </a:spcAft>
              <a:defRPr sz="969">
                <a:solidFill>
                  <a:srgbClr val="232323"/>
                </a:solidFill>
              </a:defRPr>
            </a:pPr>
            <a:r>
              <a:rPr dirty="0"/>
              <a:t>The study evaluates whether this design improves the accuracy-efficiency trade-off for cardiac MRI segmentation.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556</Words>
  <Application>Microsoft Office PowerPoint</Application>
  <PresentationFormat>宽屏</PresentationFormat>
  <Paragraphs>96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思源 同</cp:lastModifiedBy>
  <cp:revision>2</cp:revision>
  <dcterms:created xsi:type="dcterms:W3CDTF">2013-01-27T09:14:16Z</dcterms:created>
  <dcterms:modified xsi:type="dcterms:W3CDTF">2026-06-20T07:58:24Z</dcterms:modified>
  <cp:category/>
</cp:coreProperties>
</file>